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661" r:id="rId5"/>
  </p:sldMasterIdLst>
  <p:notesMasterIdLst>
    <p:notesMasterId r:id="rId41"/>
  </p:notesMasterIdLst>
  <p:sldIdLst>
    <p:sldId id="2448" r:id="rId6"/>
    <p:sldId id="2489" r:id="rId7"/>
    <p:sldId id="2490" r:id="rId8"/>
    <p:sldId id="2449" r:id="rId9"/>
    <p:sldId id="2452" r:id="rId10"/>
    <p:sldId id="2477" r:id="rId11"/>
    <p:sldId id="2455" r:id="rId12"/>
    <p:sldId id="2451" r:id="rId13"/>
    <p:sldId id="2475" r:id="rId14"/>
    <p:sldId id="2495" r:id="rId15"/>
    <p:sldId id="2461" r:id="rId16"/>
    <p:sldId id="2457" r:id="rId17"/>
    <p:sldId id="2469" r:id="rId18"/>
    <p:sldId id="2496" r:id="rId19"/>
    <p:sldId id="2485" r:id="rId20"/>
    <p:sldId id="2503" r:id="rId21"/>
    <p:sldId id="2473" r:id="rId22"/>
    <p:sldId id="2491" r:id="rId23"/>
    <p:sldId id="2501" r:id="rId24"/>
    <p:sldId id="2502" r:id="rId25"/>
    <p:sldId id="2493" r:id="rId26"/>
    <p:sldId id="2494" r:id="rId27"/>
    <p:sldId id="2462" r:id="rId28"/>
    <p:sldId id="2487" r:id="rId29"/>
    <p:sldId id="2479" r:id="rId30"/>
    <p:sldId id="2478" r:id="rId31"/>
    <p:sldId id="2481" r:id="rId32"/>
    <p:sldId id="2476" r:id="rId33"/>
    <p:sldId id="2467" r:id="rId34"/>
    <p:sldId id="2497" r:id="rId35"/>
    <p:sldId id="2466" r:id="rId36"/>
    <p:sldId id="2480" r:id="rId37"/>
    <p:sldId id="2504" r:id="rId38"/>
    <p:sldId id="2453" r:id="rId39"/>
    <p:sldId id="2459"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00 - Introduction" id="{75B6BE2C-BFD8-439A-929F-68BB6761634F}">
          <p14:sldIdLst>
            <p14:sldId id="2448"/>
            <p14:sldId id="2489"/>
            <p14:sldId id="2490"/>
            <p14:sldId id="2449"/>
            <p14:sldId id="2452"/>
            <p14:sldId id="2477"/>
          </p14:sldIdLst>
        </p14:section>
        <p14:section name="01 - Data Collection ('The How')" id="{CA694B40-9E21-4965-B0F2-89FD36507205}">
          <p14:sldIdLst>
            <p14:sldId id="2455"/>
            <p14:sldId id="2451"/>
            <p14:sldId id="2475"/>
            <p14:sldId id="2495"/>
          </p14:sldIdLst>
        </p14:section>
        <p14:section name="02 - ML / DL Algorithms" id="{DCE6DFC5-9DFB-4CFC-9BAC-1A5490A1D617}">
          <p14:sldIdLst>
            <p14:sldId id="2461"/>
            <p14:sldId id="2457"/>
            <p14:sldId id="2469"/>
            <p14:sldId id="2496"/>
            <p14:sldId id="2485"/>
          </p14:sldIdLst>
        </p14:section>
        <p14:section name="03 - Results Vis" id="{C9A13566-FFE1-4DE6-989A-417845B7D135}">
          <p14:sldIdLst>
            <p14:sldId id="2503"/>
            <p14:sldId id="2473"/>
            <p14:sldId id="2491"/>
            <p14:sldId id="2501"/>
            <p14:sldId id="2502"/>
            <p14:sldId id="2493"/>
            <p14:sldId id="2494"/>
          </p14:sldIdLst>
        </p14:section>
        <p14:section name="04 - Ethics" id="{F92177B6-B2D4-4024-BFEF-1C9EE35D2B62}">
          <p14:sldIdLst>
            <p14:sldId id="2462"/>
            <p14:sldId id="2487"/>
            <p14:sldId id="2479"/>
            <p14:sldId id="2478"/>
            <p14:sldId id="2481"/>
            <p14:sldId id="2476"/>
            <p14:sldId id="2467"/>
            <p14:sldId id="2497"/>
          </p14:sldIdLst>
        </p14:section>
        <p14:section name="05 - Presentation Closing" id="{F077E20C-30A9-4036-8ED5-29E92AC43DB6}">
          <p14:sldIdLst>
            <p14:sldId id="2466"/>
            <p14:sldId id="2480"/>
            <p14:sldId id="2504"/>
            <p14:sldId id="2453"/>
            <p14:sldId id="24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88015C-A872-7417-F158-680CD9643B95}" v="1" dt="2025-11-20T16:24:34.525"/>
    <p1510:client id="{1243BDFD-CF84-902F-18AF-03663A53497E}" v="98" dt="2025-11-19T19:15:48.049"/>
    <p1510:client id="{1A3A1FAC-B1BC-B998-7675-F124A9E46046}" v="1" dt="2025-11-20T14:59:34.261"/>
    <p1510:client id="{23EC56A6-2C47-5116-A354-4F980122DEFD}" v="1" dt="2025-11-19T20:57:14.002"/>
    <p1510:client id="{39FB2FFF-C192-A553-59D0-02CE2093E03A}" v="10" dt="2025-11-20T18:40:49.564"/>
    <p1510:client id="{4CB1FEB9-80E5-4CE3-801F-08D2012E1B8D}" v="1792" dt="2025-11-19T22:57:49.622"/>
    <p1510:client id="{60BE1308-9430-110C-737C-F600CEC6AF22}" v="1333" dt="2025-11-19T22:54:36.909"/>
    <p1510:client id="{76D717F9-674E-352D-803D-39AD6E76655D}" v="302" dt="2025-11-20T10:31:53.110"/>
    <p1510:client id="{A436EC3A-8146-A973-8C82-C3CF480C7167}" v="223" dt="2025-11-20T17:14:43.214"/>
    <p1510:client id="{CA130229-60BB-45CE-9D6F-1059AB12E16B}" v="1222" dt="2025-11-20T18:24:25.960"/>
    <p1510:client id="{DE253A4D-562B-40CE-95A4-B9BE9CB0C132}" v="27" dt="2025-11-19T22:41:48.811"/>
    <p1510:client id="{E31CBF44-8A68-3D63-F3A1-C2208261053E}" v="209" dt="2025-11-20T00:44:32.5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microsoft.com/office/2015/10/relationships/revisionInfo" Target="revisionInfo.xml"/><Relationship Id="rId20" Type="http://schemas.openxmlformats.org/officeDocument/2006/relationships/slide" Target="slides/slide15.xml"/><Relationship Id="rId4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89965D9-2A8D-4E5F-AF00-FF01BB1119D6}" type="doc">
      <dgm:prSet loTypeId="urn:microsoft.com/office/officeart/2016/7/layout/LinearBlockProcessNumbered" loCatId="process" qsTypeId="urn:microsoft.com/office/officeart/2005/8/quickstyle/simple1" qsCatId="simple" csTypeId="urn:microsoft.com/office/officeart/2005/8/colors/accent1_2" csCatId="accent1" phldr="1"/>
      <dgm:spPr/>
      <dgm:t>
        <a:bodyPr/>
        <a:lstStyle/>
        <a:p>
          <a:endParaRPr lang="en-US"/>
        </a:p>
      </dgm:t>
    </dgm:pt>
    <dgm:pt modelId="{ACE2046E-F97D-4194-8249-DBA129125424}">
      <dgm:prSet/>
      <dgm:spPr/>
      <dgm:t>
        <a:bodyPr/>
        <a:lstStyle/>
        <a:p>
          <a:r>
            <a:rPr lang="en-GB"/>
            <a:t>Data Collection</a:t>
          </a:r>
          <a:endParaRPr lang="en-US"/>
        </a:p>
      </dgm:t>
    </dgm:pt>
    <dgm:pt modelId="{7F6DEECC-CC6D-4F99-B86F-31D5C4191778}" type="parTrans" cxnId="{CEC712A0-3B2F-4D91-90ED-773C48D94512}">
      <dgm:prSet/>
      <dgm:spPr/>
      <dgm:t>
        <a:bodyPr/>
        <a:lstStyle/>
        <a:p>
          <a:endParaRPr lang="en-US"/>
        </a:p>
      </dgm:t>
    </dgm:pt>
    <dgm:pt modelId="{50452575-5713-4D3F-A3C5-8F26D70DCC65}" type="sibTrans" cxnId="{CEC712A0-3B2F-4D91-90ED-773C48D94512}">
      <dgm:prSet phldrT="01" phldr="0"/>
      <dgm:spPr/>
      <dgm:t>
        <a:bodyPr/>
        <a:lstStyle/>
        <a:p>
          <a:r>
            <a:rPr lang="en-US"/>
            <a:t>01</a:t>
          </a:r>
        </a:p>
      </dgm:t>
    </dgm:pt>
    <dgm:pt modelId="{C76CE40C-20CE-4F0C-8B49-05A526B7D5A2}">
      <dgm:prSet/>
      <dgm:spPr/>
      <dgm:t>
        <a:bodyPr/>
        <a:lstStyle/>
        <a:p>
          <a:r>
            <a:rPr lang="en-GB"/>
            <a:t>Machine Learning &amp; Deep Learning</a:t>
          </a:r>
          <a:endParaRPr lang="en-US"/>
        </a:p>
      </dgm:t>
    </dgm:pt>
    <dgm:pt modelId="{A3B0EA3B-8FC3-411C-959A-349553FD62C5}" type="parTrans" cxnId="{BFBEE87C-9BA9-4D13-904B-2F881CD78C98}">
      <dgm:prSet/>
      <dgm:spPr/>
      <dgm:t>
        <a:bodyPr/>
        <a:lstStyle/>
        <a:p>
          <a:endParaRPr lang="en-US"/>
        </a:p>
      </dgm:t>
    </dgm:pt>
    <dgm:pt modelId="{C7DB4ABE-9478-4E2E-9DDB-87AF6CBCE707}" type="sibTrans" cxnId="{BFBEE87C-9BA9-4D13-904B-2F881CD78C98}">
      <dgm:prSet phldrT="02" phldr="0"/>
      <dgm:spPr/>
      <dgm:t>
        <a:bodyPr/>
        <a:lstStyle/>
        <a:p>
          <a:r>
            <a:rPr lang="en-US"/>
            <a:t>02</a:t>
          </a:r>
        </a:p>
      </dgm:t>
    </dgm:pt>
    <dgm:pt modelId="{941E61FD-9E33-4E9C-A90B-57605F00ADAB}">
      <dgm:prSet/>
      <dgm:spPr/>
      <dgm:t>
        <a:bodyPr/>
        <a:lstStyle/>
        <a:p>
          <a:pPr rtl="0"/>
          <a:r>
            <a:rPr lang="en-GB"/>
            <a:t>Results Visualisation</a:t>
          </a:r>
          <a:r>
            <a:rPr lang="en-GB">
              <a:latin typeface="Aptos Display" panose="02110004020202020204"/>
            </a:rPr>
            <a:t> and </a:t>
          </a:r>
          <a:r>
            <a:rPr lang="en-GB"/>
            <a:t>Comparison</a:t>
          </a:r>
          <a:endParaRPr lang="en-US">
            <a:latin typeface="Aptos Display" panose="02110004020202020204"/>
          </a:endParaRPr>
        </a:p>
      </dgm:t>
    </dgm:pt>
    <dgm:pt modelId="{1A2981ED-561B-41B0-BEDA-ABA82FCF377F}" type="parTrans" cxnId="{E57F08BE-61B4-432A-B719-2B469F3AB680}">
      <dgm:prSet/>
      <dgm:spPr/>
      <dgm:t>
        <a:bodyPr/>
        <a:lstStyle/>
        <a:p>
          <a:endParaRPr lang="en-US"/>
        </a:p>
      </dgm:t>
    </dgm:pt>
    <dgm:pt modelId="{85BBE30E-51DB-41CD-AE13-64E622031027}" type="sibTrans" cxnId="{E57F08BE-61B4-432A-B719-2B469F3AB680}">
      <dgm:prSet phldrT="03" phldr="0"/>
      <dgm:spPr/>
      <dgm:t>
        <a:bodyPr/>
        <a:lstStyle/>
        <a:p>
          <a:r>
            <a:rPr lang="en-US"/>
            <a:t>03</a:t>
          </a:r>
        </a:p>
      </dgm:t>
    </dgm:pt>
    <dgm:pt modelId="{DD6F30D0-7AA6-4706-A809-23016B727418}">
      <dgm:prSet/>
      <dgm:spPr/>
      <dgm:t>
        <a:bodyPr/>
        <a:lstStyle/>
        <a:p>
          <a:pPr rtl="0"/>
          <a:r>
            <a:rPr lang="en-GB"/>
            <a:t>Ethical Considerations</a:t>
          </a:r>
          <a:r>
            <a:rPr lang="en-GB">
              <a:latin typeface="Aptos Display" panose="02110004020202020204"/>
            </a:rPr>
            <a:t> &amp; Future Implications</a:t>
          </a:r>
          <a:endParaRPr lang="en-US"/>
        </a:p>
      </dgm:t>
    </dgm:pt>
    <dgm:pt modelId="{720A0383-4A64-4952-A3C7-36F4FAE401D6}" type="parTrans" cxnId="{887CEFC4-3444-4DDD-ADE4-B37ED41DA443}">
      <dgm:prSet/>
      <dgm:spPr/>
      <dgm:t>
        <a:bodyPr/>
        <a:lstStyle/>
        <a:p>
          <a:endParaRPr lang="en-US"/>
        </a:p>
      </dgm:t>
    </dgm:pt>
    <dgm:pt modelId="{49E43CC3-8E9B-4FBC-986D-9C4787F2868B}" type="sibTrans" cxnId="{887CEFC4-3444-4DDD-ADE4-B37ED41DA443}">
      <dgm:prSet phldrT="04" phldr="0"/>
      <dgm:spPr/>
      <dgm:t>
        <a:bodyPr/>
        <a:lstStyle/>
        <a:p>
          <a:r>
            <a:rPr lang="en-US"/>
            <a:t>04</a:t>
          </a:r>
        </a:p>
      </dgm:t>
    </dgm:pt>
    <dgm:pt modelId="{B2BD6B48-8DD4-4878-AAAD-7F526E312015}" type="pres">
      <dgm:prSet presAssocID="{589965D9-2A8D-4E5F-AF00-FF01BB1119D6}" presName="Name0" presStyleCnt="0">
        <dgm:presLayoutVars>
          <dgm:animLvl val="lvl"/>
          <dgm:resizeHandles val="exact"/>
        </dgm:presLayoutVars>
      </dgm:prSet>
      <dgm:spPr/>
    </dgm:pt>
    <dgm:pt modelId="{0AEC7756-8680-4343-A9C5-4E6F5EF32DB1}" type="pres">
      <dgm:prSet presAssocID="{ACE2046E-F97D-4194-8249-DBA129125424}" presName="compositeNode" presStyleCnt="0">
        <dgm:presLayoutVars>
          <dgm:bulletEnabled val="1"/>
        </dgm:presLayoutVars>
      </dgm:prSet>
      <dgm:spPr/>
    </dgm:pt>
    <dgm:pt modelId="{DED43A17-1184-4931-A979-226A34F88013}" type="pres">
      <dgm:prSet presAssocID="{ACE2046E-F97D-4194-8249-DBA129125424}" presName="bgRect" presStyleLbl="alignNode1" presStyleIdx="0" presStyleCnt="4"/>
      <dgm:spPr/>
    </dgm:pt>
    <dgm:pt modelId="{8FE9F53A-A95E-4BFB-9E9F-16639EAA5C94}" type="pres">
      <dgm:prSet presAssocID="{50452575-5713-4D3F-A3C5-8F26D70DCC65}" presName="sibTransNodeRect" presStyleLbl="alignNode1" presStyleIdx="0" presStyleCnt="4">
        <dgm:presLayoutVars>
          <dgm:chMax val="0"/>
          <dgm:bulletEnabled val="1"/>
        </dgm:presLayoutVars>
      </dgm:prSet>
      <dgm:spPr/>
    </dgm:pt>
    <dgm:pt modelId="{9350967B-2473-45B0-86CA-3818FD6E2DD0}" type="pres">
      <dgm:prSet presAssocID="{ACE2046E-F97D-4194-8249-DBA129125424}" presName="nodeRect" presStyleLbl="alignNode1" presStyleIdx="0" presStyleCnt="4">
        <dgm:presLayoutVars>
          <dgm:bulletEnabled val="1"/>
        </dgm:presLayoutVars>
      </dgm:prSet>
      <dgm:spPr/>
    </dgm:pt>
    <dgm:pt modelId="{4B54D1CD-5BD0-435A-A801-A41EA1A08F50}" type="pres">
      <dgm:prSet presAssocID="{50452575-5713-4D3F-A3C5-8F26D70DCC65}" presName="sibTrans" presStyleCnt="0"/>
      <dgm:spPr/>
    </dgm:pt>
    <dgm:pt modelId="{1298C118-25D1-426B-AD97-5CB9D9E86AA6}" type="pres">
      <dgm:prSet presAssocID="{C76CE40C-20CE-4F0C-8B49-05A526B7D5A2}" presName="compositeNode" presStyleCnt="0">
        <dgm:presLayoutVars>
          <dgm:bulletEnabled val="1"/>
        </dgm:presLayoutVars>
      </dgm:prSet>
      <dgm:spPr/>
    </dgm:pt>
    <dgm:pt modelId="{3DC81A12-EEDB-4E9E-A7FF-974BF22AB413}" type="pres">
      <dgm:prSet presAssocID="{C76CE40C-20CE-4F0C-8B49-05A526B7D5A2}" presName="bgRect" presStyleLbl="alignNode1" presStyleIdx="1" presStyleCnt="4"/>
      <dgm:spPr/>
    </dgm:pt>
    <dgm:pt modelId="{20138581-EC6A-42DA-83A6-4728CC05AEDD}" type="pres">
      <dgm:prSet presAssocID="{C7DB4ABE-9478-4E2E-9DDB-87AF6CBCE707}" presName="sibTransNodeRect" presStyleLbl="alignNode1" presStyleIdx="1" presStyleCnt="4">
        <dgm:presLayoutVars>
          <dgm:chMax val="0"/>
          <dgm:bulletEnabled val="1"/>
        </dgm:presLayoutVars>
      </dgm:prSet>
      <dgm:spPr/>
    </dgm:pt>
    <dgm:pt modelId="{F920F822-D1C5-46E8-9B50-63712088F080}" type="pres">
      <dgm:prSet presAssocID="{C76CE40C-20CE-4F0C-8B49-05A526B7D5A2}" presName="nodeRect" presStyleLbl="alignNode1" presStyleIdx="1" presStyleCnt="4">
        <dgm:presLayoutVars>
          <dgm:bulletEnabled val="1"/>
        </dgm:presLayoutVars>
      </dgm:prSet>
      <dgm:spPr/>
    </dgm:pt>
    <dgm:pt modelId="{CA52FDE8-F755-4D38-8FA2-5601EA02A3D7}" type="pres">
      <dgm:prSet presAssocID="{C7DB4ABE-9478-4E2E-9DDB-87AF6CBCE707}" presName="sibTrans" presStyleCnt="0"/>
      <dgm:spPr/>
    </dgm:pt>
    <dgm:pt modelId="{CF05E132-9AA6-45CC-81D2-CA9D4055CD35}" type="pres">
      <dgm:prSet presAssocID="{941E61FD-9E33-4E9C-A90B-57605F00ADAB}" presName="compositeNode" presStyleCnt="0">
        <dgm:presLayoutVars>
          <dgm:bulletEnabled val="1"/>
        </dgm:presLayoutVars>
      </dgm:prSet>
      <dgm:spPr/>
    </dgm:pt>
    <dgm:pt modelId="{6196C61C-0BF7-455B-BAB4-2498D573D9D8}" type="pres">
      <dgm:prSet presAssocID="{941E61FD-9E33-4E9C-A90B-57605F00ADAB}" presName="bgRect" presStyleLbl="alignNode1" presStyleIdx="2" presStyleCnt="4"/>
      <dgm:spPr/>
    </dgm:pt>
    <dgm:pt modelId="{539536FE-9E73-4FC4-8009-3DFC8E1EA12B}" type="pres">
      <dgm:prSet presAssocID="{85BBE30E-51DB-41CD-AE13-64E622031027}" presName="sibTransNodeRect" presStyleLbl="alignNode1" presStyleIdx="2" presStyleCnt="4">
        <dgm:presLayoutVars>
          <dgm:chMax val="0"/>
          <dgm:bulletEnabled val="1"/>
        </dgm:presLayoutVars>
      </dgm:prSet>
      <dgm:spPr/>
    </dgm:pt>
    <dgm:pt modelId="{16A891F9-BE65-44DC-9C80-59C9459E7977}" type="pres">
      <dgm:prSet presAssocID="{941E61FD-9E33-4E9C-A90B-57605F00ADAB}" presName="nodeRect" presStyleLbl="alignNode1" presStyleIdx="2" presStyleCnt="4">
        <dgm:presLayoutVars>
          <dgm:bulletEnabled val="1"/>
        </dgm:presLayoutVars>
      </dgm:prSet>
      <dgm:spPr/>
    </dgm:pt>
    <dgm:pt modelId="{51A274D3-EA44-4C3E-8DB1-BF815814B3AD}" type="pres">
      <dgm:prSet presAssocID="{85BBE30E-51DB-41CD-AE13-64E622031027}" presName="sibTrans" presStyleCnt="0"/>
      <dgm:spPr/>
    </dgm:pt>
    <dgm:pt modelId="{25CB7742-F450-4FFC-8DCA-D25E16EB3482}" type="pres">
      <dgm:prSet presAssocID="{DD6F30D0-7AA6-4706-A809-23016B727418}" presName="compositeNode" presStyleCnt="0">
        <dgm:presLayoutVars>
          <dgm:bulletEnabled val="1"/>
        </dgm:presLayoutVars>
      </dgm:prSet>
      <dgm:spPr/>
    </dgm:pt>
    <dgm:pt modelId="{569DED85-AB5F-4587-840B-D00F876C97E8}" type="pres">
      <dgm:prSet presAssocID="{DD6F30D0-7AA6-4706-A809-23016B727418}" presName="bgRect" presStyleLbl="alignNode1" presStyleIdx="3" presStyleCnt="4"/>
      <dgm:spPr/>
    </dgm:pt>
    <dgm:pt modelId="{9015A8FD-9D9A-4B67-8E4E-5B97A2B38FDF}" type="pres">
      <dgm:prSet presAssocID="{49E43CC3-8E9B-4FBC-986D-9C4787F2868B}" presName="sibTransNodeRect" presStyleLbl="alignNode1" presStyleIdx="3" presStyleCnt="4">
        <dgm:presLayoutVars>
          <dgm:chMax val="0"/>
          <dgm:bulletEnabled val="1"/>
        </dgm:presLayoutVars>
      </dgm:prSet>
      <dgm:spPr/>
    </dgm:pt>
    <dgm:pt modelId="{0476F918-4A07-4107-82B6-2493774841D6}" type="pres">
      <dgm:prSet presAssocID="{DD6F30D0-7AA6-4706-A809-23016B727418}" presName="nodeRect" presStyleLbl="alignNode1" presStyleIdx="3" presStyleCnt="4">
        <dgm:presLayoutVars>
          <dgm:bulletEnabled val="1"/>
        </dgm:presLayoutVars>
      </dgm:prSet>
      <dgm:spPr/>
    </dgm:pt>
  </dgm:ptLst>
  <dgm:cxnLst>
    <dgm:cxn modelId="{3F045D2D-31D1-41AC-8DDD-66F1D7709D07}" type="presOf" srcId="{DD6F30D0-7AA6-4706-A809-23016B727418}" destId="{569DED85-AB5F-4587-840B-D00F876C97E8}" srcOrd="0" destOrd="0" presId="urn:microsoft.com/office/officeart/2016/7/layout/LinearBlockProcessNumbered"/>
    <dgm:cxn modelId="{EE12895D-FAF4-4D43-A6CF-A85B1B81A287}" type="presOf" srcId="{85BBE30E-51DB-41CD-AE13-64E622031027}" destId="{539536FE-9E73-4FC4-8009-3DFC8E1EA12B}" srcOrd="0" destOrd="0" presId="urn:microsoft.com/office/officeart/2016/7/layout/LinearBlockProcessNumbered"/>
    <dgm:cxn modelId="{315F5D7C-9C30-4372-94CD-64F362116728}" type="presOf" srcId="{49E43CC3-8E9B-4FBC-986D-9C4787F2868B}" destId="{9015A8FD-9D9A-4B67-8E4E-5B97A2B38FDF}" srcOrd="0" destOrd="0" presId="urn:microsoft.com/office/officeart/2016/7/layout/LinearBlockProcessNumbered"/>
    <dgm:cxn modelId="{BFBEE87C-9BA9-4D13-904B-2F881CD78C98}" srcId="{589965D9-2A8D-4E5F-AF00-FF01BB1119D6}" destId="{C76CE40C-20CE-4F0C-8B49-05A526B7D5A2}" srcOrd="1" destOrd="0" parTransId="{A3B0EA3B-8FC3-411C-959A-349553FD62C5}" sibTransId="{C7DB4ABE-9478-4E2E-9DDB-87AF6CBCE707}"/>
    <dgm:cxn modelId="{B9DEDC82-1EAD-446C-B679-A01A43181E5D}" type="presOf" srcId="{589965D9-2A8D-4E5F-AF00-FF01BB1119D6}" destId="{B2BD6B48-8DD4-4878-AAAD-7F526E312015}" srcOrd="0" destOrd="0" presId="urn:microsoft.com/office/officeart/2016/7/layout/LinearBlockProcessNumbered"/>
    <dgm:cxn modelId="{C791D290-33A4-4F5D-8DE2-AE352108FD55}" type="presOf" srcId="{C76CE40C-20CE-4F0C-8B49-05A526B7D5A2}" destId="{F920F822-D1C5-46E8-9B50-63712088F080}" srcOrd="1" destOrd="0" presId="urn:microsoft.com/office/officeart/2016/7/layout/LinearBlockProcessNumbered"/>
    <dgm:cxn modelId="{CEC712A0-3B2F-4D91-90ED-773C48D94512}" srcId="{589965D9-2A8D-4E5F-AF00-FF01BB1119D6}" destId="{ACE2046E-F97D-4194-8249-DBA129125424}" srcOrd="0" destOrd="0" parTransId="{7F6DEECC-CC6D-4F99-B86F-31D5C4191778}" sibTransId="{50452575-5713-4D3F-A3C5-8F26D70DCC65}"/>
    <dgm:cxn modelId="{C1CD91A1-7B53-435E-B40E-E76C2D7B65BF}" type="presOf" srcId="{C7DB4ABE-9478-4E2E-9DDB-87AF6CBCE707}" destId="{20138581-EC6A-42DA-83A6-4728CC05AEDD}" srcOrd="0" destOrd="0" presId="urn:microsoft.com/office/officeart/2016/7/layout/LinearBlockProcessNumbered"/>
    <dgm:cxn modelId="{F8AC7FA2-1BD2-4666-AB13-B5F5863820DE}" type="presOf" srcId="{50452575-5713-4D3F-A3C5-8F26D70DCC65}" destId="{8FE9F53A-A95E-4BFB-9E9F-16639EAA5C94}" srcOrd="0" destOrd="0" presId="urn:microsoft.com/office/officeart/2016/7/layout/LinearBlockProcessNumbered"/>
    <dgm:cxn modelId="{405E6FAC-8A6D-4E81-8E09-2CFBC8F5ED2D}" type="presOf" srcId="{C76CE40C-20CE-4F0C-8B49-05A526B7D5A2}" destId="{3DC81A12-EEDB-4E9E-A7FF-974BF22AB413}" srcOrd="0" destOrd="0" presId="urn:microsoft.com/office/officeart/2016/7/layout/LinearBlockProcessNumbered"/>
    <dgm:cxn modelId="{BB737BB6-B4D6-473C-AFA8-EBCDC307F733}" type="presOf" srcId="{ACE2046E-F97D-4194-8249-DBA129125424}" destId="{9350967B-2473-45B0-86CA-3818FD6E2DD0}" srcOrd="1" destOrd="0" presId="urn:microsoft.com/office/officeart/2016/7/layout/LinearBlockProcessNumbered"/>
    <dgm:cxn modelId="{22D245BC-8873-45A4-9969-ABC26ED0A6C0}" type="presOf" srcId="{ACE2046E-F97D-4194-8249-DBA129125424}" destId="{DED43A17-1184-4931-A979-226A34F88013}" srcOrd="0" destOrd="0" presId="urn:microsoft.com/office/officeart/2016/7/layout/LinearBlockProcessNumbered"/>
    <dgm:cxn modelId="{E57F08BE-61B4-432A-B719-2B469F3AB680}" srcId="{589965D9-2A8D-4E5F-AF00-FF01BB1119D6}" destId="{941E61FD-9E33-4E9C-A90B-57605F00ADAB}" srcOrd="2" destOrd="0" parTransId="{1A2981ED-561B-41B0-BEDA-ABA82FCF377F}" sibTransId="{85BBE30E-51DB-41CD-AE13-64E622031027}"/>
    <dgm:cxn modelId="{887CEFC4-3444-4DDD-ADE4-B37ED41DA443}" srcId="{589965D9-2A8D-4E5F-AF00-FF01BB1119D6}" destId="{DD6F30D0-7AA6-4706-A809-23016B727418}" srcOrd="3" destOrd="0" parTransId="{720A0383-4A64-4952-A3C7-36F4FAE401D6}" sibTransId="{49E43CC3-8E9B-4FBC-986D-9C4787F2868B}"/>
    <dgm:cxn modelId="{172720DB-2ABF-4692-BD00-089CB115D113}" type="presOf" srcId="{DD6F30D0-7AA6-4706-A809-23016B727418}" destId="{0476F918-4A07-4107-82B6-2493774841D6}" srcOrd="1" destOrd="0" presId="urn:microsoft.com/office/officeart/2016/7/layout/LinearBlockProcessNumbered"/>
    <dgm:cxn modelId="{CE9188EA-77EC-4FCE-AA51-7F2C004DCBBA}" type="presOf" srcId="{941E61FD-9E33-4E9C-A90B-57605F00ADAB}" destId="{6196C61C-0BF7-455B-BAB4-2498D573D9D8}" srcOrd="0" destOrd="0" presId="urn:microsoft.com/office/officeart/2016/7/layout/LinearBlockProcessNumbered"/>
    <dgm:cxn modelId="{AEA89BF8-BD4B-415F-864E-FEC807D6EB8E}" type="presOf" srcId="{941E61FD-9E33-4E9C-A90B-57605F00ADAB}" destId="{16A891F9-BE65-44DC-9C80-59C9459E7977}" srcOrd="1" destOrd="0" presId="urn:microsoft.com/office/officeart/2016/7/layout/LinearBlockProcessNumbered"/>
    <dgm:cxn modelId="{1163C668-7168-4751-9D37-FAC26D78F3BC}" type="presParOf" srcId="{B2BD6B48-8DD4-4878-AAAD-7F526E312015}" destId="{0AEC7756-8680-4343-A9C5-4E6F5EF32DB1}" srcOrd="0" destOrd="0" presId="urn:microsoft.com/office/officeart/2016/7/layout/LinearBlockProcessNumbered"/>
    <dgm:cxn modelId="{7C39F4CE-D991-4E05-A616-851A944A1703}" type="presParOf" srcId="{0AEC7756-8680-4343-A9C5-4E6F5EF32DB1}" destId="{DED43A17-1184-4931-A979-226A34F88013}" srcOrd="0" destOrd="0" presId="urn:microsoft.com/office/officeart/2016/7/layout/LinearBlockProcessNumbered"/>
    <dgm:cxn modelId="{A627CFF7-D8B5-4119-B250-22A6846ED018}" type="presParOf" srcId="{0AEC7756-8680-4343-A9C5-4E6F5EF32DB1}" destId="{8FE9F53A-A95E-4BFB-9E9F-16639EAA5C94}" srcOrd="1" destOrd="0" presId="urn:microsoft.com/office/officeart/2016/7/layout/LinearBlockProcessNumbered"/>
    <dgm:cxn modelId="{9F9888BC-03EF-423F-9E68-B7C65BBE4BBB}" type="presParOf" srcId="{0AEC7756-8680-4343-A9C5-4E6F5EF32DB1}" destId="{9350967B-2473-45B0-86CA-3818FD6E2DD0}" srcOrd="2" destOrd="0" presId="urn:microsoft.com/office/officeart/2016/7/layout/LinearBlockProcessNumbered"/>
    <dgm:cxn modelId="{490433AE-A6F8-42A7-B309-803DA0BDA1EF}" type="presParOf" srcId="{B2BD6B48-8DD4-4878-AAAD-7F526E312015}" destId="{4B54D1CD-5BD0-435A-A801-A41EA1A08F50}" srcOrd="1" destOrd="0" presId="urn:microsoft.com/office/officeart/2016/7/layout/LinearBlockProcessNumbered"/>
    <dgm:cxn modelId="{FD5F3DC5-7E7E-4FE8-AD85-3BBC33A7D9A7}" type="presParOf" srcId="{B2BD6B48-8DD4-4878-AAAD-7F526E312015}" destId="{1298C118-25D1-426B-AD97-5CB9D9E86AA6}" srcOrd="2" destOrd="0" presId="urn:microsoft.com/office/officeart/2016/7/layout/LinearBlockProcessNumbered"/>
    <dgm:cxn modelId="{B1B5A066-706F-4004-9F75-470F8505B36B}" type="presParOf" srcId="{1298C118-25D1-426B-AD97-5CB9D9E86AA6}" destId="{3DC81A12-EEDB-4E9E-A7FF-974BF22AB413}" srcOrd="0" destOrd="0" presId="urn:microsoft.com/office/officeart/2016/7/layout/LinearBlockProcessNumbered"/>
    <dgm:cxn modelId="{813195F5-F102-4982-87B6-6BFA93D7C01F}" type="presParOf" srcId="{1298C118-25D1-426B-AD97-5CB9D9E86AA6}" destId="{20138581-EC6A-42DA-83A6-4728CC05AEDD}" srcOrd="1" destOrd="0" presId="urn:microsoft.com/office/officeart/2016/7/layout/LinearBlockProcessNumbered"/>
    <dgm:cxn modelId="{B7824C16-D278-461A-8FC2-47A037162FE7}" type="presParOf" srcId="{1298C118-25D1-426B-AD97-5CB9D9E86AA6}" destId="{F920F822-D1C5-46E8-9B50-63712088F080}" srcOrd="2" destOrd="0" presId="urn:microsoft.com/office/officeart/2016/7/layout/LinearBlockProcessNumbered"/>
    <dgm:cxn modelId="{E1D7DC24-914B-4FA6-A4C8-844343F377E5}" type="presParOf" srcId="{B2BD6B48-8DD4-4878-AAAD-7F526E312015}" destId="{CA52FDE8-F755-4D38-8FA2-5601EA02A3D7}" srcOrd="3" destOrd="0" presId="urn:microsoft.com/office/officeart/2016/7/layout/LinearBlockProcessNumbered"/>
    <dgm:cxn modelId="{5B5BEE3B-7929-4DE1-BAB8-EFF720F877A0}" type="presParOf" srcId="{B2BD6B48-8DD4-4878-AAAD-7F526E312015}" destId="{CF05E132-9AA6-45CC-81D2-CA9D4055CD35}" srcOrd="4" destOrd="0" presId="urn:microsoft.com/office/officeart/2016/7/layout/LinearBlockProcessNumbered"/>
    <dgm:cxn modelId="{C1E48993-9B42-43B1-81FD-F48ED489F5F5}" type="presParOf" srcId="{CF05E132-9AA6-45CC-81D2-CA9D4055CD35}" destId="{6196C61C-0BF7-455B-BAB4-2498D573D9D8}" srcOrd="0" destOrd="0" presId="urn:microsoft.com/office/officeart/2016/7/layout/LinearBlockProcessNumbered"/>
    <dgm:cxn modelId="{B2D156B4-DADD-49C2-A3B3-12667DF46F7A}" type="presParOf" srcId="{CF05E132-9AA6-45CC-81D2-CA9D4055CD35}" destId="{539536FE-9E73-4FC4-8009-3DFC8E1EA12B}" srcOrd="1" destOrd="0" presId="urn:microsoft.com/office/officeart/2016/7/layout/LinearBlockProcessNumbered"/>
    <dgm:cxn modelId="{E6B8F422-5F73-4632-9C7E-53E3E4739762}" type="presParOf" srcId="{CF05E132-9AA6-45CC-81D2-CA9D4055CD35}" destId="{16A891F9-BE65-44DC-9C80-59C9459E7977}" srcOrd="2" destOrd="0" presId="urn:microsoft.com/office/officeart/2016/7/layout/LinearBlockProcessNumbered"/>
    <dgm:cxn modelId="{615678BF-9009-45BE-9E0C-005DE4FFBD61}" type="presParOf" srcId="{B2BD6B48-8DD4-4878-AAAD-7F526E312015}" destId="{51A274D3-EA44-4C3E-8DB1-BF815814B3AD}" srcOrd="5" destOrd="0" presId="urn:microsoft.com/office/officeart/2016/7/layout/LinearBlockProcessNumbered"/>
    <dgm:cxn modelId="{0C8A6806-4940-45A4-837C-C5A3AD4239F0}" type="presParOf" srcId="{B2BD6B48-8DD4-4878-AAAD-7F526E312015}" destId="{25CB7742-F450-4FFC-8DCA-D25E16EB3482}" srcOrd="6" destOrd="0" presId="urn:microsoft.com/office/officeart/2016/7/layout/LinearBlockProcessNumbered"/>
    <dgm:cxn modelId="{06F53A3B-2637-4041-B0AF-EEA19C01F869}" type="presParOf" srcId="{25CB7742-F450-4FFC-8DCA-D25E16EB3482}" destId="{569DED85-AB5F-4587-840B-D00F876C97E8}" srcOrd="0" destOrd="0" presId="urn:microsoft.com/office/officeart/2016/7/layout/LinearBlockProcessNumbered"/>
    <dgm:cxn modelId="{76E74FCE-7862-4555-B7E5-2231A2A7B83F}" type="presParOf" srcId="{25CB7742-F450-4FFC-8DCA-D25E16EB3482}" destId="{9015A8FD-9D9A-4B67-8E4E-5B97A2B38FDF}" srcOrd="1" destOrd="0" presId="urn:microsoft.com/office/officeart/2016/7/layout/LinearBlockProcessNumbered"/>
    <dgm:cxn modelId="{1097C7CF-CDDE-4D9D-AE37-8D2472EC8A34}" type="presParOf" srcId="{25CB7742-F450-4FFC-8DCA-D25E16EB3482}" destId="{0476F918-4A07-4107-82B6-2493774841D6}"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D43A17-1184-4931-A979-226A34F88013}">
      <dsp:nvSpPr>
        <dsp:cNvPr id="0" name=""/>
        <dsp:cNvSpPr/>
      </dsp:nvSpPr>
      <dsp:spPr>
        <a:xfrm>
          <a:off x="216" y="509065"/>
          <a:ext cx="2616277" cy="3139533"/>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8430" tIns="0" rIns="258430" bIns="330200" numCol="1" spcCol="1270" anchor="t" anchorCtr="0">
          <a:noAutofit/>
        </a:bodyPr>
        <a:lstStyle/>
        <a:p>
          <a:pPr marL="0" lvl="0" indent="0" algn="l" defTabSz="1111250">
            <a:lnSpc>
              <a:spcPct val="90000"/>
            </a:lnSpc>
            <a:spcBef>
              <a:spcPct val="0"/>
            </a:spcBef>
            <a:spcAft>
              <a:spcPct val="35000"/>
            </a:spcAft>
            <a:buNone/>
          </a:pPr>
          <a:r>
            <a:rPr lang="en-GB" sz="2500" kern="1200"/>
            <a:t>Data Collection</a:t>
          </a:r>
          <a:endParaRPr lang="en-US" sz="2500" kern="1200"/>
        </a:p>
      </dsp:txBody>
      <dsp:txXfrm>
        <a:off x="216" y="1764878"/>
        <a:ext cx="2616277" cy="1883719"/>
      </dsp:txXfrm>
    </dsp:sp>
    <dsp:sp modelId="{8FE9F53A-A95E-4BFB-9E9F-16639EAA5C94}">
      <dsp:nvSpPr>
        <dsp:cNvPr id="0" name=""/>
        <dsp:cNvSpPr/>
      </dsp:nvSpPr>
      <dsp:spPr>
        <a:xfrm>
          <a:off x="216" y="509065"/>
          <a:ext cx="2616277" cy="1255813"/>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58430" tIns="165100" rIns="258430" bIns="165100" numCol="1" spcCol="1270" anchor="ctr" anchorCtr="0">
          <a:noAutofit/>
        </a:bodyPr>
        <a:lstStyle/>
        <a:p>
          <a:pPr marL="0" lvl="0" indent="0" algn="l" defTabSz="2889250">
            <a:lnSpc>
              <a:spcPct val="90000"/>
            </a:lnSpc>
            <a:spcBef>
              <a:spcPct val="0"/>
            </a:spcBef>
            <a:spcAft>
              <a:spcPct val="35000"/>
            </a:spcAft>
            <a:buNone/>
          </a:pPr>
          <a:r>
            <a:rPr lang="en-US" sz="6500" kern="1200"/>
            <a:t>01</a:t>
          </a:r>
        </a:p>
      </dsp:txBody>
      <dsp:txXfrm>
        <a:off x="216" y="509065"/>
        <a:ext cx="2616277" cy="1255813"/>
      </dsp:txXfrm>
    </dsp:sp>
    <dsp:sp modelId="{3DC81A12-EEDB-4E9E-A7FF-974BF22AB413}">
      <dsp:nvSpPr>
        <dsp:cNvPr id="0" name=""/>
        <dsp:cNvSpPr/>
      </dsp:nvSpPr>
      <dsp:spPr>
        <a:xfrm>
          <a:off x="2825796" y="509065"/>
          <a:ext cx="2616277" cy="3139533"/>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8430" tIns="0" rIns="258430" bIns="330200" numCol="1" spcCol="1270" anchor="t" anchorCtr="0">
          <a:noAutofit/>
        </a:bodyPr>
        <a:lstStyle/>
        <a:p>
          <a:pPr marL="0" lvl="0" indent="0" algn="l" defTabSz="1111250">
            <a:lnSpc>
              <a:spcPct val="90000"/>
            </a:lnSpc>
            <a:spcBef>
              <a:spcPct val="0"/>
            </a:spcBef>
            <a:spcAft>
              <a:spcPct val="35000"/>
            </a:spcAft>
            <a:buNone/>
          </a:pPr>
          <a:r>
            <a:rPr lang="en-GB" sz="2500" kern="1200"/>
            <a:t>Machine Learning &amp; Deep Learning</a:t>
          </a:r>
          <a:endParaRPr lang="en-US" sz="2500" kern="1200"/>
        </a:p>
      </dsp:txBody>
      <dsp:txXfrm>
        <a:off x="2825796" y="1764878"/>
        <a:ext cx="2616277" cy="1883719"/>
      </dsp:txXfrm>
    </dsp:sp>
    <dsp:sp modelId="{20138581-EC6A-42DA-83A6-4728CC05AEDD}">
      <dsp:nvSpPr>
        <dsp:cNvPr id="0" name=""/>
        <dsp:cNvSpPr/>
      </dsp:nvSpPr>
      <dsp:spPr>
        <a:xfrm>
          <a:off x="2825796" y="509065"/>
          <a:ext cx="2616277" cy="1255813"/>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58430" tIns="165100" rIns="258430" bIns="165100" numCol="1" spcCol="1270" anchor="ctr" anchorCtr="0">
          <a:noAutofit/>
        </a:bodyPr>
        <a:lstStyle/>
        <a:p>
          <a:pPr marL="0" lvl="0" indent="0" algn="l" defTabSz="2889250">
            <a:lnSpc>
              <a:spcPct val="90000"/>
            </a:lnSpc>
            <a:spcBef>
              <a:spcPct val="0"/>
            </a:spcBef>
            <a:spcAft>
              <a:spcPct val="35000"/>
            </a:spcAft>
            <a:buNone/>
          </a:pPr>
          <a:r>
            <a:rPr lang="en-US" sz="6500" kern="1200"/>
            <a:t>02</a:t>
          </a:r>
        </a:p>
      </dsp:txBody>
      <dsp:txXfrm>
        <a:off x="2825796" y="509065"/>
        <a:ext cx="2616277" cy="1255813"/>
      </dsp:txXfrm>
    </dsp:sp>
    <dsp:sp modelId="{6196C61C-0BF7-455B-BAB4-2498D573D9D8}">
      <dsp:nvSpPr>
        <dsp:cNvPr id="0" name=""/>
        <dsp:cNvSpPr/>
      </dsp:nvSpPr>
      <dsp:spPr>
        <a:xfrm>
          <a:off x="5651376" y="509065"/>
          <a:ext cx="2616277" cy="3139533"/>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8430" tIns="0" rIns="258430" bIns="330200" numCol="1" spcCol="1270" anchor="t" anchorCtr="0">
          <a:noAutofit/>
        </a:bodyPr>
        <a:lstStyle/>
        <a:p>
          <a:pPr marL="0" lvl="0" indent="0" algn="l" defTabSz="1111250" rtl="0">
            <a:lnSpc>
              <a:spcPct val="90000"/>
            </a:lnSpc>
            <a:spcBef>
              <a:spcPct val="0"/>
            </a:spcBef>
            <a:spcAft>
              <a:spcPct val="35000"/>
            </a:spcAft>
            <a:buNone/>
          </a:pPr>
          <a:r>
            <a:rPr lang="en-GB" sz="2500" kern="1200"/>
            <a:t>Results Visualisation</a:t>
          </a:r>
          <a:r>
            <a:rPr lang="en-GB" sz="2500" kern="1200">
              <a:latin typeface="Aptos Display" panose="02110004020202020204"/>
            </a:rPr>
            <a:t> and </a:t>
          </a:r>
          <a:r>
            <a:rPr lang="en-GB" sz="2500" kern="1200"/>
            <a:t>Comparison</a:t>
          </a:r>
          <a:endParaRPr lang="en-US" sz="2500" kern="1200">
            <a:latin typeface="Aptos Display" panose="02110004020202020204"/>
          </a:endParaRPr>
        </a:p>
      </dsp:txBody>
      <dsp:txXfrm>
        <a:off x="5651376" y="1764878"/>
        <a:ext cx="2616277" cy="1883719"/>
      </dsp:txXfrm>
    </dsp:sp>
    <dsp:sp modelId="{539536FE-9E73-4FC4-8009-3DFC8E1EA12B}">
      <dsp:nvSpPr>
        <dsp:cNvPr id="0" name=""/>
        <dsp:cNvSpPr/>
      </dsp:nvSpPr>
      <dsp:spPr>
        <a:xfrm>
          <a:off x="5651376" y="509065"/>
          <a:ext cx="2616277" cy="1255813"/>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58430" tIns="165100" rIns="258430" bIns="165100" numCol="1" spcCol="1270" anchor="ctr" anchorCtr="0">
          <a:noAutofit/>
        </a:bodyPr>
        <a:lstStyle/>
        <a:p>
          <a:pPr marL="0" lvl="0" indent="0" algn="l" defTabSz="2889250">
            <a:lnSpc>
              <a:spcPct val="90000"/>
            </a:lnSpc>
            <a:spcBef>
              <a:spcPct val="0"/>
            </a:spcBef>
            <a:spcAft>
              <a:spcPct val="35000"/>
            </a:spcAft>
            <a:buNone/>
          </a:pPr>
          <a:r>
            <a:rPr lang="en-US" sz="6500" kern="1200"/>
            <a:t>03</a:t>
          </a:r>
        </a:p>
      </dsp:txBody>
      <dsp:txXfrm>
        <a:off x="5651376" y="509065"/>
        <a:ext cx="2616277" cy="1255813"/>
      </dsp:txXfrm>
    </dsp:sp>
    <dsp:sp modelId="{569DED85-AB5F-4587-840B-D00F876C97E8}">
      <dsp:nvSpPr>
        <dsp:cNvPr id="0" name=""/>
        <dsp:cNvSpPr/>
      </dsp:nvSpPr>
      <dsp:spPr>
        <a:xfrm>
          <a:off x="8476955" y="509065"/>
          <a:ext cx="2616277" cy="3139533"/>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8430" tIns="0" rIns="258430" bIns="330200" numCol="1" spcCol="1270" anchor="t" anchorCtr="0">
          <a:noAutofit/>
        </a:bodyPr>
        <a:lstStyle/>
        <a:p>
          <a:pPr marL="0" lvl="0" indent="0" algn="l" defTabSz="1111250" rtl="0">
            <a:lnSpc>
              <a:spcPct val="90000"/>
            </a:lnSpc>
            <a:spcBef>
              <a:spcPct val="0"/>
            </a:spcBef>
            <a:spcAft>
              <a:spcPct val="35000"/>
            </a:spcAft>
            <a:buNone/>
          </a:pPr>
          <a:r>
            <a:rPr lang="en-GB" sz="2500" kern="1200"/>
            <a:t>Ethical Considerations</a:t>
          </a:r>
          <a:r>
            <a:rPr lang="en-GB" sz="2500" kern="1200">
              <a:latin typeface="Aptos Display" panose="02110004020202020204"/>
            </a:rPr>
            <a:t> &amp; Future Implications</a:t>
          </a:r>
          <a:endParaRPr lang="en-US" sz="2500" kern="1200"/>
        </a:p>
      </dsp:txBody>
      <dsp:txXfrm>
        <a:off x="8476955" y="1764878"/>
        <a:ext cx="2616277" cy="1883719"/>
      </dsp:txXfrm>
    </dsp:sp>
    <dsp:sp modelId="{9015A8FD-9D9A-4B67-8E4E-5B97A2B38FDF}">
      <dsp:nvSpPr>
        <dsp:cNvPr id="0" name=""/>
        <dsp:cNvSpPr/>
      </dsp:nvSpPr>
      <dsp:spPr>
        <a:xfrm>
          <a:off x="8476955" y="509065"/>
          <a:ext cx="2616277" cy="1255813"/>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58430" tIns="165100" rIns="258430" bIns="165100" numCol="1" spcCol="1270" anchor="ctr" anchorCtr="0">
          <a:noAutofit/>
        </a:bodyPr>
        <a:lstStyle/>
        <a:p>
          <a:pPr marL="0" lvl="0" indent="0" algn="l" defTabSz="2889250">
            <a:lnSpc>
              <a:spcPct val="90000"/>
            </a:lnSpc>
            <a:spcBef>
              <a:spcPct val="0"/>
            </a:spcBef>
            <a:spcAft>
              <a:spcPct val="35000"/>
            </a:spcAft>
            <a:buNone/>
          </a:pPr>
          <a:r>
            <a:rPr lang="en-US" sz="6500" kern="1200"/>
            <a:t>04</a:t>
          </a:r>
        </a:p>
      </dsp:txBody>
      <dsp:txXfrm>
        <a:off x="8476955" y="509065"/>
        <a:ext cx="2616277" cy="1255813"/>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1350FD-4E4C-4D0D-BB94-5D9314D08700}" type="datetimeFigureOut">
              <a:rPr lang="en-GB" smtClean="0"/>
              <a:t>20/11/2025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7D66A0-7D86-4F0A-80F3-35B3D42AB1B1}" type="slidenum">
              <a:rPr lang="en-GB" smtClean="0"/>
              <a:t>‹#›</a:t>
            </a:fld>
            <a:endParaRPr lang="en-GB"/>
          </a:p>
        </p:txBody>
      </p:sp>
    </p:spTree>
    <p:extLst>
      <p:ext uri="{BB962C8B-B14F-4D97-AF65-F5344CB8AC3E}">
        <p14:creationId xmlns:p14="http://schemas.microsoft.com/office/powerpoint/2010/main" val="36250156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www.datacamp.com/tutorial/random-forests-classifier-python" TargetMode="External"/><Relationship Id="rId2" Type="http://schemas.openxmlformats.org/officeDocument/2006/relationships/slide" Target="../slides/slide12.xml"/><Relationship Id="rId1" Type="http://schemas.openxmlformats.org/officeDocument/2006/relationships/notesMaster" Target="../notesMasters/notesMaster1.xml"/><Relationship Id="rId4" Type="http://schemas.openxmlformats.org/officeDocument/2006/relationships/hyperlink" Target="https://www.ibm.com/think/topics/random-forest" TargetMode="Externa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www.geeksforgeeks.org/machine-learning/svm-hyperparameter-tuning-using-gridsearchcv-ml/"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mathworks.com/discovery/convolutional-neural-network.html"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grafana.com/blog/2021/08/17/whats-new-in-grafana-8.1-geomap-panel/?utm_source=chatgpt.com"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228B34ED-4CDD-41C9-90F7-D768D5559A6F}" type="slidenum">
              <a:rPr lang="en-GB" smtClean="0"/>
              <a:t>1</a:t>
            </a:fld>
            <a:endParaRPr lang="en-GB"/>
          </a:p>
        </p:txBody>
      </p:sp>
    </p:spTree>
    <p:extLst>
      <p:ext uri="{BB962C8B-B14F-4D97-AF65-F5344CB8AC3E}">
        <p14:creationId xmlns:p14="http://schemas.microsoft.com/office/powerpoint/2010/main" val="3796574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latin typeface="Calibri"/>
                <a:ea typeface="Calibri"/>
                <a:cs typeface="Calibri"/>
              </a:rPr>
              <a:t>IoT creates an adaptive complex network. This connects devices that have "digital intelligence" - through sensors and mechanisms to interact in real time</a:t>
            </a:r>
          </a:p>
        </p:txBody>
      </p:sp>
      <p:sp>
        <p:nvSpPr>
          <p:cNvPr id="4" name="Slide Number Placeholder 3"/>
          <p:cNvSpPr>
            <a:spLocks noGrp="1"/>
          </p:cNvSpPr>
          <p:nvPr>
            <p:ph type="sldNum" sz="quarter" idx="5"/>
          </p:nvPr>
        </p:nvSpPr>
        <p:spPr/>
        <p:txBody>
          <a:bodyPr/>
          <a:lstStyle/>
          <a:p>
            <a:fld id="{6A7D66A0-7D86-4F0A-80F3-35B3D42AB1B1}" type="slidenum">
              <a:rPr lang="en-GB" smtClean="0"/>
              <a:t>2</a:t>
            </a:fld>
            <a:endParaRPr lang="en-GB"/>
          </a:p>
        </p:txBody>
      </p:sp>
    </p:spTree>
    <p:extLst>
      <p:ext uri="{BB962C8B-B14F-4D97-AF65-F5344CB8AC3E}">
        <p14:creationId xmlns:p14="http://schemas.microsoft.com/office/powerpoint/2010/main" val="22064792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JAKE SLIDE</a:t>
            </a:r>
          </a:p>
          <a:p>
            <a:r>
              <a:rPr lang="en-US" err="1">
                <a:latin typeface="Calibri"/>
                <a:ea typeface="Calibri"/>
                <a:cs typeface="Calibri"/>
              </a:rPr>
              <a:t>Utilising</a:t>
            </a:r>
            <a:r>
              <a:rPr lang="en-US">
                <a:latin typeface="Calibri"/>
                <a:ea typeface="Calibri"/>
                <a:cs typeface="Calibri"/>
              </a:rPr>
              <a:t> IoT devices allows us to create </a:t>
            </a:r>
            <a:r>
              <a:rPr lang="en-US" err="1">
                <a:latin typeface="Calibri"/>
                <a:ea typeface="Calibri"/>
                <a:cs typeface="Calibri"/>
              </a:rPr>
              <a:t>personalised</a:t>
            </a:r>
            <a:r>
              <a:rPr lang="en-US">
                <a:latin typeface="Calibri"/>
                <a:ea typeface="Calibri"/>
                <a:cs typeface="Calibri"/>
              </a:rPr>
              <a:t> experiences by understanding how customers use our products in </a:t>
            </a:r>
            <a:r>
              <a:rPr lang="en-US" err="1">
                <a:latin typeface="Calibri"/>
                <a:ea typeface="Calibri"/>
                <a:cs typeface="Calibri"/>
              </a:rPr>
              <a:t>realtime</a:t>
            </a:r>
            <a:r>
              <a:rPr lang="en-US">
                <a:latin typeface="Calibri"/>
                <a:ea typeface="Calibri"/>
                <a:cs typeface="Calibri"/>
              </a:rPr>
              <a:t> meaning we can tailor features to their need</a:t>
            </a:r>
          </a:p>
          <a:p>
            <a:r>
              <a:rPr lang="en-US">
                <a:latin typeface="Calibri"/>
                <a:ea typeface="Calibri"/>
                <a:cs typeface="Calibri"/>
              </a:rPr>
              <a:t>Devices constantly feed us with insights that traditional data collection cant capture</a:t>
            </a:r>
          </a:p>
          <a:p>
            <a:r>
              <a:rPr lang="en-US">
                <a:latin typeface="Calibri"/>
                <a:ea typeface="Calibri"/>
                <a:cs typeface="Calibri"/>
              </a:rPr>
              <a:t>IoT devices also allow us to detect minor issues before they evolve into major failures</a:t>
            </a:r>
          </a:p>
          <a:p>
            <a:r>
              <a:rPr lang="en-US">
                <a:latin typeface="Calibri"/>
                <a:ea typeface="Calibri"/>
                <a:cs typeface="Calibri"/>
              </a:rPr>
              <a:t>Although upfront </a:t>
            </a:r>
            <a:r>
              <a:rPr lang="en-US" err="1">
                <a:latin typeface="Calibri"/>
                <a:ea typeface="Calibri"/>
                <a:cs typeface="Calibri"/>
              </a:rPr>
              <a:t>initialisation</a:t>
            </a:r>
            <a:r>
              <a:rPr lang="en-US">
                <a:latin typeface="Calibri"/>
                <a:ea typeface="Calibri"/>
                <a:cs typeface="Calibri"/>
              </a:rPr>
              <a:t> costs can be eye watering, </a:t>
            </a:r>
            <a:r>
              <a:rPr lang="en-US" err="1">
                <a:latin typeface="Calibri"/>
                <a:ea typeface="Calibri"/>
                <a:cs typeface="Calibri"/>
              </a:rPr>
              <a:t>optimised</a:t>
            </a:r>
            <a:r>
              <a:rPr lang="en-US">
                <a:latin typeface="Calibri"/>
                <a:ea typeface="Calibri"/>
                <a:cs typeface="Calibri"/>
              </a:rPr>
              <a:t> processes slash operating costs and result in a more efficient bottom line</a:t>
            </a:r>
          </a:p>
          <a:p>
            <a:r>
              <a:rPr lang="en-US">
                <a:latin typeface="Calibri"/>
                <a:ea typeface="Calibri"/>
                <a:cs typeface="Calibri"/>
              </a:rPr>
              <a:t>Automation allows for measurable increases in overall output and efficiency</a:t>
            </a:r>
          </a:p>
        </p:txBody>
      </p:sp>
      <p:sp>
        <p:nvSpPr>
          <p:cNvPr id="4" name="Slide Number Placeholder 3"/>
          <p:cNvSpPr>
            <a:spLocks noGrp="1"/>
          </p:cNvSpPr>
          <p:nvPr>
            <p:ph type="sldNum" sz="quarter" idx="5"/>
          </p:nvPr>
        </p:nvSpPr>
        <p:spPr/>
        <p:txBody>
          <a:bodyPr/>
          <a:lstStyle/>
          <a:p>
            <a:fld id="{6A7D66A0-7D86-4F0A-80F3-35B3D42AB1B1}" type="slidenum">
              <a:rPr lang="en-GB" smtClean="0"/>
              <a:t>3</a:t>
            </a:fld>
            <a:endParaRPr lang="en-GB"/>
          </a:p>
        </p:txBody>
      </p:sp>
    </p:spTree>
    <p:extLst>
      <p:ext uri="{BB962C8B-B14F-4D97-AF65-F5344CB8AC3E}">
        <p14:creationId xmlns:p14="http://schemas.microsoft.com/office/powerpoint/2010/main" val="27733837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Jake</a:t>
            </a:r>
          </a:p>
          <a:p>
            <a:r>
              <a:rPr lang="en-US">
                <a:latin typeface="Calibri"/>
                <a:ea typeface="Calibri"/>
                <a:cs typeface="Calibri"/>
              </a:rPr>
              <a:t>Our project addresses the need for proactive crime prevention, we’re </a:t>
            </a:r>
            <a:r>
              <a:rPr lang="en-US" err="1">
                <a:latin typeface="Calibri"/>
                <a:ea typeface="Calibri"/>
                <a:cs typeface="Calibri"/>
              </a:rPr>
              <a:t>utilising</a:t>
            </a:r>
            <a:r>
              <a:rPr lang="en-US">
                <a:latin typeface="Calibri"/>
                <a:ea typeface="Calibri"/>
                <a:cs typeface="Calibri"/>
              </a:rPr>
              <a:t> real time data to predict incidents before and during the time </a:t>
            </a:r>
            <a:r>
              <a:rPr lang="en-US" err="1">
                <a:latin typeface="Calibri"/>
                <a:ea typeface="Calibri"/>
                <a:cs typeface="Calibri"/>
              </a:rPr>
              <a:t>theyre</a:t>
            </a:r>
            <a:r>
              <a:rPr lang="en-US">
                <a:latin typeface="Calibri"/>
                <a:ea typeface="Calibri"/>
                <a:cs typeface="Calibri"/>
              </a:rPr>
              <a:t> happening</a:t>
            </a:r>
          </a:p>
          <a:p>
            <a:r>
              <a:rPr lang="en-US">
                <a:latin typeface="Calibri"/>
                <a:ea typeface="Calibri"/>
                <a:cs typeface="Calibri"/>
              </a:rPr>
              <a:t>We </a:t>
            </a:r>
            <a:r>
              <a:rPr lang="en-US" err="1">
                <a:latin typeface="Calibri"/>
                <a:ea typeface="Calibri"/>
                <a:cs typeface="Calibri"/>
              </a:rPr>
              <a:t>utilise</a:t>
            </a:r>
            <a:r>
              <a:rPr lang="en-US">
                <a:latin typeface="Calibri"/>
                <a:ea typeface="Calibri"/>
                <a:cs typeface="Calibri"/>
              </a:rPr>
              <a:t> IoT devices to collect real time movement and presence data, creating a map of normal activity</a:t>
            </a:r>
          </a:p>
          <a:p>
            <a:r>
              <a:rPr lang="en-US">
                <a:latin typeface="Calibri"/>
                <a:ea typeface="Calibri"/>
                <a:cs typeface="Calibri"/>
              </a:rPr>
              <a:t>Using multiple ai/ml algorithms we can establish normal patterns and through that detect significant deviations</a:t>
            </a:r>
          </a:p>
        </p:txBody>
      </p:sp>
      <p:sp>
        <p:nvSpPr>
          <p:cNvPr id="4" name="Slide Number Placeholder 3"/>
          <p:cNvSpPr>
            <a:spLocks noGrp="1"/>
          </p:cNvSpPr>
          <p:nvPr>
            <p:ph type="sldNum" sz="quarter" idx="5"/>
          </p:nvPr>
        </p:nvSpPr>
        <p:spPr/>
        <p:txBody>
          <a:bodyPr/>
          <a:lstStyle/>
          <a:p>
            <a:fld id="{6A7D66A0-7D86-4F0A-80F3-35B3D42AB1B1}" type="slidenum">
              <a:rPr lang="en-GB" smtClean="0"/>
              <a:t>4</a:t>
            </a:fld>
            <a:endParaRPr lang="en-GB"/>
          </a:p>
        </p:txBody>
      </p:sp>
    </p:spTree>
    <p:extLst>
      <p:ext uri="{BB962C8B-B14F-4D97-AF65-F5344CB8AC3E}">
        <p14:creationId xmlns:p14="http://schemas.microsoft.com/office/powerpoint/2010/main" val="9328091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Scott</a:t>
            </a:r>
          </a:p>
          <a:p>
            <a:endParaRPr lang="en-US">
              <a:latin typeface="Calibri"/>
              <a:ea typeface="Calibri"/>
              <a:cs typeface="Calibri"/>
            </a:endParaRPr>
          </a:p>
          <a:p>
            <a:r>
              <a:rPr lang="en-US">
                <a:latin typeface="Calibri"/>
                <a:ea typeface="Calibri"/>
                <a:cs typeface="Calibri"/>
              </a:rPr>
              <a:t>The project comes with the idea of four distinct phases. </a:t>
            </a:r>
            <a:endParaRPr lang="en-US"/>
          </a:p>
          <a:p>
            <a:endParaRPr lang="en-US">
              <a:latin typeface="Calibri"/>
              <a:ea typeface="Calibri"/>
              <a:cs typeface="Calibri"/>
            </a:endParaRPr>
          </a:p>
          <a:p>
            <a:r>
              <a:rPr lang="en-US">
                <a:latin typeface="Calibri"/>
                <a:ea typeface="Calibri"/>
                <a:cs typeface="Calibri"/>
              </a:rPr>
              <a:t>Starting with Data Collection, where we obtain walking, running, driving and other data.</a:t>
            </a:r>
          </a:p>
          <a:p>
            <a:endParaRPr lang="en-US">
              <a:latin typeface="Calibri"/>
              <a:ea typeface="Calibri"/>
              <a:cs typeface="Calibri"/>
            </a:endParaRPr>
          </a:p>
          <a:p>
            <a:r>
              <a:rPr lang="en-US">
                <a:latin typeface="Calibri"/>
                <a:ea typeface="Calibri"/>
                <a:cs typeface="Calibri"/>
              </a:rPr>
              <a:t>Then going onto Machine Learning and Deep Learning, where we code the actual algorithms and convert all data into a single common format.</a:t>
            </a:r>
          </a:p>
          <a:p>
            <a:endParaRPr lang="en-US">
              <a:latin typeface="Calibri"/>
              <a:ea typeface="Calibri"/>
              <a:cs typeface="Calibri"/>
            </a:endParaRPr>
          </a:p>
          <a:p>
            <a:r>
              <a:rPr lang="en-US">
                <a:latin typeface="Calibri"/>
                <a:ea typeface="Calibri"/>
                <a:cs typeface="Calibri"/>
              </a:rPr>
              <a:t>And after that is complete, we move onto obtaining results,  </a:t>
            </a:r>
            <a:r>
              <a:rPr lang="en-US" err="1">
                <a:latin typeface="Calibri"/>
                <a:ea typeface="Calibri"/>
                <a:cs typeface="Calibri"/>
              </a:rPr>
              <a:t>visualising</a:t>
            </a:r>
            <a:r>
              <a:rPr lang="en-US">
                <a:latin typeface="Calibri"/>
                <a:ea typeface="Calibri"/>
                <a:cs typeface="Calibri"/>
              </a:rPr>
              <a:t> them and comparing the models.</a:t>
            </a:r>
          </a:p>
          <a:p>
            <a:endParaRPr lang="en-US">
              <a:latin typeface="Calibri"/>
              <a:ea typeface="Calibri"/>
              <a:cs typeface="Calibri"/>
            </a:endParaRPr>
          </a:p>
          <a:p>
            <a:r>
              <a:rPr lang="en-US">
                <a:latin typeface="Calibri"/>
                <a:ea typeface="Calibri"/>
                <a:cs typeface="Calibri"/>
              </a:rPr>
              <a:t>Before finally looking at the ethical considerations and future implications</a:t>
            </a:r>
          </a:p>
        </p:txBody>
      </p:sp>
      <p:sp>
        <p:nvSpPr>
          <p:cNvPr id="4" name="Slide Number Placeholder 3"/>
          <p:cNvSpPr>
            <a:spLocks noGrp="1"/>
          </p:cNvSpPr>
          <p:nvPr>
            <p:ph type="sldNum" sz="quarter" idx="5"/>
          </p:nvPr>
        </p:nvSpPr>
        <p:spPr/>
        <p:txBody>
          <a:bodyPr/>
          <a:lstStyle/>
          <a:p>
            <a:fld id="{6A7D66A0-7D86-4F0A-80F3-35B3D42AB1B1}" type="slidenum">
              <a:rPr lang="en-GB" smtClean="0"/>
              <a:t>5</a:t>
            </a:fld>
            <a:endParaRPr lang="en-GB"/>
          </a:p>
        </p:txBody>
      </p:sp>
    </p:spTree>
    <p:extLst>
      <p:ext uri="{BB962C8B-B14F-4D97-AF65-F5344CB8AC3E}">
        <p14:creationId xmlns:p14="http://schemas.microsoft.com/office/powerpoint/2010/main" val="19001923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Scott</a:t>
            </a:r>
          </a:p>
          <a:p>
            <a:endParaRPr lang="en-US">
              <a:latin typeface="Calibri"/>
              <a:ea typeface="Calibri"/>
              <a:cs typeface="Calibri"/>
            </a:endParaRPr>
          </a:p>
          <a:p>
            <a:r>
              <a:rPr lang="en-US">
                <a:latin typeface="Calibri"/>
                <a:ea typeface="Calibri"/>
                <a:cs typeface="Calibri"/>
              </a:rPr>
              <a:t>ML/DL lead – create and train algorithms to predict human activity from data gathered.</a:t>
            </a:r>
          </a:p>
          <a:p>
            <a:endParaRPr lang="en-US">
              <a:latin typeface="Calibri"/>
              <a:ea typeface="Calibri"/>
              <a:cs typeface="Calibri"/>
            </a:endParaRPr>
          </a:p>
          <a:p>
            <a:r>
              <a:rPr lang="en-US">
                <a:latin typeface="Calibri"/>
                <a:ea typeface="Calibri"/>
                <a:cs typeface="Calibri"/>
              </a:rPr>
              <a:t>Data Collection lead – manage public and group data, ensure data gathered by group is in a consistent format to be used for the algorithms.</a:t>
            </a:r>
          </a:p>
          <a:p>
            <a:endParaRPr lang="en-US">
              <a:latin typeface="Calibri"/>
              <a:ea typeface="Calibri"/>
              <a:cs typeface="Calibri"/>
            </a:endParaRPr>
          </a:p>
          <a:p>
            <a:r>
              <a:rPr lang="en-US">
                <a:latin typeface="Calibri"/>
                <a:ea typeface="Calibri"/>
                <a:cs typeface="Calibri"/>
              </a:rPr>
              <a:t>Results &amp; </a:t>
            </a:r>
            <a:r>
              <a:rPr lang="en-US" err="1">
                <a:latin typeface="Calibri"/>
                <a:ea typeface="Calibri"/>
                <a:cs typeface="Calibri"/>
              </a:rPr>
              <a:t>Visualisation</a:t>
            </a:r>
            <a:r>
              <a:rPr lang="en-US">
                <a:latin typeface="Calibri"/>
                <a:ea typeface="Calibri"/>
                <a:cs typeface="Calibri"/>
              </a:rPr>
              <a:t> lead – use performance metrics to create graphs and </a:t>
            </a:r>
            <a:r>
              <a:rPr lang="en-US" err="1">
                <a:latin typeface="Calibri"/>
                <a:ea typeface="Calibri"/>
                <a:cs typeface="Calibri"/>
              </a:rPr>
              <a:t>visualisations</a:t>
            </a:r>
            <a:r>
              <a:rPr lang="en-US">
                <a:latin typeface="Calibri"/>
                <a:ea typeface="Calibri"/>
                <a:cs typeface="Calibri"/>
              </a:rPr>
              <a:t> for the presentation.</a:t>
            </a:r>
          </a:p>
          <a:p>
            <a:endParaRPr lang="en-US">
              <a:latin typeface="Calibri"/>
              <a:ea typeface="Calibri"/>
              <a:cs typeface="Calibri"/>
            </a:endParaRPr>
          </a:p>
          <a:p>
            <a:r>
              <a:rPr lang="en-US">
                <a:latin typeface="Calibri"/>
                <a:ea typeface="Calibri"/>
                <a:cs typeface="Calibri"/>
              </a:rPr>
              <a:t>Ethics &amp; Security lead – Consider potential ethical and security concerns of the project.</a:t>
            </a:r>
          </a:p>
          <a:p>
            <a:endParaRPr lang="en-US">
              <a:latin typeface="Calibri"/>
              <a:ea typeface="Calibri"/>
              <a:cs typeface="Calibri"/>
            </a:endParaRPr>
          </a:p>
          <a:p>
            <a:r>
              <a:rPr lang="en-US">
                <a:latin typeface="Calibri"/>
                <a:ea typeface="Calibri"/>
                <a:cs typeface="Calibri"/>
              </a:rPr>
              <a:t>Documentation lead – Ensure documentations and presentation are completed for the deadline.</a:t>
            </a:r>
          </a:p>
        </p:txBody>
      </p:sp>
      <p:sp>
        <p:nvSpPr>
          <p:cNvPr id="4" name="Slide Number Placeholder 3"/>
          <p:cNvSpPr>
            <a:spLocks noGrp="1"/>
          </p:cNvSpPr>
          <p:nvPr>
            <p:ph type="sldNum" sz="quarter" idx="5"/>
          </p:nvPr>
        </p:nvSpPr>
        <p:spPr/>
        <p:txBody>
          <a:bodyPr/>
          <a:lstStyle/>
          <a:p>
            <a:fld id="{6A7D66A0-7D86-4F0A-80F3-35B3D42AB1B1}" type="slidenum">
              <a:rPr lang="en-GB" smtClean="0"/>
              <a:t>6</a:t>
            </a:fld>
            <a:endParaRPr lang="en-GB"/>
          </a:p>
        </p:txBody>
      </p:sp>
    </p:spTree>
    <p:extLst>
      <p:ext uri="{BB962C8B-B14F-4D97-AF65-F5344CB8AC3E}">
        <p14:creationId xmlns:p14="http://schemas.microsoft.com/office/powerpoint/2010/main" val="29080366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23637-67B7-C51D-F021-6239308D37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7F572B-3D16-9972-580F-71E5EFC2A3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989BC6-FB16-9EFC-D585-3F1892205945}"/>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FF9CB2E4-596B-458E-695F-972910AEE3E4}"/>
              </a:ext>
            </a:extLst>
          </p:cNvPr>
          <p:cNvSpPr>
            <a:spLocks noGrp="1"/>
          </p:cNvSpPr>
          <p:nvPr>
            <p:ph type="sldNum" sz="quarter" idx="5"/>
          </p:nvPr>
        </p:nvSpPr>
        <p:spPr/>
        <p:txBody>
          <a:bodyPr rtlCol="0"/>
          <a:lstStyle/>
          <a:p>
            <a:pPr rtl="0"/>
            <a:fld id="{228B34ED-4CDD-41C9-90F7-D768D5559A6F}" type="slidenum">
              <a:rPr lang="en-GB" smtClean="0"/>
              <a:t>7</a:t>
            </a:fld>
            <a:endParaRPr lang="en-GB"/>
          </a:p>
        </p:txBody>
      </p:sp>
    </p:spTree>
    <p:extLst>
      <p:ext uri="{BB962C8B-B14F-4D97-AF65-F5344CB8AC3E}">
        <p14:creationId xmlns:p14="http://schemas.microsoft.com/office/powerpoint/2010/main" val="5391606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Jack</a:t>
            </a:r>
          </a:p>
          <a:p>
            <a:r>
              <a:rPr lang="en-US">
                <a:latin typeface="Calibri"/>
                <a:ea typeface="Calibri"/>
                <a:cs typeface="Calibri"/>
              </a:rPr>
              <a:t>2 apps both published by the same developer to different platforms. Data was exported in different formats so a preprocessing stage for data was required to ensure our dataset had normalized data across all entries.</a:t>
            </a:r>
          </a:p>
          <a:p>
            <a:endParaRPr lang="en-US">
              <a:latin typeface="Calibri"/>
              <a:ea typeface="Calibri"/>
              <a:cs typeface="Calibri"/>
            </a:endParaRPr>
          </a:p>
          <a:p>
            <a:r>
              <a:rPr lang="en-US">
                <a:latin typeface="Calibri"/>
                <a:ea typeface="Calibri"/>
                <a:cs typeface="Calibri"/>
              </a:rPr>
              <a:t>The activities we selected aim to match common movements of an average person in their day to day lives. </a:t>
            </a:r>
          </a:p>
          <a:p>
            <a:endParaRPr lang="en-US">
              <a:latin typeface="Calibri"/>
              <a:ea typeface="Calibri"/>
              <a:cs typeface="Calibri"/>
            </a:endParaRPr>
          </a:p>
          <a:p>
            <a:r>
              <a:rPr lang="en-US">
                <a:latin typeface="Calibri"/>
                <a:ea typeface="Calibri"/>
                <a:cs typeface="Calibri"/>
              </a:rPr>
              <a:t>The amount of data isn’t huge considering the system we are suggesting but it provides proof of concept and is more than enough to train the models and evaluate their performance.</a:t>
            </a:r>
          </a:p>
          <a:p>
            <a:endParaRPr lang="en-US">
              <a:latin typeface="Calibri"/>
              <a:ea typeface="Calibri"/>
              <a:cs typeface="Calibri"/>
            </a:endParaRPr>
          </a:p>
          <a:p>
            <a:r>
              <a:rPr lang="en-US">
                <a:latin typeface="Calibri"/>
                <a:ea typeface="Calibri"/>
                <a:cs typeface="Calibri"/>
              </a:rPr>
              <a:t>Ho, Peter (2024) </a:t>
            </a:r>
            <a:r>
              <a:rPr lang="en-US" i="1">
                <a:latin typeface="Calibri"/>
                <a:ea typeface="Calibri"/>
                <a:cs typeface="Calibri"/>
              </a:rPr>
              <a:t>GPS Logger </a:t>
            </a:r>
            <a:r>
              <a:rPr lang="en-US">
                <a:latin typeface="Calibri"/>
                <a:ea typeface="Calibri"/>
                <a:cs typeface="Calibri"/>
              </a:rPr>
              <a:t>(4.4.95) [Mobile App]. Available at: https://play.google.com/store/apps/details?id=com.peterhohsy.gpsloggerlite (Accessed: 29 September 2025).</a:t>
            </a:r>
          </a:p>
        </p:txBody>
      </p:sp>
      <p:sp>
        <p:nvSpPr>
          <p:cNvPr id="4" name="Slide Number Placeholder 3"/>
          <p:cNvSpPr>
            <a:spLocks noGrp="1"/>
          </p:cNvSpPr>
          <p:nvPr>
            <p:ph type="sldNum" sz="quarter" idx="5"/>
          </p:nvPr>
        </p:nvSpPr>
        <p:spPr/>
        <p:txBody>
          <a:bodyPr/>
          <a:lstStyle/>
          <a:p>
            <a:fld id="{6A7D66A0-7D86-4F0A-80F3-35B3D42AB1B1}" type="slidenum">
              <a:rPr lang="en-GB" smtClean="0"/>
              <a:t>8</a:t>
            </a:fld>
            <a:endParaRPr lang="en-GB"/>
          </a:p>
        </p:txBody>
      </p:sp>
    </p:spTree>
    <p:extLst>
      <p:ext uri="{BB962C8B-B14F-4D97-AF65-F5344CB8AC3E}">
        <p14:creationId xmlns:p14="http://schemas.microsoft.com/office/powerpoint/2010/main" val="26995297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Jack</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a:t>When stationary, the app should show an average speed of 0. However, issues with inaccurate GPS meant that the apps tracked erroneous movements.</a:t>
            </a:r>
            <a:endParaRPr lang="en-US" sz="1200"/>
          </a:p>
          <a:p>
            <a:endParaRPr lang="en-US">
              <a:latin typeface="Calibri"/>
              <a:ea typeface="Calibri"/>
              <a:cs typeface="Calibri"/>
            </a:endParaRPr>
          </a:p>
          <a:p>
            <a:r>
              <a:rPr lang="en-US">
                <a:latin typeface="Calibri"/>
                <a:ea typeface="Calibri"/>
                <a:cs typeface="Calibri"/>
              </a:rPr>
              <a:t>Certain enclosed areas had very poor GPS signal leading to data showing sudden jumps in speed detected when GPS signal was restored. To solve this, we sorted the data at the preprocessing stage to check for these irregularities.</a:t>
            </a:r>
          </a:p>
          <a:p>
            <a:endParaRPr lang="en-US">
              <a:latin typeface="Calibri"/>
              <a:ea typeface="Calibri"/>
              <a:cs typeface="Calibri"/>
            </a:endParaRPr>
          </a:p>
          <a:p>
            <a:r>
              <a:rPr lang="en-US">
                <a:latin typeface="Calibri"/>
                <a:ea typeface="Calibri"/>
                <a:cs typeface="Calibri"/>
              </a:rPr>
              <a:t>The apps had maximums for the data that could be recorded, meaning we had to regularly export data to ensure none was lost.</a:t>
            </a:r>
          </a:p>
        </p:txBody>
      </p:sp>
      <p:sp>
        <p:nvSpPr>
          <p:cNvPr id="4" name="Slide Number Placeholder 3"/>
          <p:cNvSpPr>
            <a:spLocks noGrp="1"/>
          </p:cNvSpPr>
          <p:nvPr>
            <p:ph type="sldNum" sz="quarter" idx="5"/>
          </p:nvPr>
        </p:nvSpPr>
        <p:spPr/>
        <p:txBody>
          <a:bodyPr/>
          <a:lstStyle/>
          <a:p>
            <a:fld id="{6A7D66A0-7D86-4F0A-80F3-35B3D42AB1B1}" type="slidenum">
              <a:rPr lang="en-GB" smtClean="0"/>
              <a:t>9</a:t>
            </a:fld>
            <a:endParaRPr lang="en-GB"/>
          </a:p>
        </p:txBody>
      </p:sp>
    </p:spTree>
    <p:extLst>
      <p:ext uri="{BB962C8B-B14F-4D97-AF65-F5344CB8AC3E}">
        <p14:creationId xmlns:p14="http://schemas.microsoft.com/office/powerpoint/2010/main" val="21846375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3D51D-3333-3782-2CBD-A7B8F9597F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77D9E4-6243-4980-725C-D8AA4C8F1A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98C40C-57BC-93E2-2E49-213748043A8C}"/>
              </a:ext>
            </a:extLst>
          </p:cNvPr>
          <p:cNvSpPr>
            <a:spLocks noGrp="1"/>
          </p:cNvSpPr>
          <p:nvPr>
            <p:ph type="body" idx="1"/>
          </p:nvPr>
        </p:nvSpPr>
        <p:spPr/>
        <p:txBody>
          <a:bodyPr/>
          <a:lstStyle/>
          <a:p>
            <a:r>
              <a:rPr lang="en-US">
                <a:latin typeface="Calibri"/>
                <a:ea typeface="Calibri"/>
                <a:cs typeface="Calibri"/>
              </a:rPr>
              <a:t>Jack</a:t>
            </a:r>
          </a:p>
          <a:p>
            <a:r>
              <a:rPr lang="en-US">
                <a:latin typeface="Calibri"/>
                <a:ea typeface="Calibri"/>
                <a:cs typeface="Calibri"/>
              </a:rPr>
              <a:t>The dataset we chose is from a publicly available deep learning project called Run or Walk at Kaggle.com. It’s a mixed movement dataset meaning at different points throughout the data, the individual goes from walking to running – allowing classification of both types of movement.</a:t>
            </a:r>
          </a:p>
          <a:p>
            <a:endParaRPr lang="en-US">
              <a:latin typeface="Calibri"/>
              <a:ea typeface="Calibri"/>
              <a:cs typeface="Calibri"/>
            </a:endParaRPr>
          </a:p>
          <a:p>
            <a:r>
              <a:rPr lang="en-US">
                <a:latin typeface="Calibri"/>
                <a:ea typeface="Calibri"/>
                <a:cs typeface="Calibri"/>
              </a:rPr>
              <a:t>We also used a European train station dataset that provides GPS coordinates of all train stations in Europe. This allowed for location verification through our gathered data to confirm if someone was travelling by train.</a:t>
            </a:r>
          </a:p>
          <a:p>
            <a:endParaRPr lang="en-US">
              <a:latin typeface="Calibri"/>
              <a:ea typeface="Calibri"/>
              <a:cs typeface="Calibri"/>
            </a:endParaRPr>
          </a:p>
          <a:p>
            <a:r>
              <a:rPr lang="en-US" err="1">
                <a:latin typeface="Calibri"/>
                <a:ea typeface="Calibri"/>
                <a:cs typeface="Calibri"/>
              </a:rPr>
              <a:t>Malyi</a:t>
            </a:r>
            <a:r>
              <a:rPr lang="en-US">
                <a:latin typeface="Calibri"/>
                <a:ea typeface="Calibri"/>
                <a:cs typeface="Calibri"/>
              </a:rPr>
              <a:t>, V (2017) </a:t>
            </a:r>
            <a:r>
              <a:rPr lang="en-US" i="1">
                <a:latin typeface="Calibri"/>
                <a:ea typeface="Calibri"/>
                <a:cs typeface="Calibri"/>
              </a:rPr>
              <a:t>Run or Walk</a:t>
            </a:r>
            <a:r>
              <a:rPr lang="en-US">
                <a:latin typeface="Calibri"/>
                <a:ea typeface="Calibri"/>
                <a:cs typeface="Calibri"/>
              </a:rPr>
              <a:t>. Available at: https://www.kaggle.com/datasets/vmalyi/run-or-walk (Accessed 28 September 2025).</a:t>
            </a:r>
          </a:p>
          <a:p>
            <a:r>
              <a:rPr lang="en-US">
                <a:latin typeface="Calibri"/>
                <a:ea typeface="Calibri"/>
                <a:cs typeface="Calibri"/>
              </a:rPr>
              <a:t>Prata, M. (2020) </a:t>
            </a:r>
            <a:r>
              <a:rPr lang="en-US" i="1">
                <a:latin typeface="Calibri"/>
                <a:ea typeface="Calibri"/>
                <a:cs typeface="Calibri"/>
              </a:rPr>
              <a:t>European Train Stations Maps. </a:t>
            </a:r>
            <a:r>
              <a:rPr lang="en-US">
                <a:latin typeface="Calibri"/>
                <a:ea typeface="Calibri"/>
                <a:cs typeface="Calibri"/>
              </a:rPr>
              <a:t>Available at: https://www.kaggle.com/code/mpwolke/european-train-stations-maps/input (Accessed 28 October 2025).</a:t>
            </a:r>
          </a:p>
        </p:txBody>
      </p:sp>
      <p:sp>
        <p:nvSpPr>
          <p:cNvPr id="4" name="Slide Number Placeholder 3">
            <a:extLst>
              <a:ext uri="{FF2B5EF4-FFF2-40B4-BE49-F238E27FC236}">
                <a16:creationId xmlns:a16="http://schemas.microsoft.com/office/drawing/2014/main" id="{6B809763-AD8E-D726-6597-E43FD82508AA}"/>
              </a:ext>
            </a:extLst>
          </p:cNvPr>
          <p:cNvSpPr>
            <a:spLocks noGrp="1"/>
          </p:cNvSpPr>
          <p:nvPr>
            <p:ph type="sldNum" sz="quarter" idx="5"/>
          </p:nvPr>
        </p:nvSpPr>
        <p:spPr/>
        <p:txBody>
          <a:bodyPr/>
          <a:lstStyle/>
          <a:p>
            <a:fld id="{6A7D66A0-7D86-4F0A-80F3-35B3D42AB1B1}" type="slidenum">
              <a:rPr lang="en-GB" smtClean="0"/>
              <a:t>10</a:t>
            </a:fld>
            <a:endParaRPr lang="en-GB"/>
          </a:p>
        </p:txBody>
      </p:sp>
    </p:spTree>
    <p:extLst>
      <p:ext uri="{BB962C8B-B14F-4D97-AF65-F5344CB8AC3E}">
        <p14:creationId xmlns:p14="http://schemas.microsoft.com/office/powerpoint/2010/main" val="26158298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21350-17F1-356D-70E6-6C7F611D44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4A8EC9-3215-942B-7E31-A5DDAB003A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8E8839-80A7-462A-CDC7-AC5AA39093D8}"/>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D652F5B4-6C65-681A-17C4-CA69D49D5DB1}"/>
              </a:ext>
            </a:extLst>
          </p:cNvPr>
          <p:cNvSpPr>
            <a:spLocks noGrp="1"/>
          </p:cNvSpPr>
          <p:nvPr>
            <p:ph type="sldNum" sz="quarter" idx="5"/>
          </p:nvPr>
        </p:nvSpPr>
        <p:spPr/>
        <p:txBody>
          <a:bodyPr rtlCol="0"/>
          <a:lstStyle/>
          <a:p>
            <a:pPr rtl="0"/>
            <a:fld id="{228B34ED-4CDD-41C9-90F7-D768D5559A6F}" type="slidenum">
              <a:rPr lang="en-GB" smtClean="0"/>
              <a:t>11</a:t>
            </a:fld>
            <a:endParaRPr lang="en-GB"/>
          </a:p>
        </p:txBody>
      </p:sp>
    </p:spTree>
    <p:extLst>
      <p:ext uri="{BB962C8B-B14F-4D97-AF65-F5344CB8AC3E}">
        <p14:creationId xmlns:p14="http://schemas.microsoft.com/office/powerpoint/2010/main" val="42474000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Josh White</a:t>
            </a:r>
          </a:p>
          <a:p>
            <a:endParaRPr lang="en-US"/>
          </a:p>
          <a:p>
            <a:r>
              <a:rPr lang="en-US"/>
              <a:t>In this model, the Random Forest creates 200 decision trees. Each tree is trained on random parts of the data and uses different values for each features at each step. This helps the model learn different patterns in the data that relate to activities like walking, running, being on a train or in a vehicle. When the model needs to take a prediction. It will takes a majority vote from all 200 trees then the final label is assigned </a:t>
            </a:r>
          </a:p>
          <a:p>
            <a:endParaRPr lang="en-US"/>
          </a:p>
          <a:p>
            <a:r>
              <a:rPr lang="en-GB" sz="1200" b="0" i="1" kern="1200">
                <a:solidFill>
                  <a:schemeClr val="tx1"/>
                </a:solidFill>
                <a:effectLst/>
                <a:latin typeface="+mn-lt"/>
                <a:ea typeface="+mn-ea"/>
                <a:cs typeface="+mn-cs"/>
              </a:rPr>
              <a:t>Random Forest Classification in Python With Scikit-Learn: Step-by-Step Guide (with Code Examples). </a:t>
            </a:r>
            <a:r>
              <a:rPr lang="en-GB" sz="1200" b="0" i="0" kern="1200">
                <a:solidFill>
                  <a:schemeClr val="tx1"/>
                </a:solidFill>
                <a:effectLst/>
                <a:latin typeface="+mn-lt"/>
                <a:ea typeface="+mn-ea"/>
                <a:cs typeface="+mn-cs"/>
              </a:rPr>
              <a:t>Available at: </a:t>
            </a:r>
            <a:r>
              <a:rPr lang="en-GB" sz="1200" b="0" i="0" u="none" strike="noStrike" kern="1200">
                <a:solidFill>
                  <a:schemeClr val="tx1"/>
                </a:solidFill>
                <a:effectLst/>
                <a:latin typeface="+mn-lt"/>
                <a:ea typeface="+mn-ea"/>
                <a:cs typeface="+mn-cs"/>
                <a:hlinkClick r:id="rId3"/>
              </a:rPr>
              <a:t>https://www.datacamp.com/tutorial/random-forests-classifier-python</a:t>
            </a:r>
            <a:r>
              <a:rPr lang="en-GB" sz="1200" b="0" i="0" kern="1200">
                <a:solidFill>
                  <a:schemeClr val="tx1"/>
                </a:solidFill>
                <a:effectLst/>
                <a:latin typeface="+mn-lt"/>
                <a:ea typeface="+mn-ea"/>
                <a:cs typeface="+mn-cs"/>
              </a:rPr>
              <a:t> (Accessed: Nov 19, 2025).</a:t>
            </a:r>
            <a:endParaRPr lang="en-US"/>
          </a:p>
          <a:p>
            <a:endParaRPr lang="en-US"/>
          </a:p>
          <a:p>
            <a:r>
              <a:rPr lang="en-US"/>
              <a:t>Lower max depth if the features are simple and improve performance. Increase if results are too </a:t>
            </a:r>
          </a:p>
          <a:p>
            <a:r>
              <a:rPr lang="en-US"/>
              <a:t>simplistic </a:t>
            </a:r>
          </a:p>
          <a:p>
            <a:r>
              <a:rPr lang="en-US"/>
              <a:t>https://scikit-learn.org/stable/modules/generated/sklearn.ensemble.RandomForestClassifier.html</a:t>
            </a:r>
          </a:p>
          <a:p>
            <a:endParaRPr lang="en-US"/>
          </a:p>
          <a:p>
            <a:r>
              <a:rPr lang="en-US">
                <a:hlinkClick r:id="rId4"/>
              </a:rPr>
              <a:t>What Is Random Forest? | IBM</a:t>
            </a:r>
            <a:endParaRPr lang="en-US"/>
          </a:p>
          <a:p>
            <a:endParaRPr lang="en-US"/>
          </a:p>
        </p:txBody>
      </p:sp>
      <p:sp>
        <p:nvSpPr>
          <p:cNvPr id="4" name="Slide Number Placeholder 3"/>
          <p:cNvSpPr>
            <a:spLocks noGrp="1"/>
          </p:cNvSpPr>
          <p:nvPr>
            <p:ph type="sldNum" sz="quarter" idx="5"/>
          </p:nvPr>
        </p:nvSpPr>
        <p:spPr/>
        <p:txBody>
          <a:bodyPr/>
          <a:lstStyle/>
          <a:p>
            <a:fld id="{6A7D66A0-7D86-4F0A-80F3-35B3D42AB1B1}" type="slidenum">
              <a:rPr lang="en-GB" smtClean="0"/>
              <a:t>12</a:t>
            </a:fld>
            <a:endParaRPr lang="en-GB"/>
          </a:p>
        </p:txBody>
      </p:sp>
    </p:spTree>
    <p:extLst>
      <p:ext uri="{BB962C8B-B14F-4D97-AF65-F5344CB8AC3E}">
        <p14:creationId xmlns:p14="http://schemas.microsoft.com/office/powerpoint/2010/main" val="28984717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879C0-8AED-DC84-4928-9E42606569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A12870-F987-6CB8-5BA3-25A5548039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A3008D-7ECE-1E27-C227-D9367EA11DE9}"/>
              </a:ext>
            </a:extLst>
          </p:cNvPr>
          <p:cNvSpPr>
            <a:spLocks noGrp="1"/>
          </p:cNvSpPr>
          <p:nvPr>
            <p:ph type="body" idx="1"/>
          </p:nvPr>
        </p:nvSpPr>
        <p:spPr/>
        <p:txBody>
          <a:bodyPr/>
          <a:lstStyle/>
          <a:p>
            <a:r>
              <a:rPr lang="en-US"/>
              <a:t>Josh White</a:t>
            </a:r>
          </a:p>
          <a:p>
            <a:endParaRPr lang="en-US"/>
          </a:p>
          <a:p>
            <a:r>
              <a:rPr lang="en-US"/>
              <a:t>This model works by finding the best possible boundary or hyperplane that separates different activity types, such as walking, running, and being in a vehicle.</a:t>
            </a:r>
          </a:p>
          <a:p>
            <a:br>
              <a:rPr lang="en-US">
                <a:cs typeface="+mn-lt"/>
              </a:rPr>
            </a:br>
            <a:r>
              <a:rPr lang="en-US"/>
              <a:t>A Standard Scaler ensures speed feature values are treated fairly. Without scaling the model sees big gaps and might struggle to set fair boundaries.</a:t>
            </a:r>
          </a:p>
          <a:p>
            <a:endParaRPr lang="en-US">
              <a:cs typeface="+mn-lt"/>
            </a:endParaRPr>
          </a:p>
          <a:p>
            <a:r>
              <a:rPr lang="en-GB" sz="1200" b="0" i="1" kern="1200">
                <a:solidFill>
                  <a:schemeClr val="tx1"/>
                </a:solidFill>
                <a:effectLst/>
                <a:latin typeface="+mn-lt"/>
                <a:ea typeface="+mn-ea"/>
                <a:cs typeface="+mn-cs"/>
              </a:rPr>
              <a:t>SVM Hyperparameter Tuning using </a:t>
            </a:r>
            <a:r>
              <a:rPr lang="en-GB" sz="1200" b="0" i="1" kern="1200" err="1">
                <a:solidFill>
                  <a:schemeClr val="tx1"/>
                </a:solidFill>
                <a:effectLst/>
                <a:latin typeface="+mn-lt"/>
                <a:ea typeface="+mn-ea"/>
                <a:cs typeface="+mn-cs"/>
              </a:rPr>
              <a:t>GridSearchCV</a:t>
            </a:r>
            <a:r>
              <a:rPr lang="en-GB" sz="1200" b="0" i="1" kern="1200">
                <a:solidFill>
                  <a:schemeClr val="tx1"/>
                </a:solidFill>
                <a:effectLst/>
                <a:latin typeface="+mn-lt"/>
                <a:ea typeface="+mn-ea"/>
                <a:cs typeface="+mn-cs"/>
              </a:rPr>
              <a:t> - ML</a:t>
            </a:r>
            <a:r>
              <a:rPr lang="en-GB" sz="1200" b="0" i="0" kern="1200">
                <a:solidFill>
                  <a:schemeClr val="tx1"/>
                </a:solidFill>
                <a:effectLst/>
                <a:latin typeface="+mn-lt"/>
                <a:ea typeface="+mn-ea"/>
                <a:cs typeface="+mn-cs"/>
              </a:rPr>
              <a:t>(2019) Available at: </a:t>
            </a:r>
            <a:r>
              <a:rPr lang="en-GB" sz="1200" b="0" i="0" u="none" strike="noStrike" kern="1200">
                <a:solidFill>
                  <a:schemeClr val="tx1"/>
                </a:solidFill>
                <a:effectLst/>
                <a:latin typeface="+mn-lt"/>
                <a:ea typeface="+mn-ea"/>
                <a:cs typeface="+mn-cs"/>
                <a:hlinkClick r:id="rId3"/>
              </a:rPr>
              <a:t>https://www.geeksforgeeks.org/machine-learning/svm-hyperparameter-tuning-using-gridsearchcv-ml/</a:t>
            </a:r>
            <a:r>
              <a:rPr lang="en-GB" sz="1200" b="0" i="0" kern="1200">
                <a:solidFill>
                  <a:schemeClr val="tx1"/>
                </a:solidFill>
                <a:effectLst/>
                <a:latin typeface="+mn-lt"/>
                <a:ea typeface="+mn-ea"/>
                <a:cs typeface="+mn-cs"/>
              </a:rPr>
              <a:t> (Accessed: Nov 19, 2025).</a:t>
            </a:r>
          </a:p>
          <a:p>
            <a:endParaRPr lang="en-US"/>
          </a:p>
          <a:p>
            <a:endParaRPr lang="en-US"/>
          </a:p>
        </p:txBody>
      </p:sp>
      <p:sp>
        <p:nvSpPr>
          <p:cNvPr id="4" name="Slide Number Placeholder 3">
            <a:extLst>
              <a:ext uri="{FF2B5EF4-FFF2-40B4-BE49-F238E27FC236}">
                <a16:creationId xmlns:a16="http://schemas.microsoft.com/office/drawing/2014/main" id="{E9F64FAE-BF4B-F93A-9316-471AD4995332}"/>
              </a:ext>
            </a:extLst>
          </p:cNvPr>
          <p:cNvSpPr>
            <a:spLocks noGrp="1"/>
          </p:cNvSpPr>
          <p:nvPr>
            <p:ph type="sldNum" sz="quarter" idx="5"/>
          </p:nvPr>
        </p:nvSpPr>
        <p:spPr/>
        <p:txBody>
          <a:bodyPr/>
          <a:lstStyle/>
          <a:p>
            <a:fld id="{6A7D66A0-7D86-4F0A-80F3-35B3D42AB1B1}" type="slidenum">
              <a:rPr lang="en-GB" smtClean="0"/>
              <a:t>13</a:t>
            </a:fld>
            <a:endParaRPr lang="en-GB"/>
          </a:p>
        </p:txBody>
      </p:sp>
    </p:spTree>
    <p:extLst>
      <p:ext uri="{BB962C8B-B14F-4D97-AF65-F5344CB8AC3E}">
        <p14:creationId xmlns:p14="http://schemas.microsoft.com/office/powerpoint/2010/main" val="1932034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02288-08A0-5DD7-C906-8FC271DF73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A24DA9-79B0-CF49-045E-5CC275EEEC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6B6C5A-0EAB-B250-75C5-20CEC277B090}"/>
              </a:ext>
            </a:extLst>
          </p:cNvPr>
          <p:cNvSpPr>
            <a:spLocks noGrp="1"/>
          </p:cNvSpPr>
          <p:nvPr>
            <p:ph type="body" idx="1"/>
          </p:nvPr>
        </p:nvSpPr>
        <p:spPr/>
        <p:txBody>
          <a:bodyPr/>
          <a:lstStyle/>
          <a:p>
            <a:r>
              <a:rPr lang="en-US"/>
              <a:t>Josh White</a:t>
            </a:r>
          </a:p>
          <a:p>
            <a:endParaRPr lang="en-US"/>
          </a:p>
          <a:p>
            <a:r>
              <a:rPr lang="en-US"/>
              <a:t>When the model makes its first prediction from the datasets a second pass over the data is implemented however is goes backwards on the data correcting incorrect transitions. Where the model thinks that the person is walking when actually they are driving slowly. In addition with haversine distance formula I was able to calculate the distance between GPS points. This allowed me to calculate the distance between train stations and the users GPS data. From this, then I could find the nearest station and check if the user was catching the train correcting  incorrect fields when the user was in-between stations. The model  also is improved with a rolling average over 5-samples, which takes the average over 5 samples making patterns much cleaner, offering more accurate results .     </a:t>
            </a:r>
          </a:p>
        </p:txBody>
      </p:sp>
      <p:sp>
        <p:nvSpPr>
          <p:cNvPr id="4" name="Slide Number Placeholder 3">
            <a:extLst>
              <a:ext uri="{FF2B5EF4-FFF2-40B4-BE49-F238E27FC236}">
                <a16:creationId xmlns:a16="http://schemas.microsoft.com/office/drawing/2014/main" id="{A0C1DB97-FE90-A346-279F-B61914344DB3}"/>
              </a:ext>
            </a:extLst>
          </p:cNvPr>
          <p:cNvSpPr>
            <a:spLocks noGrp="1"/>
          </p:cNvSpPr>
          <p:nvPr>
            <p:ph type="sldNum" sz="quarter" idx="5"/>
          </p:nvPr>
        </p:nvSpPr>
        <p:spPr/>
        <p:txBody>
          <a:bodyPr/>
          <a:lstStyle/>
          <a:p>
            <a:fld id="{6A7D66A0-7D86-4F0A-80F3-35B3D42AB1B1}" type="slidenum">
              <a:rPr lang="en-GB" smtClean="0"/>
              <a:t>14</a:t>
            </a:fld>
            <a:endParaRPr lang="en-GB"/>
          </a:p>
        </p:txBody>
      </p:sp>
    </p:spTree>
    <p:extLst>
      <p:ext uri="{BB962C8B-B14F-4D97-AF65-F5344CB8AC3E}">
        <p14:creationId xmlns:p14="http://schemas.microsoft.com/office/powerpoint/2010/main" val="4871092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6CB13-6D86-D93E-CDCC-7213C04A8E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B152CB-3658-896A-1872-DBDF4D006C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C6BA77-4015-EEFC-7140-CED0122C4FBD}"/>
              </a:ext>
            </a:extLst>
          </p:cNvPr>
          <p:cNvSpPr>
            <a:spLocks noGrp="1"/>
          </p:cNvSpPr>
          <p:nvPr>
            <p:ph type="body" idx="1"/>
          </p:nvPr>
        </p:nvSpPr>
        <p:spPr/>
        <p:txBody>
          <a:bodyPr/>
          <a:lstStyle/>
          <a:p>
            <a:r>
              <a:rPr lang="en-US"/>
              <a:t>Josh White</a:t>
            </a:r>
          </a:p>
          <a:p>
            <a:endParaRPr lang="en-US"/>
          </a:p>
          <a:p>
            <a:r>
              <a:rPr lang="en-GB"/>
              <a:t>LTSM stands for Long Short-Term Memory,</a:t>
            </a:r>
          </a:p>
          <a:p>
            <a:endParaRPr lang="en-GB"/>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GB"/>
              <a:t>The LSTM model is great for time series or sequential data (in our case, sample data collected over time) In our model, the LSTM looks at small chunks of data called sequences and remembers previous steps or patterns</a:t>
            </a:r>
            <a:r>
              <a:rPr lang="en-US"/>
              <a:t>. </a:t>
            </a:r>
            <a:r>
              <a:rPr lang="en-GB"/>
              <a:t>This memory helps it identify trends in activities, such as walking, running, or being in a vehicle, by connecting what happened in the past with the current data</a:t>
            </a:r>
            <a:endParaRPr lang="en-US"/>
          </a:p>
          <a:p>
            <a:r>
              <a:rPr lang="en-GB" b="1">
                <a:effectLst/>
              </a:rPr>
              <a:t>Convolutional Neural Network</a:t>
            </a:r>
            <a:r>
              <a:rPr lang="en-GB" sz="1200" b="1" i="0" kern="1200">
                <a:solidFill>
                  <a:schemeClr val="tx1"/>
                </a:solidFill>
                <a:effectLst/>
                <a:latin typeface="+mn-lt"/>
                <a:ea typeface="+mn-ea"/>
                <a:cs typeface="+mn-cs"/>
              </a:rPr>
              <a:t>.</a:t>
            </a:r>
            <a:r>
              <a:rPr lang="en-GB" sz="1200" b="0" i="0" kern="1200">
                <a:solidFill>
                  <a:schemeClr val="tx1"/>
                </a:solidFill>
                <a:effectLst/>
                <a:latin typeface="+mn-lt"/>
                <a:ea typeface="+mn-ea"/>
                <a:cs typeface="+mn-cs"/>
              </a:rPr>
              <a:t> Typically used to look for patterns in the sequence. Our cnn model is </a:t>
            </a:r>
            <a:r>
              <a:rPr lang="en-GB"/>
              <a:t>1D</a:t>
            </a:r>
            <a:r>
              <a:rPr lang="en-GB" sz="1200" b="0" i="0" kern="1200">
                <a:solidFill>
                  <a:schemeClr val="tx1"/>
                </a:solidFill>
                <a:effectLst/>
                <a:latin typeface="+mn-lt"/>
                <a:ea typeface="+mn-ea"/>
                <a:cs typeface="+mn-cs"/>
              </a:rPr>
              <a:t>  </a:t>
            </a:r>
          </a:p>
          <a:p>
            <a:endParaRPr lang="en-GB" sz="1200" b="0" i="0" kern="1200">
              <a:solidFill>
                <a:schemeClr val="tx1"/>
              </a:solidFill>
              <a:effectLst/>
              <a:latin typeface="+mn-lt"/>
              <a:ea typeface="+mn-ea"/>
              <a:cs typeface="+mn-cs"/>
            </a:endParaRPr>
          </a:p>
          <a:p>
            <a:r>
              <a:rPr lang="en-GB"/>
              <a:t>The CNN layers extract features from these sequences using convolution and pooling layers</a:t>
            </a:r>
          </a:p>
          <a:p>
            <a:endParaRPr lang="en-GB" sz="1200" b="0" i="0" kern="1200">
              <a:solidFill>
                <a:schemeClr val="tx1"/>
              </a:solidFill>
              <a:effectLst/>
              <a:latin typeface="+mn-lt"/>
              <a:ea typeface="+mn-ea"/>
              <a:cs typeface="+mn-cs"/>
            </a:endParaRPr>
          </a:p>
          <a:p>
            <a:r>
              <a:rPr lang="en-GB" b="1"/>
              <a:t>FOR CONVOLUTION</a:t>
            </a:r>
          </a:p>
          <a:p>
            <a:r>
              <a:rPr lang="en-GB"/>
              <a:t>At each Conv1D layer extracts and scans over sequences readings of speed, latitude, longitude. The first layers detect simple patterns i.e (a single speed spike indicating running), with deeper layers detecting more complex patterns like the transition from walking → running → in_vehicle.</a:t>
            </a:r>
          </a:p>
          <a:p>
            <a:endParaRPr lang="en-GB" sz="1200" b="0" i="0" kern="1200">
              <a:solidFill>
                <a:schemeClr val="tx1"/>
              </a:solidFill>
              <a:effectLst/>
              <a:latin typeface="+mn-lt"/>
              <a:ea typeface="+mn-ea"/>
              <a:cs typeface="+mn-cs"/>
            </a:endParaRPr>
          </a:p>
          <a:p>
            <a:r>
              <a:rPr lang="en-GB" sz="1200" b="0" i="1" kern="1200">
                <a:solidFill>
                  <a:schemeClr val="tx1"/>
                </a:solidFill>
                <a:effectLst/>
                <a:latin typeface="+mn-lt"/>
                <a:ea typeface="+mn-ea"/>
                <a:cs typeface="+mn-cs"/>
              </a:rPr>
              <a:t>What Is a Convolutional Neural Network? </a:t>
            </a:r>
            <a:r>
              <a:rPr lang="en-GB" sz="1200" b="0" i="0" kern="1200">
                <a:solidFill>
                  <a:schemeClr val="tx1"/>
                </a:solidFill>
                <a:effectLst/>
                <a:latin typeface="+mn-lt"/>
                <a:ea typeface="+mn-ea"/>
                <a:cs typeface="+mn-cs"/>
              </a:rPr>
              <a:t>Available at: </a:t>
            </a:r>
            <a:r>
              <a:rPr lang="en-GB" sz="1200" b="0" i="0" u="none" strike="noStrike" kern="1200">
                <a:solidFill>
                  <a:schemeClr val="tx1"/>
                </a:solidFill>
                <a:effectLst/>
                <a:latin typeface="+mn-lt"/>
                <a:ea typeface="+mn-ea"/>
                <a:cs typeface="+mn-cs"/>
                <a:hlinkClick r:id="rId3"/>
              </a:rPr>
              <a:t>https://www.mathworks.com/discovery/convolutional-neural-network.html</a:t>
            </a:r>
            <a:r>
              <a:rPr lang="en-GB" sz="1200" b="0" i="0" kern="1200">
                <a:solidFill>
                  <a:schemeClr val="tx1"/>
                </a:solidFill>
                <a:effectLst/>
                <a:latin typeface="+mn-lt"/>
                <a:ea typeface="+mn-ea"/>
                <a:cs typeface="+mn-cs"/>
              </a:rPr>
              <a:t> (Accessed: Nov 20, 2025).</a:t>
            </a:r>
          </a:p>
          <a:p>
            <a:endParaRPr lang="en-GB" sz="1200" b="0" i="0" kern="1200">
              <a:solidFill>
                <a:schemeClr val="tx1"/>
              </a:solidFill>
              <a:effectLst/>
              <a:latin typeface="+mn-lt"/>
              <a:ea typeface="+mn-ea"/>
              <a:cs typeface="+mn-cs"/>
            </a:endParaRPr>
          </a:p>
          <a:p>
            <a:endParaRPr lang="en-GB" sz="1200" b="0" i="0" kern="1200">
              <a:solidFill>
                <a:schemeClr val="tx1"/>
              </a:solidFill>
              <a:effectLst/>
              <a:latin typeface="+mn-lt"/>
              <a:ea typeface="+mn-ea"/>
              <a:cs typeface="+mn-cs"/>
            </a:endParaRPr>
          </a:p>
          <a:p>
            <a:r>
              <a:rPr lang="en-GB" sz="1200" b="1" i="0" kern="1200">
                <a:solidFill>
                  <a:schemeClr val="tx1"/>
                </a:solidFill>
                <a:effectLst/>
                <a:latin typeface="+mn-lt"/>
                <a:ea typeface="+mn-ea"/>
                <a:cs typeface="+mn-cs"/>
              </a:rPr>
              <a:t>FOR POOLING</a:t>
            </a:r>
          </a:p>
          <a:p>
            <a:r>
              <a:rPr lang="en-GB" sz="1200" b="0" i="0" kern="1200">
                <a:solidFill>
                  <a:schemeClr val="tx1"/>
                </a:solidFill>
                <a:effectLst/>
                <a:latin typeface="+mn-lt"/>
                <a:ea typeface="+mn-ea"/>
                <a:cs typeface="+mn-cs"/>
              </a:rPr>
              <a:t>after convolution it. Pooling Compresses the features into small windows. K</a:t>
            </a:r>
            <a:r>
              <a:rPr lang="en-GB"/>
              <a:t>eeping the most important movement patterns and discarding small irrelevant patterns.</a:t>
            </a:r>
            <a:endParaRPr lang="en-GB"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E01DAD0F-9F93-6E25-FB27-9EDEEEA46192}"/>
              </a:ext>
            </a:extLst>
          </p:cNvPr>
          <p:cNvSpPr>
            <a:spLocks noGrp="1"/>
          </p:cNvSpPr>
          <p:nvPr>
            <p:ph type="sldNum" sz="quarter" idx="5"/>
          </p:nvPr>
        </p:nvSpPr>
        <p:spPr/>
        <p:txBody>
          <a:bodyPr/>
          <a:lstStyle/>
          <a:p>
            <a:fld id="{6A7D66A0-7D86-4F0A-80F3-35B3D42AB1B1}" type="slidenum">
              <a:rPr lang="en-GB" smtClean="0"/>
              <a:t>15</a:t>
            </a:fld>
            <a:endParaRPr lang="en-GB"/>
          </a:p>
        </p:txBody>
      </p:sp>
    </p:spTree>
    <p:extLst>
      <p:ext uri="{BB962C8B-B14F-4D97-AF65-F5344CB8AC3E}">
        <p14:creationId xmlns:p14="http://schemas.microsoft.com/office/powerpoint/2010/main" val="39103059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1BD98-03A8-FAD7-CD49-CA04D7BE0B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2990E1-5E1E-6B7C-A21E-FFDDFD673C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359B2E-1D66-5C78-B74F-795F5E04D026}"/>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CF197BEC-E9E8-BBD7-DE2E-09DDDE80A327}"/>
              </a:ext>
            </a:extLst>
          </p:cNvPr>
          <p:cNvSpPr>
            <a:spLocks noGrp="1"/>
          </p:cNvSpPr>
          <p:nvPr>
            <p:ph type="sldNum" sz="quarter" idx="5"/>
          </p:nvPr>
        </p:nvSpPr>
        <p:spPr/>
        <p:txBody>
          <a:bodyPr rtlCol="0"/>
          <a:lstStyle/>
          <a:p>
            <a:pPr rtl="0"/>
            <a:fld id="{228B34ED-4CDD-41C9-90F7-D768D5559A6F}" type="slidenum">
              <a:rPr lang="en-GB" smtClean="0"/>
              <a:t>16</a:t>
            </a:fld>
            <a:endParaRPr lang="en-GB"/>
          </a:p>
        </p:txBody>
      </p:sp>
    </p:spTree>
    <p:extLst>
      <p:ext uri="{BB962C8B-B14F-4D97-AF65-F5344CB8AC3E}">
        <p14:creationId xmlns:p14="http://schemas.microsoft.com/office/powerpoint/2010/main" val="16988713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9159B-DF22-8419-365F-EA013A5953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C4CA75-6440-7866-065C-6A7F6883D4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9C5681-0F9F-9AED-5C5E-BC696E1C9588}"/>
              </a:ext>
            </a:extLst>
          </p:cNvPr>
          <p:cNvSpPr>
            <a:spLocks noGrp="1"/>
          </p:cNvSpPr>
          <p:nvPr>
            <p:ph type="body" idx="1"/>
          </p:nvPr>
        </p:nvSpPr>
        <p:spPr/>
        <p:txBody>
          <a:bodyPr/>
          <a:lstStyle/>
          <a:p>
            <a:r>
              <a:rPr lang="en-US"/>
              <a:t>Scott</a:t>
            </a:r>
          </a:p>
          <a:p>
            <a:endParaRPr lang="en-US"/>
          </a:p>
          <a:p>
            <a:r>
              <a:rPr lang="en-US"/>
              <a:t>used a consistent 80/20 train–test split, this is a standard practice in machine learning and helps reduce overfitting by ensuring the model doesn’t just memorize the training data.</a:t>
            </a:r>
          </a:p>
          <a:p>
            <a:r>
              <a:rPr lang="en-US"/>
              <a:t>Using this split provides an unbiased estimate of the model’s performance, because we evaluate it on data it hasn’t seen before.</a:t>
            </a:r>
          </a:p>
          <a:p>
            <a:r>
              <a:rPr lang="en-US"/>
              <a:t> </a:t>
            </a:r>
          </a:p>
          <a:p>
            <a:r>
              <a:rPr lang="en-US"/>
              <a:t>80% of the data was allocated to training.</a:t>
            </a:r>
          </a:p>
          <a:p>
            <a:r>
              <a:rPr lang="en-US"/>
              <a:t>This portion is what each algorithm uses to learn the underlying patterns and relationships within the dataset.</a:t>
            </a:r>
          </a:p>
          <a:p>
            <a:r>
              <a:rPr lang="en-US"/>
              <a:t> </a:t>
            </a:r>
          </a:p>
          <a:p>
            <a:r>
              <a:rPr lang="en-US"/>
              <a:t>The remaining 20% was used for testing.</a:t>
            </a:r>
          </a:p>
          <a:p>
            <a:r>
              <a:rPr lang="en-US"/>
              <a:t>This allows us to measure how well each model generalizes to new, unseen data, which is critical for assessing real-world performance.</a:t>
            </a:r>
          </a:p>
          <a:p>
            <a:r>
              <a:rPr lang="en-US"/>
              <a:t> </a:t>
            </a:r>
          </a:p>
          <a:p>
            <a:r>
              <a:rPr lang="en-US"/>
              <a:t>Applying the same split across all algorithms ensures that the comparison between models is fair and consistent.</a:t>
            </a:r>
          </a:p>
          <a:p>
            <a:r>
              <a:rPr lang="en-US"/>
              <a:t>Each model is evaluated under the exact same conditions, which strengthens the validity of the performance comparison.</a:t>
            </a:r>
          </a:p>
        </p:txBody>
      </p:sp>
      <p:sp>
        <p:nvSpPr>
          <p:cNvPr id="4" name="Slide Number Placeholder 3">
            <a:extLst>
              <a:ext uri="{FF2B5EF4-FFF2-40B4-BE49-F238E27FC236}">
                <a16:creationId xmlns:a16="http://schemas.microsoft.com/office/drawing/2014/main" id="{F2E01780-F1E2-C174-1624-74A350A4956B}"/>
              </a:ext>
            </a:extLst>
          </p:cNvPr>
          <p:cNvSpPr>
            <a:spLocks noGrp="1"/>
          </p:cNvSpPr>
          <p:nvPr>
            <p:ph type="sldNum" sz="quarter" idx="5"/>
          </p:nvPr>
        </p:nvSpPr>
        <p:spPr/>
        <p:txBody>
          <a:bodyPr/>
          <a:lstStyle/>
          <a:p>
            <a:fld id="{6A7D66A0-7D86-4F0A-80F3-35B3D42AB1B1}" type="slidenum">
              <a:rPr lang="en-GB" smtClean="0"/>
              <a:t>17</a:t>
            </a:fld>
            <a:endParaRPr lang="en-GB"/>
          </a:p>
        </p:txBody>
      </p:sp>
    </p:spTree>
    <p:extLst>
      <p:ext uri="{BB962C8B-B14F-4D97-AF65-F5344CB8AC3E}">
        <p14:creationId xmlns:p14="http://schemas.microsoft.com/office/powerpoint/2010/main" val="42833781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FA860-BD77-22CD-87A9-FBE6716807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960CD3-461B-4CB0-1974-C53DC2BB3D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527D8D-FA6C-9144-0796-67711C89DECD}"/>
              </a:ext>
            </a:extLst>
          </p:cNvPr>
          <p:cNvSpPr>
            <a:spLocks noGrp="1"/>
          </p:cNvSpPr>
          <p:nvPr>
            <p:ph type="body" idx="1"/>
          </p:nvPr>
        </p:nvSpPr>
        <p:spPr/>
        <p:txBody>
          <a:bodyPr/>
          <a:lstStyle/>
          <a:p>
            <a:r>
              <a:rPr lang="en-US" err="1"/>
              <a:t>scott</a:t>
            </a:r>
            <a:endParaRPr lang="en-US"/>
          </a:p>
          <a:p>
            <a:endParaRPr lang="en-US"/>
          </a:p>
          <a:p>
            <a:r>
              <a:rPr lang="en-US"/>
              <a:t>Accuracy can be misleading in imbalanced datasheets but is a good basic overview of the models .</a:t>
            </a:r>
          </a:p>
          <a:p>
            <a:endParaRPr lang="en-US"/>
          </a:p>
          <a:p>
            <a:r>
              <a:rPr lang="en-US"/>
              <a:t>Precision and Recall can help understand which activities the model performs well on. Precision focuses on quality of positive predictions, while recall looks at capturing all real positives.</a:t>
            </a:r>
          </a:p>
          <a:p>
            <a:endParaRPr lang="en-US"/>
          </a:p>
          <a:p>
            <a:r>
              <a:rPr lang="en-US"/>
              <a:t>F1-score gives a single balanced view of model performance using Precision and recall.</a:t>
            </a:r>
          </a:p>
          <a:p>
            <a:endParaRPr lang="en-US"/>
          </a:p>
          <a:p>
            <a:r>
              <a:rPr lang="en-US"/>
              <a:t>Table available at : https://www.researchgate.net/figure/Confusion-matrix-and-performance-metrics-formula_fig3_370070277</a:t>
            </a:r>
          </a:p>
          <a:p>
            <a:endParaRPr lang="en-US"/>
          </a:p>
          <a:p>
            <a:r>
              <a:rPr lang="en-GB"/>
              <a:t>Raihan, M.J., Khan, M.A., Kee, S-H. and Nahid, A. (2023) Detection of the chronic kidney disease using </a:t>
            </a:r>
            <a:r>
              <a:rPr lang="en-GB" err="1"/>
              <a:t>XGBoost</a:t>
            </a:r>
            <a:r>
              <a:rPr lang="en-GB"/>
              <a:t> classifier and explaining the influence of the attributes on the model using SHAP. </a:t>
            </a:r>
            <a:r>
              <a:rPr lang="en-GB" i="1"/>
              <a:t>Scientific Reports</a:t>
            </a:r>
            <a:r>
              <a:rPr lang="en-GB"/>
              <a:t>, 13, p. 10.1038/s41598-023-33525-0.</a:t>
            </a:r>
            <a:endParaRPr lang="en-US"/>
          </a:p>
        </p:txBody>
      </p:sp>
      <p:sp>
        <p:nvSpPr>
          <p:cNvPr id="4" name="Slide Number Placeholder 3">
            <a:extLst>
              <a:ext uri="{FF2B5EF4-FFF2-40B4-BE49-F238E27FC236}">
                <a16:creationId xmlns:a16="http://schemas.microsoft.com/office/drawing/2014/main" id="{CAEEB28C-120D-F04C-4069-84CB750E9977}"/>
              </a:ext>
            </a:extLst>
          </p:cNvPr>
          <p:cNvSpPr>
            <a:spLocks noGrp="1"/>
          </p:cNvSpPr>
          <p:nvPr>
            <p:ph type="sldNum" sz="quarter" idx="5"/>
          </p:nvPr>
        </p:nvSpPr>
        <p:spPr/>
        <p:txBody>
          <a:bodyPr/>
          <a:lstStyle/>
          <a:p>
            <a:fld id="{6A7D66A0-7D86-4F0A-80F3-35B3D42AB1B1}" type="slidenum">
              <a:rPr lang="en-GB" smtClean="0"/>
              <a:t>18</a:t>
            </a:fld>
            <a:endParaRPr lang="en-GB"/>
          </a:p>
        </p:txBody>
      </p:sp>
    </p:spTree>
    <p:extLst>
      <p:ext uri="{BB962C8B-B14F-4D97-AF65-F5344CB8AC3E}">
        <p14:creationId xmlns:p14="http://schemas.microsoft.com/office/powerpoint/2010/main" val="14034246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78174-E59E-D51E-C0CD-93BE3CFB89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E5DB4F-C664-8FF2-D7E1-713B21428A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4F8997-8B05-9108-4E4B-ADAFD09EFB8C}"/>
              </a:ext>
            </a:extLst>
          </p:cNvPr>
          <p:cNvSpPr>
            <a:spLocks noGrp="1"/>
          </p:cNvSpPr>
          <p:nvPr>
            <p:ph type="body" idx="1"/>
          </p:nvPr>
        </p:nvSpPr>
        <p:spPr/>
        <p:txBody>
          <a:bodyPr/>
          <a:lstStyle/>
          <a:p>
            <a:pPr fontAlgn="base"/>
            <a:r>
              <a:rPr lang="en-GB" sz="1200" b="1" i="0" kern="1200">
                <a:solidFill>
                  <a:schemeClr val="tx1"/>
                </a:solidFill>
                <a:effectLst/>
                <a:latin typeface="+mn-lt"/>
                <a:ea typeface="+mn-ea"/>
                <a:cs typeface="+mn-cs"/>
              </a:rPr>
              <a:t>RF</a:t>
            </a:r>
          </a:p>
          <a:p>
            <a:r>
              <a:rPr lang="en-GB" sz="1200" b="0" i="0" kern="1200">
                <a:solidFill>
                  <a:schemeClr val="tx1"/>
                </a:solidFill>
                <a:effectLst/>
                <a:latin typeface="+mn-lt"/>
                <a:ea typeface="+mn-ea"/>
                <a:cs typeface="+mn-cs"/>
              </a:rPr>
              <a:t>Overall Accuracy: 0.9010 Precision: 0.8941 Recall: 0.9010 F1-Score: 0.8972</a:t>
            </a:r>
            <a:endParaRPr lang="en-US"/>
          </a:p>
          <a:p>
            <a:pPr fontAlgn="base"/>
            <a:r>
              <a:rPr lang="en-GB" sz="1200" b="1" i="0" kern="1200">
                <a:solidFill>
                  <a:schemeClr val="tx1"/>
                </a:solidFill>
                <a:effectLst/>
                <a:latin typeface="+mn-lt"/>
                <a:ea typeface="+mn-ea"/>
                <a:cs typeface="+mn-cs"/>
              </a:rPr>
              <a:t>SVM</a:t>
            </a:r>
          </a:p>
          <a:p>
            <a:r>
              <a:rPr lang="en-GB" sz="1200" b="0" i="0" kern="1200">
                <a:solidFill>
                  <a:schemeClr val="tx1"/>
                </a:solidFill>
                <a:effectLst/>
                <a:latin typeface="+mn-lt"/>
                <a:ea typeface="+mn-ea"/>
                <a:cs typeface="+mn-cs"/>
              </a:rPr>
              <a:t>Overall Accuracy: 0.7324 Precision: 0.7298 Recall: 0.7324 F1-Score: 0.7256 </a:t>
            </a:r>
            <a:endParaRPr lang="en-GB"/>
          </a:p>
        </p:txBody>
      </p:sp>
      <p:sp>
        <p:nvSpPr>
          <p:cNvPr id="4" name="Slide Number Placeholder 3">
            <a:extLst>
              <a:ext uri="{FF2B5EF4-FFF2-40B4-BE49-F238E27FC236}">
                <a16:creationId xmlns:a16="http://schemas.microsoft.com/office/drawing/2014/main" id="{2A2A6BEF-02F4-54C9-8D45-0A1A0C36BA59}"/>
              </a:ext>
            </a:extLst>
          </p:cNvPr>
          <p:cNvSpPr>
            <a:spLocks noGrp="1"/>
          </p:cNvSpPr>
          <p:nvPr>
            <p:ph type="sldNum" sz="quarter" idx="5"/>
          </p:nvPr>
        </p:nvSpPr>
        <p:spPr/>
        <p:txBody>
          <a:bodyPr/>
          <a:lstStyle/>
          <a:p>
            <a:fld id="{6A7D66A0-7D86-4F0A-80F3-35B3D42AB1B1}" type="slidenum">
              <a:rPr lang="en-GB" smtClean="0"/>
              <a:t>19</a:t>
            </a:fld>
            <a:endParaRPr lang="en-GB"/>
          </a:p>
        </p:txBody>
      </p:sp>
    </p:spTree>
    <p:extLst>
      <p:ext uri="{BB962C8B-B14F-4D97-AF65-F5344CB8AC3E}">
        <p14:creationId xmlns:p14="http://schemas.microsoft.com/office/powerpoint/2010/main" val="20824596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4A285-FAA4-FFC4-66B3-00D6392755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0E580-8C76-00EA-98CB-E050DF1F06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E55C9-B6C6-C7E3-39EA-C7445E0217C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r>
              <a:rPr lang="en-US" b="1"/>
              <a:t>CNN </a:t>
            </a:r>
            <a:br>
              <a:rPr lang="en-US" b="1">
                <a:cs typeface="+mn-lt"/>
              </a:rPr>
            </a:br>
            <a:r>
              <a:rPr lang="en-US">
                <a:cs typeface="+mn-lt"/>
              </a:rPr>
              <a:t>Overall Accuracy : 0.8016 Precision: 0.7976 Recall : 0.8016 F1 Score : 0.7982</a:t>
            </a:r>
            <a:br>
              <a:rPr lang="en-US" b="1">
                <a:cs typeface="+mn-lt"/>
              </a:rPr>
            </a:br>
            <a:r>
              <a:rPr lang="en-US" b="1"/>
              <a:t>LSTM</a:t>
            </a:r>
            <a:br>
              <a:rPr lang="en-US" b="1">
                <a:cs typeface="+mn-lt"/>
              </a:rPr>
            </a:br>
            <a:r>
              <a:rPr lang="en-US"/>
              <a:t>Overall Accuracy: 0.9579 Precision: 0.9583 Recall: 0.9617 F1 Score: 0.9645</a:t>
            </a:r>
          </a:p>
          <a:p>
            <a:endParaRPr lang="en-US"/>
          </a:p>
        </p:txBody>
      </p:sp>
      <p:sp>
        <p:nvSpPr>
          <p:cNvPr id="4" name="Slide Number Placeholder 3">
            <a:extLst>
              <a:ext uri="{FF2B5EF4-FFF2-40B4-BE49-F238E27FC236}">
                <a16:creationId xmlns:a16="http://schemas.microsoft.com/office/drawing/2014/main" id="{B23BE7B4-829D-E224-E037-C768DE699D15}"/>
              </a:ext>
            </a:extLst>
          </p:cNvPr>
          <p:cNvSpPr>
            <a:spLocks noGrp="1"/>
          </p:cNvSpPr>
          <p:nvPr>
            <p:ph type="sldNum" sz="quarter" idx="5"/>
          </p:nvPr>
        </p:nvSpPr>
        <p:spPr/>
        <p:txBody>
          <a:bodyPr/>
          <a:lstStyle/>
          <a:p>
            <a:fld id="{6A7D66A0-7D86-4F0A-80F3-35B3D42AB1B1}" type="slidenum">
              <a:rPr lang="en-GB" smtClean="0"/>
              <a:t>20</a:t>
            </a:fld>
            <a:endParaRPr lang="en-GB"/>
          </a:p>
        </p:txBody>
      </p:sp>
    </p:spTree>
    <p:extLst>
      <p:ext uri="{BB962C8B-B14F-4D97-AF65-F5344CB8AC3E}">
        <p14:creationId xmlns:p14="http://schemas.microsoft.com/office/powerpoint/2010/main" val="29146374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28B0B-7793-187B-95FF-865495CF2A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ADB0D7-A8CD-799E-3049-39E60CF300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6BE1C5-207A-A617-40DB-15583063CB6A}"/>
              </a:ext>
            </a:extLst>
          </p:cNvPr>
          <p:cNvSpPr>
            <a:spLocks noGrp="1"/>
          </p:cNvSpPr>
          <p:nvPr>
            <p:ph type="body" idx="1"/>
          </p:nvPr>
        </p:nvSpPr>
        <p:spPr/>
        <p:txBody>
          <a:bodyPr/>
          <a:lstStyle/>
          <a:p>
            <a:r>
              <a:rPr lang="en-US"/>
              <a:t>Josh green</a:t>
            </a:r>
            <a:br>
              <a:rPr lang="en-US">
                <a:cs typeface="+mn-lt"/>
              </a:rPr>
            </a:br>
            <a:br>
              <a:rPr lang="en-US">
                <a:cs typeface="+mn-lt"/>
              </a:rPr>
            </a:br>
            <a:r>
              <a:rPr lang="en-US"/>
              <a:t>Looking at the results you can see that RF was the best performing ML model beating out SVM and LSTM was much better than our other DL model was also the best performing model overall. This was then followed by RF, CNN and finally SVM</a:t>
            </a:r>
          </a:p>
          <a:p>
            <a:endParaRPr lang="en-US"/>
          </a:p>
          <a:p>
            <a:r>
              <a:rPr lang="en-US" b="1"/>
              <a:t>SVM</a:t>
            </a:r>
            <a:endParaRPr lang="en-US"/>
          </a:p>
          <a:p>
            <a:r>
              <a:rPr lang="en-US"/>
              <a:t>Overall Accuracy: 0.7324 Precision: 0.7298 Recall: 0.7324 F1-Score: 0.7256 </a:t>
            </a:r>
          </a:p>
          <a:p>
            <a:r>
              <a:rPr lang="en-US" b="1"/>
              <a:t>RF</a:t>
            </a:r>
            <a:endParaRPr lang="en-US"/>
          </a:p>
          <a:p>
            <a:r>
              <a:rPr lang="en-US"/>
              <a:t>Overall Accuracy: 0.9010 Precision: 0.8941 Recall: 0.9010 F1-Score: 0.8972</a:t>
            </a:r>
          </a:p>
          <a:p>
            <a:r>
              <a:rPr lang="en-US" b="1"/>
              <a:t>CNN </a:t>
            </a:r>
            <a:br>
              <a:rPr lang="en-US">
                <a:cs typeface="+mn-lt"/>
              </a:rPr>
            </a:br>
            <a:r>
              <a:rPr lang="en-US"/>
              <a:t>Overall Accuracy : 0.8016 Precision: 0.7976 Recall : 0.8016 F1 Score : 0.7982</a:t>
            </a:r>
          </a:p>
          <a:p>
            <a:r>
              <a:rPr lang="en-US" b="1"/>
              <a:t>LSTM</a:t>
            </a:r>
            <a:br>
              <a:rPr lang="en-US" b="1">
                <a:cs typeface="+mn-lt"/>
              </a:rPr>
            </a:br>
            <a:r>
              <a:rPr lang="en-US"/>
              <a:t>Overall Accuracy: 0.9579 Precision: 0.9583 Recall: 0.9617 F1 Score: 0.9645</a:t>
            </a:r>
          </a:p>
          <a:p>
            <a:endParaRPr lang="en-US"/>
          </a:p>
        </p:txBody>
      </p:sp>
      <p:sp>
        <p:nvSpPr>
          <p:cNvPr id="4" name="Slide Number Placeholder 3">
            <a:extLst>
              <a:ext uri="{FF2B5EF4-FFF2-40B4-BE49-F238E27FC236}">
                <a16:creationId xmlns:a16="http://schemas.microsoft.com/office/drawing/2014/main" id="{CC270550-A2EA-5BC6-E3C2-A6FE5AE273D9}"/>
              </a:ext>
            </a:extLst>
          </p:cNvPr>
          <p:cNvSpPr>
            <a:spLocks noGrp="1"/>
          </p:cNvSpPr>
          <p:nvPr>
            <p:ph type="sldNum" sz="quarter" idx="5"/>
          </p:nvPr>
        </p:nvSpPr>
        <p:spPr/>
        <p:txBody>
          <a:bodyPr/>
          <a:lstStyle/>
          <a:p>
            <a:fld id="{6A7D66A0-7D86-4F0A-80F3-35B3D42AB1B1}" type="slidenum">
              <a:rPr lang="en-GB" smtClean="0"/>
              <a:t>21</a:t>
            </a:fld>
            <a:endParaRPr lang="en-GB"/>
          </a:p>
        </p:txBody>
      </p:sp>
    </p:spTree>
    <p:extLst>
      <p:ext uri="{BB962C8B-B14F-4D97-AF65-F5344CB8AC3E}">
        <p14:creationId xmlns:p14="http://schemas.microsoft.com/office/powerpoint/2010/main" val="25624136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35AB5-7D27-F2B3-B8A0-3C739BA8E7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35E83B-2667-D43E-0DCB-A03B272801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0F2722-C044-AEC8-20F7-E9A0C1D8BEE6}"/>
              </a:ext>
            </a:extLst>
          </p:cNvPr>
          <p:cNvSpPr>
            <a:spLocks noGrp="1"/>
          </p:cNvSpPr>
          <p:nvPr>
            <p:ph type="body" idx="1"/>
          </p:nvPr>
        </p:nvSpPr>
        <p:spPr/>
        <p:txBody>
          <a:bodyPr/>
          <a:lstStyle/>
          <a:p>
            <a:r>
              <a:rPr lang="en-US"/>
              <a:t>Josh green</a:t>
            </a:r>
          </a:p>
          <a:p>
            <a:br>
              <a:rPr lang="en-US">
                <a:cs typeface="+mn-lt"/>
              </a:rPr>
            </a:br>
            <a:r>
              <a:rPr lang="en-US"/>
              <a:t>RF better in real world as quicker and less intensive as it requires data to be </a:t>
            </a:r>
            <a:r>
              <a:rPr lang="en-US" err="1"/>
              <a:t>analysed</a:t>
            </a:r>
            <a:r>
              <a:rPr lang="en-US"/>
              <a:t> quickly – unless supercomputers but sheer scale alone would require immense power so probably not a good real world use for LSTM</a:t>
            </a:r>
          </a:p>
          <a:p>
            <a:endParaRPr lang="en-US">
              <a:cs typeface="+mn-lt"/>
            </a:endParaRPr>
          </a:p>
          <a:p>
            <a:r>
              <a:rPr lang="en-US"/>
              <a:t>Random Forest was the strongest ML model, giving high accuracy while staying efficient.</a:t>
            </a:r>
          </a:p>
          <a:p>
            <a:r>
              <a:rPr lang="en-US"/>
              <a:t> </a:t>
            </a:r>
          </a:p>
          <a:p>
            <a:r>
              <a:rPr lang="en-US"/>
              <a:t>LSTM was the strongest DL model overall, but required far more computing power and time.</a:t>
            </a:r>
          </a:p>
          <a:p>
            <a:r>
              <a:rPr lang="en-US"/>
              <a:t> </a:t>
            </a:r>
          </a:p>
          <a:p>
            <a:r>
              <a:rPr lang="en-US"/>
              <a:t>LSTM’s higher resource use makes it less practical for real-time IoT environments.</a:t>
            </a:r>
          </a:p>
          <a:p>
            <a:r>
              <a:rPr lang="en-US"/>
              <a:t> </a:t>
            </a:r>
          </a:p>
          <a:p>
            <a:r>
              <a:rPr lang="en-US"/>
              <a:t>Random Forest gives a better balance of speed and performance for deployment.</a:t>
            </a:r>
          </a:p>
          <a:p>
            <a:r>
              <a:rPr lang="en-US"/>
              <a:t> </a:t>
            </a:r>
          </a:p>
          <a:p>
            <a:r>
              <a:rPr lang="en-US"/>
              <a:t>In production, faster models like Random Forest help avoid delays in activity detection.</a:t>
            </a:r>
            <a:br>
              <a:rPr lang="en-US">
                <a:cs typeface="+mn-lt"/>
              </a:rPr>
            </a:br>
            <a:br>
              <a:rPr lang="en-US">
                <a:cs typeface="+mn-lt"/>
              </a:rPr>
            </a:br>
            <a:endParaRPr lang="en-US"/>
          </a:p>
          <a:p>
            <a:endParaRPr lang="en-US"/>
          </a:p>
        </p:txBody>
      </p:sp>
      <p:sp>
        <p:nvSpPr>
          <p:cNvPr id="4" name="Slide Number Placeholder 3">
            <a:extLst>
              <a:ext uri="{FF2B5EF4-FFF2-40B4-BE49-F238E27FC236}">
                <a16:creationId xmlns:a16="http://schemas.microsoft.com/office/drawing/2014/main" id="{1F31F77D-CD9D-2BE5-F323-2C52AA9B8800}"/>
              </a:ext>
            </a:extLst>
          </p:cNvPr>
          <p:cNvSpPr>
            <a:spLocks noGrp="1"/>
          </p:cNvSpPr>
          <p:nvPr>
            <p:ph type="sldNum" sz="quarter" idx="5"/>
          </p:nvPr>
        </p:nvSpPr>
        <p:spPr/>
        <p:txBody>
          <a:bodyPr/>
          <a:lstStyle/>
          <a:p>
            <a:fld id="{6A7D66A0-7D86-4F0A-80F3-35B3D42AB1B1}" type="slidenum">
              <a:rPr lang="en-GB" smtClean="0"/>
              <a:t>22</a:t>
            </a:fld>
            <a:endParaRPr lang="en-GB"/>
          </a:p>
        </p:txBody>
      </p:sp>
    </p:spTree>
    <p:extLst>
      <p:ext uri="{BB962C8B-B14F-4D97-AF65-F5344CB8AC3E}">
        <p14:creationId xmlns:p14="http://schemas.microsoft.com/office/powerpoint/2010/main" val="3317596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88E16-9516-FBC8-79AE-C71C8A25ED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B3D3B8-89B0-F436-7D18-D5558A9BDA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872C0F-93A5-9061-8FC8-A9287D7CFAB5}"/>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C62C6647-D4F7-61E4-2C9F-FF2762CBBEE0}"/>
              </a:ext>
            </a:extLst>
          </p:cNvPr>
          <p:cNvSpPr>
            <a:spLocks noGrp="1"/>
          </p:cNvSpPr>
          <p:nvPr>
            <p:ph type="sldNum" sz="quarter" idx="5"/>
          </p:nvPr>
        </p:nvSpPr>
        <p:spPr/>
        <p:txBody>
          <a:bodyPr rtlCol="0"/>
          <a:lstStyle/>
          <a:p>
            <a:pPr rtl="0"/>
            <a:fld id="{228B34ED-4CDD-41C9-90F7-D768D5559A6F}" type="slidenum">
              <a:rPr lang="en-GB" smtClean="0"/>
              <a:t>23</a:t>
            </a:fld>
            <a:endParaRPr lang="en-GB"/>
          </a:p>
        </p:txBody>
      </p:sp>
    </p:spTree>
    <p:extLst>
      <p:ext uri="{BB962C8B-B14F-4D97-AF65-F5344CB8AC3E}">
        <p14:creationId xmlns:p14="http://schemas.microsoft.com/office/powerpoint/2010/main" val="15894825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7428F-CDA7-9F3A-EE8B-117C336898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D93C91-321F-3076-5102-3C40921013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548ADA-A6E7-2BDE-E069-102F1C350891}"/>
              </a:ext>
            </a:extLst>
          </p:cNvPr>
          <p:cNvSpPr>
            <a:spLocks noGrp="1"/>
          </p:cNvSpPr>
          <p:nvPr>
            <p:ph type="body" idx="1"/>
          </p:nvPr>
        </p:nvSpPr>
        <p:spPr/>
        <p:txBody>
          <a:bodyPr/>
          <a:lstStyle/>
          <a:p>
            <a:r>
              <a:rPr lang="en-US"/>
              <a:t>Sam</a:t>
            </a:r>
          </a:p>
          <a:p>
            <a:endParaRPr lang="en-US"/>
          </a:p>
          <a:p>
            <a:r>
              <a:rPr lang="en-US"/>
              <a:t>Future developments go beyond the scope of this experiment. </a:t>
            </a:r>
          </a:p>
          <a:p>
            <a:endParaRPr lang="en-US"/>
          </a:p>
          <a:p>
            <a:r>
              <a:rPr lang="en-US"/>
              <a:t>We only ran through a piece of what we would be working with for a production-like project</a:t>
            </a:r>
          </a:p>
          <a:p>
            <a:endParaRPr lang="en-US"/>
          </a:p>
          <a:p>
            <a:r>
              <a:rPr lang="en-US"/>
              <a:t>And so our future developments include real-time predictions, GPS mapping, remote ML and a background service app to be installed on all mobile phones.</a:t>
            </a:r>
          </a:p>
          <a:p>
            <a:endParaRPr lang="en-US"/>
          </a:p>
          <a:p>
            <a:r>
              <a:rPr lang="en-US"/>
              <a:t>This leads me into my next point of how it is going to work.</a:t>
            </a:r>
          </a:p>
        </p:txBody>
      </p:sp>
      <p:sp>
        <p:nvSpPr>
          <p:cNvPr id="4" name="Slide Number Placeholder 3">
            <a:extLst>
              <a:ext uri="{FF2B5EF4-FFF2-40B4-BE49-F238E27FC236}">
                <a16:creationId xmlns:a16="http://schemas.microsoft.com/office/drawing/2014/main" id="{2AE591AF-D35F-683C-84C0-AFCF8F54332C}"/>
              </a:ext>
            </a:extLst>
          </p:cNvPr>
          <p:cNvSpPr>
            <a:spLocks noGrp="1"/>
          </p:cNvSpPr>
          <p:nvPr>
            <p:ph type="sldNum" sz="quarter" idx="5"/>
          </p:nvPr>
        </p:nvSpPr>
        <p:spPr/>
        <p:txBody>
          <a:bodyPr/>
          <a:lstStyle/>
          <a:p>
            <a:fld id="{6A7D66A0-7D86-4F0A-80F3-35B3D42AB1B1}" type="slidenum">
              <a:rPr lang="en-GB" smtClean="0"/>
              <a:t>24</a:t>
            </a:fld>
            <a:endParaRPr lang="en-GB"/>
          </a:p>
        </p:txBody>
      </p:sp>
    </p:spTree>
    <p:extLst>
      <p:ext uri="{BB962C8B-B14F-4D97-AF65-F5344CB8AC3E}">
        <p14:creationId xmlns:p14="http://schemas.microsoft.com/office/powerpoint/2010/main" val="35103277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Sam</a:t>
            </a:r>
          </a:p>
          <a:p>
            <a:endParaRPr lang="en-US"/>
          </a:p>
          <a:p>
            <a:r>
              <a:rPr lang="en-US"/>
              <a:t>So this is Azure Managed </a:t>
            </a:r>
            <a:r>
              <a:rPr lang="en-US" err="1"/>
              <a:t>Grafarna</a:t>
            </a:r>
            <a:r>
              <a:rPr lang="en-US"/>
              <a:t>, it's a cloud data </a:t>
            </a:r>
            <a:r>
              <a:rPr lang="en-US" err="1"/>
              <a:t>visualisation</a:t>
            </a:r>
            <a:r>
              <a:rPr lang="en-US"/>
              <a:t> platform.</a:t>
            </a:r>
          </a:p>
          <a:p>
            <a:endParaRPr lang="en-US"/>
          </a:p>
          <a:p>
            <a:r>
              <a:rPr lang="en-US"/>
              <a:t>When considering the future developments and making our project ready for deployment, this is absolutely a requirement.</a:t>
            </a:r>
          </a:p>
          <a:p>
            <a:endParaRPr lang="en-US"/>
          </a:p>
          <a:p>
            <a:r>
              <a:rPr lang="en-US"/>
              <a:t>It shows how our project will work if it was to be rolled out, on occasions where activity has built up (e.g. multiple people running away from a single area in different directions), the heatmap over a geographic location will go red, depending on the likelihood that an event has taken red.</a:t>
            </a:r>
          </a:p>
          <a:p>
            <a:endParaRPr lang="en-US"/>
          </a:p>
          <a:p>
            <a:r>
              <a:rPr lang="en-US"/>
              <a:t>High probability of an incident for example is red, flagged up because it's lighting up red. So this might be a terrorist incident and we can send someone there directly saving some time before someone phones emergency services.</a:t>
            </a:r>
          </a:p>
          <a:p>
            <a:endParaRPr lang="en-US"/>
          </a:p>
          <a:p>
            <a:r>
              <a:rPr lang="en-US"/>
              <a:t>Grafana Labs. 2021. </a:t>
            </a:r>
            <a:r>
              <a:rPr lang="en-US" i="1"/>
              <a:t>“What’s New in Grafana 8.1: </a:t>
            </a:r>
            <a:r>
              <a:rPr lang="en-US" i="1" err="1"/>
              <a:t>Geomap</a:t>
            </a:r>
            <a:r>
              <a:rPr lang="en-US" i="1"/>
              <a:t> Panel”</a:t>
            </a:r>
            <a:r>
              <a:rPr lang="en-US"/>
              <a:t>. [online] 17 August. Available at: </a:t>
            </a:r>
            <a:r>
              <a:rPr lang="en-US">
                <a:hlinkClick r:id="rId3"/>
              </a:rPr>
              <a:t>https://grafana.com/blog/2021/08/17/whats-new-in-grafana-8.1-geomap-panel/</a:t>
            </a:r>
            <a:r>
              <a:rPr lang="en-US"/>
              <a:t> [Accessed 2 November 2025].</a:t>
            </a:r>
          </a:p>
        </p:txBody>
      </p:sp>
      <p:sp>
        <p:nvSpPr>
          <p:cNvPr id="4" name="Slide Number Placeholder 3"/>
          <p:cNvSpPr>
            <a:spLocks noGrp="1"/>
          </p:cNvSpPr>
          <p:nvPr>
            <p:ph type="sldNum" sz="quarter" idx="5"/>
          </p:nvPr>
        </p:nvSpPr>
        <p:spPr/>
        <p:txBody>
          <a:bodyPr/>
          <a:lstStyle/>
          <a:p>
            <a:fld id="{6A7D66A0-7D86-4F0A-80F3-35B3D42AB1B1}" type="slidenum">
              <a:rPr lang="en-GB" smtClean="0"/>
              <a:t>25</a:t>
            </a:fld>
            <a:endParaRPr lang="en-GB"/>
          </a:p>
        </p:txBody>
      </p:sp>
    </p:spTree>
    <p:extLst>
      <p:ext uri="{BB962C8B-B14F-4D97-AF65-F5344CB8AC3E}">
        <p14:creationId xmlns:p14="http://schemas.microsoft.com/office/powerpoint/2010/main" val="23409554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a:ea typeface="Calibri"/>
                <a:cs typeface="Calibri"/>
              </a:rPr>
              <a:t>Sam</a:t>
            </a:r>
          </a:p>
          <a:p>
            <a:endParaRPr lang="en-US">
              <a:latin typeface="Aptos"/>
              <a:ea typeface="Calibri"/>
              <a:cs typeface="Calibri"/>
            </a:endParaRPr>
          </a:p>
          <a:p>
            <a:r>
              <a:rPr lang="en-US">
                <a:latin typeface="Aptos"/>
                <a:ea typeface="Calibri"/>
                <a:cs typeface="Calibri"/>
              </a:rPr>
              <a:t>This leads me to the threat model - I've created this for two reasons.</a:t>
            </a:r>
            <a:endParaRPr lang="en-US"/>
          </a:p>
          <a:p>
            <a:endParaRPr lang="en-US">
              <a:latin typeface="Aptos"/>
              <a:ea typeface="Calibri"/>
              <a:cs typeface="Calibri"/>
            </a:endParaRPr>
          </a:p>
          <a:p>
            <a:r>
              <a:rPr lang="en-US">
                <a:latin typeface="Aptos"/>
                <a:ea typeface="Calibri"/>
                <a:cs typeface="Calibri"/>
              </a:rPr>
              <a:t>One, so that we can see how the full-scale application would work </a:t>
            </a:r>
          </a:p>
          <a:p>
            <a:endParaRPr lang="en-US">
              <a:latin typeface="Aptos"/>
              <a:ea typeface="Calibri"/>
              <a:cs typeface="Calibri"/>
            </a:endParaRPr>
          </a:p>
          <a:p>
            <a:r>
              <a:rPr lang="en-US">
                <a:latin typeface="Aptos"/>
                <a:ea typeface="Calibri"/>
                <a:cs typeface="Calibri"/>
              </a:rPr>
              <a:t>and two, to see the potential security vulnerabilities</a:t>
            </a:r>
            <a:endParaRPr lang="en-US"/>
          </a:p>
          <a:p>
            <a:endParaRPr lang="en-US">
              <a:solidFill>
                <a:srgbClr val="444444"/>
              </a:solidFill>
              <a:latin typeface="Aptos"/>
              <a:ea typeface="Calibri"/>
              <a:cs typeface="Calibri"/>
            </a:endParaRPr>
          </a:p>
          <a:p>
            <a:r>
              <a:rPr lang="en-US"/>
              <a:t>You can see the mobile device runs the app, which contacts the runs a background service to constantly send GPS, acceleration data, etc.</a:t>
            </a:r>
          </a:p>
          <a:p>
            <a:endParaRPr lang="en-US">
              <a:latin typeface="Aptos"/>
              <a:ea typeface="Calibri"/>
              <a:cs typeface="Calibri"/>
            </a:endParaRPr>
          </a:p>
          <a:p>
            <a:r>
              <a:rPr lang="en-US">
                <a:latin typeface="Aptos"/>
                <a:ea typeface="Calibri"/>
                <a:cs typeface="Calibri"/>
              </a:rPr>
              <a:t>This data is sent to an azure function, which accepts input requests in a certain form – if it's not in the right format or looks suspicious, the data will be dropped.</a:t>
            </a:r>
          </a:p>
          <a:p>
            <a:endParaRPr lang="en-US">
              <a:latin typeface="Aptos"/>
              <a:ea typeface="Calibri"/>
              <a:cs typeface="Calibri"/>
            </a:endParaRPr>
          </a:p>
          <a:p>
            <a:r>
              <a:rPr lang="en-US">
                <a:latin typeface="Aptos"/>
                <a:ea typeface="Calibri"/>
                <a:cs typeface="Calibri"/>
              </a:rPr>
              <a:t>If the data looks legitimate – e.g. in the right format, not from a blocked device, it will go through to event hub.</a:t>
            </a:r>
          </a:p>
          <a:p>
            <a:endParaRPr lang="en-US">
              <a:latin typeface="Aptos"/>
              <a:ea typeface="Calibri"/>
              <a:cs typeface="Calibri"/>
            </a:endParaRPr>
          </a:p>
          <a:p>
            <a:r>
              <a:rPr lang="en-US">
                <a:latin typeface="Aptos"/>
                <a:ea typeface="Calibri"/>
                <a:cs typeface="Calibri"/>
              </a:rPr>
              <a:t>Note that we're using event hub because we'd be dealing with possibly billions of data per second, and whilst we have ADX with massive ingestion </a:t>
            </a:r>
            <a:r>
              <a:rPr lang="en-US" err="1">
                <a:latin typeface="Aptos"/>
                <a:ea typeface="Calibri"/>
                <a:cs typeface="Calibri"/>
              </a:rPr>
              <a:t>cability</a:t>
            </a:r>
            <a:r>
              <a:rPr lang="en-US">
                <a:latin typeface="Aptos"/>
                <a:ea typeface="Calibri"/>
                <a:cs typeface="Calibri"/>
              </a:rPr>
              <a:t>, we need Event Hub for traffic control.</a:t>
            </a:r>
          </a:p>
          <a:p>
            <a:endParaRPr lang="en-US">
              <a:latin typeface="Aptos"/>
              <a:ea typeface="Calibri"/>
              <a:cs typeface="Calibri"/>
            </a:endParaRPr>
          </a:p>
          <a:p>
            <a:r>
              <a:rPr lang="en-US">
                <a:latin typeface="Aptos"/>
                <a:ea typeface="Calibri"/>
                <a:cs typeface="Calibri"/>
              </a:rPr>
              <a:t>ADX is also contacted by an ML workspace, note that this does not restrict us from using DL models, though the choice between ML and DL depends on cost.</a:t>
            </a:r>
          </a:p>
          <a:p>
            <a:endParaRPr lang="en-US">
              <a:latin typeface="Aptos"/>
              <a:ea typeface="Calibri"/>
              <a:cs typeface="Calibri"/>
            </a:endParaRPr>
          </a:p>
          <a:p>
            <a:r>
              <a:rPr lang="en-US">
                <a:latin typeface="Aptos"/>
                <a:ea typeface="Calibri"/>
                <a:cs typeface="Calibri"/>
              </a:rPr>
              <a:t>Once AI has made a prediction if the person is running, walking, on train or whatever, </a:t>
            </a:r>
            <a:r>
              <a:rPr lang="en-US" err="1">
                <a:latin typeface="Aptos"/>
                <a:ea typeface="Calibri"/>
                <a:cs typeface="Calibri"/>
              </a:rPr>
              <a:t>Grafarna</a:t>
            </a:r>
            <a:r>
              <a:rPr lang="en-US">
                <a:latin typeface="Aptos"/>
                <a:ea typeface="Calibri"/>
                <a:cs typeface="Calibri"/>
              </a:rPr>
              <a:t> queries the data in real time with Kusto Query Language (KQL)</a:t>
            </a:r>
          </a:p>
          <a:p>
            <a:endParaRPr lang="en-US">
              <a:latin typeface="Aptos"/>
              <a:ea typeface="Calibri"/>
              <a:cs typeface="Calibri"/>
            </a:endParaRPr>
          </a:p>
          <a:p>
            <a:r>
              <a:rPr lang="en-US">
                <a:latin typeface="Aptos"/>
                <a:ea typeface="Calibri"/>
                <a:cs typeface="Calibri"/>
              </a:rPr>
              <a:t>Then this can be viewed by a remote client with an internal VPN.</a:t>
            </a:r>
          </a:p>
          <a:p>
            <a:endParaRPr lang="en-US">
              <a:latin typeface="Aptos"/>
              <a:ea typeface="Calibri"/>
              <a:cs typeface="Calibri"/>
            </a:endParaRPr>
          </a:p>
          <a:p>
            <a:endParaRPr lang="en-US">
              <a:latin typeface="Aptos"/>
              <a:ea typeface="Calibri"/>
              <a:cs typeface="Calibri"/>
            </a:endParaRPr>
          </a:p>
        </p:txBody>
      </p:sp>
      <p:sp>
        <p:nvSpPr>
          <p:cNvPr id="4" name="Slide Number Placeholder 3"/>
          <p:cNvSpPr>
            <a:spLocks noGrp="1"/>
          </p:cNvSpPr>
          <p:nvPr>
            <p:ph type="sldNum" sz="quarter" idx="5"/>
          </p:nvPr>
        </p:nvSpPr>
        <p:spPr/>
        <p:txBody>
          <a:bodyPr/>
          <a:lstStyle/>
          <a:p>
            <a:fld id="{6A7D66A0-7D86-4F0A-80F3-35B3D42AB1B1}" type="slidenum">
              <a:rPr lang="en-GB" smtClean="0"/>
              <a:t>26</a:t>
            </a:fld>
            <a:endParaRPr lang="en-GB"/>
          </a:p>
        </p:txBody>
      </p:sp>
    </p:spTree>
    <p:extLst>
      <p:ext uri="{BB962C8B-B14F-4D97-AF65-F5344CB8AC3E}">
        <p14:creationId xmlns:p14="http://schemas.microsoft.com/office/powerpoint/2010/main" val="23764484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Sam</a:t>
            </a:r>
          </a:p>
          <a:p>
            <a:endParaRPr lang="en-US">
              <a:latin typeface="Calibri"/>
              <a:ea typeface="Calibri"/>
              <a:cs typeface="Calibri"/>
            </a:endParaRPr>
          </a:p>
          <a:p>
            <a:r>
              <a:rPr lang="en-US">
                <a:latin typeface="Calibri"/>
                <a:ea typeface="Calibri"/>
                <a:cs typeface="Calibri"/>
              </a:rPr>
              <a:t>You can also see some of the threats driven from this model.</a:t>
            </a:r>
          </a:p>
          <a:p>
            <a:endParaRPr lang="en-US">
              <a:latin typeface="Calibri"/>
              <a:ea typeface="Calibri"/>
              <a:cs typeface="Calibri"/>
            </a:endParaRPr>
          </a:p>
          <a:p>
            <a:r>
              <a:rPr lang="en-US">
                <a:latin typeface="Calibri"/>
                <a:ea typeface="Calibri"/>
                <a:cs typeface="Calibri"/>
              </a:rPr>
              <a:t>In total, there were 31 threats we need to look at, with different set priorities and states. </a:t>
            </a:r>
          </a:p>
          <a:p>
            <a:endParaRPr lang="en-US">
              <a:latin typeface="Calibri"/>
              <a:ea typeface="Calibri"/>
              <a:cs typeface="Calibri"/>
            </a:endParaRPr>
          </a:p>
          <a:p>
            <a:r>
              <a:rPr lang="en-US">
                <a:latin typeface="Calibri"/>
                <a:ea typeface="Calibri"/>
                <a:cs typeface="Calibri"/>
              </a:rPr>
              <a:t>Whilst some have been mitigated, this already provides us with an idea of how we can further secure it. </a:t>
            </a:r>
          </a:p>
          <a:p>
            <a:endParaRPr lang="en-US">
              <a:latin typeface="Calibri"/>
              <a:ea typeface="Calibri"/>
              <a:cs typeface="Calibri"/>
            </a:endParaRPr>
          </a:p>
          <a:p>
            <a:r>
              <a:rPr lang="en-US">
                <a:latin typeface="Calibri"/>
                <a:ea typeface="Calibri"/>
                <a:cs typeface="Calibri"/>
              </a:rPr>
              <a:t>If this data is leaked, think of the consequences.</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6A7D66A0-7D86-4F0A-80F3-35B3D42AB1B1}" type="slidenum">
              <a:rPr lang="en-GB" smtClean="0"/>
              <a:t>27</a:t>
            </a:fld>
            <a:endParaRPr lang="en-GB"/>
          </a:p>
        </p:txBody>
      </p:sp>
    </p:spTree>
    <p:extLst>
      <p:ext uri="{BB962C8B-B14F-4D97-AF65-F5344CB8AC3E}">
        <p14:creationId xmlns:p14="http://schemas.microsoft.com/office/powerpoint/2010/main" val="17095483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Jack</a:t>
            </a:r>
          </a:p>
          <a:p>
            <a:r>
              <a:rPr lang="en-US">
                <a:latin typeface="Calibri"/>
                <a:ea typeface="Calibri"/>
                <a:cs typeface="Calibri"/>
              </a:rPr>
              <a:t>At this stage, there were a few ethical and security concerns…</a:t>
            </a:r>
          </a:p>
          <a:p>
            <a:r>
              <a:rPr lang="en-US">
                <a:latin typeface="Calibri"/>
                <a:ea typeface="Calibri"/>
                <a:cs typeface="Calibri"/>
              </a:rPr>
              <a:t>For data handling/ storage – we used guidance of CIA </a:t>
            </a:r>
          </a:p>
          <a:p>
            <a:pPr marL="171450" indent="-171450">
              <a:buFont typeface="Arial" panose="020B0604020202020204" pitchFamily="34" charset="0"/>
              <a:buChar char="•"/>
            </a:pPr>
            <a:r>
              <a:rPr lang="en-US">
                <a:latin typeface="Calibri"/>
                <a:ea typeface="Calibri"/>
                <a:cs typeface="Calibri"/>
              </a:rPr>
              <a:t>C – data had our personal geolocation data, was stored in a private GitHub repository. </a:t>
            </a:r>
          </a:p>
          <a:p>
            <a:pPr marL="171450" indent="-171450">
              <a:buFont typeface="Arial" panose="020B0604020202020204" pitchFamily="34" charset="0"/>
              <a:buChar char="•"/>
            </a:pPr>
            <a:r>
              <a:rPr lang="en-US">
                <a:latin typeface="Calibri"/>
                <a:ea typeface="Calibri"/>
                <a:cs typeface="Calibri"/>
              </a:rPr>
              <a:t>I – while we edited some formatting of the .csv files, we tried to ensure none of the actual data was changed. As a backup, we had the raw files stored. </a:t>
            </a:r>
          </a:p>
          <a:p>
            <a:pPr marL="171450" indent="-171450">
              <a:buFont typeface="Arial" panose="020B0604020202020204" pitchFamily="34" charset="0"/>
              <a:buChar char="•"/>
            </a:pPr>
            <a:r>
              <a:rPr lang="en-US">
                <a:latin typeface="Calibri"/>
                <a:ea typeface="Calibri"/>
                <a:cs typeface="Calibri"/>
              </a:rPr>
              <a:t>A – GitHub was used for organization of the project due to their high standing as a version management system, however in the event of server issues we had both local and cloud backups for all key files</a:t>
            </a:r>
          </a:p>
          <a:p>
            <a:pPr marL="171450" indent="-171450">
              <a:buFont typeface="Arial" panose="020B0604020202020204" pitchFamily="34" charset="0"/>
              <a:buChar char="•"/>
            </a:pPr>
            <a:endParaRPr lang="en-US">
              <a:latin typeface="Calibri"/>
              <a:ea typeface="Calibri"/>
              <a:cs typeface="Calibri"/>
            </a:endParaRPr>
          </a:p>
          <a:p>
            <a:pPr marL="0" indent="0">
              <a:buFont typeface="Arial" panose="020B0604020202020204" pitchFamily="34" charset="0"/>
              <a:buNone/>
            </a:pPr>
            <a:r>
              <a:rPr lang="en-US">
                <a:latin typeface="Calibri"/>
                <a:ea typeface="Calibri"/>
                <a:cs typeface="Calibri"/>
              </a:rPr>
              <a:t>Walkowski, D. (2019) </a:t>
            </a:r>
            <a:r>
              <a:rPr lang="en-US" i="1">
                <a:latin typeface="Calibri"/>
                <a:ea typeface="Calibri"/>
                <a:cs typeface="Calibri"/>
              </a:rPr>
              <a:t>What is the CIA Triad? </a:t>
            </a:r>
            <a:r>
              <a:rPr lang="en-US">
                <a:latin typeface="Calibri"/>
                <a:ea typeface="Calibri"/>
                <a:cs typeface="Calibri"/>
              </a:rPr>
              <a:t>Available at: https://www.f5.com/labs/articles/what-is-the-cia-triad (Accessed 9 November 2025).</a:t>
            </a:r>
          </a:p>
        </p:txBody>
      </p:sp>
      <p:sp>
        <p:nvSpPr>
          <p:cNvPr id="4" name="Slide Number Placeholder 3"/>
          <p:cNvSpPr>
            <a:spLocks noGrp="1"/>
          </p:cNvSpPr>
          <p:nvPr>
            <p:ph type="sldNum" sz="quarter" idx="5"/>
          </p:nvPr>
        </p:nvSpPr>
        <p:spPr/>
        <p:txBody>
          <a:bodyPr/>
          <a:lstStyle/>
          <a:p>
            <a:fld id="{6A7D66A0-7D86-4F0A-80F3-35B3D42AB1B1}" type="slidenum">
              <a:rPr lang="en-GB" smtClean="0"/>
              <a:t>28</a:t>
            </a:fld>
            <a:endParaRPr lang="en-GB"/>
          </a:p>
        </p:txBody>
      </p:sp>
    </p:spTree>
    <p:extLst>
      <p:ext uri="{BB962C8B-B14F-4D97-AF65-F5344CB8AC3E}">
        <p14:creationId xmlns:p14="http://schemas.microsoft.com/office/powerpoint/2010/main" val="42560291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B858D-A286-8246-C93D-64B96D1D8D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973F2D-9876-AC14-5D38-4964DFD87D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0AC723-47F2-5858-D01D-0C9CCFF6C778}"/>
              </a:ext>
            </a:extLst>
          </p:cNvPr>
          <p:cNvSpPr>
            <a:spLocks noGrp="1"/>
          </p:cNvSpPr>
          <p:nvPr>
            <p:ph type="body" idx="1"/>
          </p:nvPr>
        </p:nvSpPr>
        <p:spPr/>
        <p:txBody>
          <a:bodyPr/>
          <a:lstStyle/>
          <a:p>
            <a:r>
              <a:rPr lang="en-US"/>
              <a:t>Josh Green</a:t>
            </a:r>
            <a:br>
              <a:rPr lang="en-US">
                <a:cs typeface="+mn-lt"/>
              </a:rPr>
            </a:br>
            <a:br>
              <a:rPr lang="en-US">
                <a:cs typeface="+mn-lt"/>
              </a:rPr>
            </a:br>
            <a:r>
              <a:rPr lang="en-US"/>
              <a:t>One option could be an opt out? Such as how it is with organ donation </a:t>
            </a:r>
            <a:r>
              <a:rPr lang="en-US" err="1"/>
              <a:t>etc</a:t>
            </a:r>
            <a:br>
              <a:rPr lang="en-US">
                <a:cs typeface="+mn-lt"/>
              </a:rPr>
            </a:br>
            <a:br>
              <a:rPr lang="en-US">
                <a:cs typeface="+mn-lt"/>
              </a:rPr>
            </a:br>
            <a:r>
              <a:rPr lang="en-US"/>
              <a:t>The data could be at threat of being sold to advertising companies to give </a:t>
            </a:r>
            <a:r>
              <a:rPr lang="en-US" err="1"/>
              <a:t>realtime</a:t>
            </a:r>
            <a:r>
              <a:rPr lang="en-US"/>
              <a:t> ads based on location </a:t>
            </a:r>
            <a:r>
              <a:rPr lang="en-US" err="1"/>
              <a:t>etc</a:t>
            </a:r>
            <a:r>
              <a:rPr lang="en-US"/>
              <a:t> – location data of everyone everyday would be highly profitable and if not kept under a strict ruleset around the usage could lead to it being sold to the highest bidder / stored on their servers</a:t>
            </a:r>
          </a:p>
          <a:p>
            <a:endParaRPr lang="en-US"/>
          </a:p>
          <a:p>
            <a:r>
              <a:rPr lang="en-US"/>
              <a:t>Some people may feel uncomfortable with sharing their location or movement data all of the time. Even with anonymised data, it can still reveal personal habits and daily routines.</a:t>
            </a:r>
          </a:p>
          <a:p>
            <a:endParaRPr lang="en-US"/>
          </a:p>
          <a:p>
            <a:r>
              <a:rPr lang="en-US"/>
              <a:t>If the system makes a mistake or incorrectly classifies an event, it could lead to unnecessary alerts which would waste police resources and reduce trust in the system.</a:t>
            </a:r>
          </a:p>
          <a:p>
            <a:endParaRPr lang="en-US"/>
          </a:p>
          <a:p>
            <a:r>
              <a:rPr lang="en-US"/>
              <a:t>Attackers could send fake IoT data which could trick the system. This could cause confusion and could also be used to hide real criminal activity by creating a mass wave of fake IoT data to hide the real harmful data.</a:t>
            </a:r>
          </a:p>
          <a:p>
            <a:endParaRPr lang="en-US"/>
          </a:p>
          <a:p>
            <a:r>
              <a:rPr lang="en-US"/>
              <a:t>Users may worry that the collected data could be later sold or reused for marketing, profiling or other goals which were not originally discussed.</a:t>
            </a:r>
          </a:p>
          <a:p>
            <a:endParaRPr lang="en-US"/>
          </a:p>
        </p:txBody>
      </p:sp>
      <p:sp>
        <p:nvSpPr>
          <p:cNvPr id="4" name="Slide Number Placeholder 3">
            <a:extLst>
              <a:ext uri="{FF2B5EF4-FFF2-40B4-BE49-F238E27FC236}">
                <a16:creationId xmlns:a16="http://schemas.microsoft.com/office/drawing/2014/main" id="{E773EF22-8BD4-695A-5FC0-132EF8403873}"/>
              </a:ext>
            </a:extLst>
          </p:cNvPr>
          <p:cNvSpPr>
            <a:spLocks noGrp="1"/>
          </p:cNvSpPr>
          <p:nvPr>
            <p:ph type="sldNum" sz="quarter" idx="5"/>
          </p:nvPr>
        </p:nvSpPr>
        <p:spPr/>
        <p:txBody>
          <a:bodyPr/>
          <a:lstStyle/>
          <a:p>
            <a:fld id="{6A7D66A0-7D86-4F0A-80F3-35B3D42AB1B1}" type="slidenum">
              <a:rPr lang="en-GB" smtClean="0"/>
              <a:t>29</a:t>
            </a:fld>
            <a:endParaRPr lang="en-GB"/>
          </a:p>
        </p:txBody>
      </p:sp>
    </p:spTree>
    <p:extLst>
      <p:ext uri="{BB962C8B-B14F-4D97-AF65-F5344CB8AC3E}">
        <p14:creationId xmlns:p14="http://schemas.microsoft.com/office/powerpoint/2010/main" val="37196157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47580-F81A-3C99-A35A-377AEB5BAE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81C1EA-079B-1F11-8D7D-818A9A7379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E06235-B8D0-07A7-14EC-1C7EC3D8A6BF}"/>
              </a:ext>
            </a:extLst>
          </p:cNvPr>
          <p:cNvSpPr>
            <a:spLocks noGrp="1"/>
          </p:cNvSpPr>
          <p:nvPr>
            <p:ph type="body" idx="1"/>
          </p:nvPr>
        </p:nvSpPr>
        <p:spPr/>
        <p:txBody>
          <a:bodyPr/>
          <a:lstStyle/>
          <a:p>
            <a:r>
              <a:rPr lang="en-US"/>
              <a:t>Josh Green</a:t>
            </a:r>
            <a:br>
              <a:rPr lang="en-US">
                <a:cs typeface="+mn-lt"/>
              </a:rPr>
            </a:br>
            <a:endParaRPr lang="en-US">
              <a:cs typeface="+mn-lt"/>
            </a:endParaRPr>
          </a:p>
          <a:p>
            <a:r>
              <a:rPr lang="en-US">
                <a:cs typeface="+mn-lt"/>
              </a:rPr>
              <a:t>If data is misused it could allow for governments or organisations to track people's movements or habits without their consent. This could invade the users privacy and lead to constant monitoring of daily life if not clearly regulated</a:t>
            </a:r>
            <a:br>
              <a:rPr lang="en-US">
                <a:cs typeface="+mn-lt"/>
              </a:rPr>
            </a:br>
            <a:br>
              <a:rPr lang="en-US">
                <a:cs typeface="+mn-lt"/>
              </a:rPr>
            </a:br>
            <a:r>
              <a:rPr lang="en-US">
                <a:cs typeface="+mn-lt"/>
              </a:rPr>
              <a:t>Data would often travel through different countries which means different privacy laws would apply. This could cause issues over who controls or owns the information.</a:t>
            </a:r>
          </a:p>
          <a:p>
            <a:endParaRPr lang="en-US">
              <a:cs typeface="+mn-lt"/>
            </a:endParaRPr>
          </a:p>
          <a:p>
            <a:r>
              <a:rPr lang="en-US">
                <a:cs typeface="+mn-lt"/>
              </a:rPr>
              <a:t>Users would be unaware of how their data is being collected or used and without clear communication or oversight in this process it could cause trust issues between the public and the authorities.</a:t>
            </a:r>
          </a:p>
          <a:p>
            <a:endParaRPr lang="en-US">
              <a:cs typeface="+mn-lt"/>
            </a:endParaRPr>
          </a:p>
          <a:p>
            <a:r>
              <a:rPr lang="en-US">
                <a:cs typeface="+mn-lt"/>
              </a:rPr>
              <a:t>Hackers or rival states could make changes or fake IoT data leading to misleading government systems or cause incorrect decision making.</a:t>
            </a:r>
            <a:br>
              <a:rPr lang="en-US">
                <a:cs typeface="+mn-lt"/>
              </a:rPr>
            </a:br>
            <a:endParaRPr lang="en-US"/>
          </a:p>
        </p:txBody>
      </p:sp>
      <p:sp>
        <p:nvSpPr>
          <p:cNvPr id="4" name="Slide Number Placeholder 3">
            <a:extLst>
              <a:ext uri="{FF2B5EF4-FFF2-40B4-BE49-F238E27FC236}">
                <a16:creationId xmlns:a16="http://schemas.microsoft.com/office/drawing/2014/main" id="{5DB0E442-0CE2-D117-283A-CA06E89E5457}"/>
              </a:ext>
            </a:extLst>
          </p:cNvPr>
          <p:cNvSpPr>
            <a:spLocks noGrp="1"/>
          </p:cNvSpPr>
          <p:nvPr>
            <p:ph type="sldNum" sz="quarter" idx="5"/>
          </p:nvPr>
        </p:nvSpPr>
        <p:spPr/>
        <p:txBody>
          <a:bodyPr/>
          <a:lstStyle/>
          <a:p>
            <a:fld id="{6A7D66A0-7D86-4F0A-80F3-35B3D42AB1B1}" type="slidenum">
              <a:rPr lang="en-GB" smtClean="0"/>
              <a:t>30</a:t>
            </a:fld>
            <a:endParaRPr lang="en-GB"/>
          </a:p>
        </p:txBody>
      </p:sp>
    </p:spTree>
    <p:extLst>
      <p:ext uri="{BB962C8B-B14F-4D97-AF65-F5344CB8AC3E}">
        <p14:creationId xmlns:p14="http://schemas.microsoft.com/office/powerpoint/2010/main" val="27126704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08E28-740A-CDAF-D432-2FBC1D8A89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E513DE-9CD2-CE48-F1FB-820245C7F9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62216C-1FB6-6854-48EF-76A757D442D0}"/>
              </a:ext>
            </a:extLst>
          </p:cNvPr>
          <p:cNvSpPr>
            <a:spLocks noGrp="1"/>
          </p:cNvSpPr>
          <p:nvPr>
            <p:ph type="body" idx="1"/>
          </p:nvPr>
        </p:nvSpPr>
        <p:spPr/>
        <p:txBody>
          <a:bodyPr/>
          <a:lstStyle/>
          <a:p>
            <a:r>
              <a:rPr lang="en-US"/>
              <a:t>As part of our rollout we had some considerations to take into account,</a:t>
            </a:r>
          </a:p>
          <a:p>
            <a:r>
              <a:rPr lang="en-US"/>
              <a:t>One of which is the possibility of false data being created by malicious users. This will require a robust request validation protocol</a:t>
            </a:r>
          </a:p>
          <a:p>
            <a:r>
              <a:rPr lang="en-US"/>
              <a:t>Users with the features enabled will find much faster rates of battery draining due to the consistent data recording which we will need to take into consideration</a:t>
            </a:r>
          </a:p>
          <a:p>
            <a:r>
              <a:rPr lang="en-US"/>
              <a:t>The reach of our service is geographically restricted, to areas with mobile data / internet coverage and phone signal which means marketing must be clear in the necessity for connection.</a:t>
            </a:r>
          </a:p>
        </p:txBody>
      </p:sp>
      <p:sp>
        <p:nvSpPr>
          <p:cNvPr id="4" name="Slide Number Placeholder 3">
            <a:extLst>
              <a:ext uri="{FF2B5EF4-FFF2-40B4-BE49-F238E27FC236}">
                <a16:creationId xmlns:a16="http://schemas.microsoft.com/office/drawing/2014/main" id="{311E03C4-E42B-2803-0FC0-CAEF2BA280B6}"/>
              </a:ext>
            </a:extLst>
          </p:cNvPr>
          <p:cNvSpPr>
            <a:spLocks noGrp="1"/>
          </p:cNvSpPr>
          <p:nvPr>
            <p:ph type="sldNum" sz="quarter" idx="5"/>
          </p:nvPr>
        </p:nvSpPr>
        <p:spPr/>
        <p:txBody>
          <a:bodyPr/>
          <a:lstStyle/>
          <a:p>
            <a:fld id="{6A7D66A0-7D86-4F0A-80F3-35B3D42AB1B1}" type="slidenum">
              <a:rPr lang="en-GB" smtClean="0"/>
              <a:t>31</a:t>
            </a:fld>
            <a:endParaRPr lang="en-GB"/>
          </a:p>
        </p:txBody>
      </p:sp>
    </p:spTree>
    <p:extLst>
      <p:ext uri="{BB962C8B-B14F-4D97-AF65-F5344CB8AC3E}">
        <p14:creationId xmlns:p14="http://schemas.microsoft.com/office/powerpoint/2010/main" val="19070427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4E0BD-76F1-90BB-06E1-99FB138758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5A7D7E-1F75-EB9D-86CB-12A80386C5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284EF6-2433-EC56-FC9A-FC364D44B848}"/>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3E204377-4494-B264-C45D-38718C80CDAF}"/>
              </a:ext>
            </a:extLst>
          </p:cNvPr>
          <p:cNvSpPr>
            <a:spLocks noGrp="1"/>
          </p:cNvSpPr>
          <p:nvPr>
            <p:ph type="sldNum" sz="quarter" idx="5"/>
          </p:nvPr>
        </p:nvSpPr>
        <p:spPr/>
        <p:txBody>
          <a:bodyPr rtlCol="0"/>
          <a:lstStyle/>
          <a:p>
            <a:pPr rtl="0"/>
            <a:fld id="{228B34ED-4CDD-41C9-90F7-D768D5559A6F}" type="slidenum">
              <a:rPr lang="en-GB" smtClean="0"/>
              <a:t>32</a:t>
            </a:fld>
            <a:endParaRPr lang="en-GB"/>
          </a:p>
        </p:txBody>
      </p:sp>
    </p:spTree>
    <p:extLst>
      <p:ext uri="{BB962C8B-B14F-4D97-AF65-F5344CB8AC3E}">
        <p14:creationId xmlns:p14="http://schemas.microsoft.com/office/powerpoint/2010/main" val="26839459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AA82F-B09E-D2F9-5951-28B891DCAB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81E8D421-4248-5100-310D-9995C6B3AB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B3F0A21-8A40-B2C2-7033-8B1D89590AAC}"/>
              </a:ext>
            </a:extLst>
          </p:cNvPr>
          <p:cNvSpPr>
            <a:spLocks noGrp="1"/>
          </p:cNvSpPr>
          <p:nvPr>
            <p:ph type="dt" sz="half" idx="10"/>
          </p:nvPr>
        </p:nvSpPr>
        <p:spPr/>
        <p:txBody>
          <a:bodyPr/>
          <a:lstStyle/>
          <a:p>
            <a:fld id="{4EC26DB7-A06C-42DA-8357-91E3DC55113E}" type="datetimeFigureOut">
              <a:rPr lang="en-GB" smtClean="0"/>
              <a:t>20/11/2025</a:t>
            </a:fld>
            <a:endParaRPr lang="en-GB"/>
          </a:p>
        </p:txBody>
      </p:sp>
      <p:sp>
        <p:nvSpPr>
          <p:cNvPr id="5" name="Footer Placeholder 4">
            <a:extLst>
              <a:ext uri="{FF2B5EF4-FFF2-40B4-BE49-F238E27FC236}">
                <a16:creationId xmlns:a16="http://schemas.microsoft.com/office/drawing/2014/main" id="{0504DD1E-F7F4-55A0-0BE6-227AAA94F4F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FC9C0C2-A5EC-D4D8-7462-4B3266272A16}"/>
              </a:ext>
            </a:extLst>
          </p:cNvPr>
          <p:cNvSpPr>
            <a:spLocks noGrp="1"/>
          </p:cNvSpPr>
          <p:nvPr>
            <p:ph type="sldNum" sz="quarter" idx="12"/>
          </p:nvPr>
        </p:nvSpPr>
        <p:spPr/>
        <p:txBody>
          <a:bodyPr/>
          <a:lstStyle/>
          <a:p>
            <a:fld id="{BC06EAA3-687F-4743-ADBD-74613D0FCAFA}" type="slidenum">
              <a:rPr lang="en-GB" smtClean="0"/>
              <a:t>‹#›</a:t>
            </a:fld>
            <a:endParaRPr lang="en-GB"/>
          </a:p>
        </p:txBody>
      </p:sp>
    </p:spTree>
    <p:extLst>
      <p:ext uri="{BB962C8B-B14F-4D97-AF65-F5344CB8AC3E}">
        <p14:creationId xmlns:p14="http://schemas.microsoft.com/office/powerpoint/2010/main" val="299815615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8960D-D0FE-8BF7-2C3C-3B56C2885B0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46E4318-DAEB-3354-628A-32B1F80AED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4CBE39E-9EA7-7669-8423-8A1091B65C33}"/>
              </a:ext>
            </a:extLst>
          </p:cNvPr>
          <p:cNvSpPr>
            <a:spLocks noGrp="1"/>
          </p:cNvSpPr>
          <p:nvPr>
            <p:ph type="dt" sz="half" idx="10"/>
          </p:nvPr>
        </p:nvSpPr>
        <p:spPr/>
        <p:txBody>
          <a:bodyPr/>
          <a:lstStyle/>
          <a:p>
            <a:fld id="{4EC26DB7-A06C-42DA-8357-91E3DC55113E}" type="datetimeFigureOut">
              <a:rPr lang="en-GB" smtClean="0"/>
              <a:t>20/11/2025</a:t>
            </a:fld>
            <a:endParaRPr lang="en-GB"/>
          </a:p>
        </p:txBody>
      </p:sp>
      <p:sp>
        <p:nvSpPr>
          <p:cNvPr id="5" name="Footer Placeholder 4">
            <a:extLst>
              <a:ext uri="{FF2B5EF4-FFF2-40B4-BE49-F238E27FC236}">
                <a16:creationId xmlns:a16="http://schemas.microsoft.com/office/drawing/2014/main" id="{D2D00904-D6EF-D53E-DFEA-83BFEBCC4B1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0C01437-21B0-C351-82B5-F1B58E4577FB}"/>
              </a:ext>
            </a:extLst>
          </p:cNvPr>
          <p:cNvSpPr>
            <a:spLocks noGrp="1"/>
          </p:cNvSpPr>
          <p:nvPr>
            <p:ph type="sldNum" sz="quarter" idx="12"/>
          </p:nvPr>
        </p:nvSpPr>
        <p:spPr/>
        <p:txBody>
          <a:bodyPr/>
          <a:lstStyle/>
          <a:p>
            <a:fld id="{BC06EAA3-687F-4743-ADBD-74613D0FCAFA}" type="slidenum">
              <a:rPr lang="en-GB" smtClean="0"/>
              <a:t>‹#›</a:t>
            </a:fld>
            <a:endParaRPr lang="en-GB"/>
          </a:p>
        </p:txBody>
      </p:sp>
    </p:spTree>
    <p:extLst>
      <p:ext uri="{BB962C8B-B14F-4D97-AF65-F5344CB8AC3E}">
        <p14:creationId xmlns:p14="http://schemas.microsoft.com/office/powerpoint/2010/main" val="1055843671"/>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3A491-4156-E36B-6492-2ED3A28CDCA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4FBC71D-F50B-5931-46E4-A49E2FD314F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076327-1106-AFC8-FC93-5287B9C971F2}"/>
              </a:ext>
            </a:extLst>
          </p:cNvPr>
          <p:cNvSpPr>
            <a:spLocks noGrp="1"/>
          </p:cNvSpPr>
          <p:nvPr>
            <p:ph type="dt" sz="half" idx="10"/>
          </p:nvPr>
        </p:nvSpPr>
        <p:spPr/>
        <p:txBody>
          <a:bodyPr/>
          <a:lstStyle/>
          <a:p>
            <a:fld id="{4EC26DB7-A06C-42DA-8357-91E3DC55113E}" type="datetimeFigureOut">
              <a:rPr lang="en-GB" smtClean="0"/>
              <a:t>20/11/2025</a:t>
            </a:fld>
            <a:endParaRPr lang="en-GB"/>
          </a:p>
        </p:txBody>
      </p:sp>
      <p:sp>
        <p:nvSpPr>
          <p:cNvPr id="5" name="Footer Placeholder 4">
            <a:extLst>
              <a:ext uri="{FF2B5EF4-FFF2-40B4-BE49-F238E27FC236}">
                <a16:creationId xmlns:a16="http://schemas.microsoft.com/office/drawing/2014/main" id="{136CB46D-8D6A-7B02-3C3A-6AC1E26B468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9EF266B-8E52-1D60-2FD8-919F9230EA04}"/>
              </a:ext>
            </a:extLst>
          </p:cNvPr>
          <p:cNvSpPr>
            <a:spLocks noGrp="1"/>
          </p:cNvSpPr>
          <p:nvPr>
            <p:ph type="sldNum" sz="quarter" idx="12"/>
          </p:nvPr>
        </p:nvSpPr>
        <p:spPr/>
        <p:txBody>
          <a:bodyPr/>
          <a:lstStyle/>
          <a:p>
            <a:fld id="{BC06EAA3-687F-4743-ADBD-74613D0FCAFA}" type="slidenum">
              <a:rPr lang="en-GB" smtClean="0"/>
              <a:t>‹#›</a:t>
            </a:fld>
            <a:endParaRPr lang="en-GB"/>
          </a:p>
        </p:txBody>
      </p:sp>
    </p:spTree>
    <p:extLst>
      <p:ext uri="{BB962C8B-B14F-4D97-AF65-F5344CB8AC3E}">
        <p14:creationId xmlns:p14="http://schemas.microsoft.com/office/powerpoint/2010/main" val="216844069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F27A7-6437-26EA-D3DB-450DB75FD44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103A3AA-2A73-4A3F-60E7-58338E8137D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18580D2E-C8F1-C78D-96A8-89920F82FAE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2F682C54-77B6-C657-5B2E-7C643562EE16}"/>
              </a:ext>
            </a:extLst>
          </p:cNvPr>
          <p:cNvSpPr>
            <a:spLocks noGrp="1"/>
          </p:cNvSpPr>
          <p:nvPr>
            <p:ph type="dt" sz="half" idx="10"/>
          </p:nvPr>
        </p:nvSpPr>
        <p:spPr/>
        <p:txBody>
          <a:bodyPr/>
          <a:lstStyle/>
          <a:p>
            <a:fld id="{4EC26DB7-A06C-42DA-8357-91E3DC55113E}" type="datetimeFigureOut">
              <a:rPr lang="en-GB" smtClean="0"/>
              <a:t>20/11/2025</a:t>
            </a:fld>
            <a:endParaRPr lang="en-GB"/>
          </a:p>
        </p:txBody>
      </p:sp>
      <p:sp>
        <p:nvSpPr>
          <p:cNvPr id="6" name="Footer Placeholder 5">
            <a:extLst>
              <a:ext uri="{FF2B5EF4-FFF2-40B4-BE49-F238E27FC236}">
                <a16:creationId xmlns:a16="http://schemas.microsoft.com/office/drawing/2014/main" id="{3EAFD615-75AB-4E8A-FDB1-8884B474860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A8CDFAC-9CD2-55F7-4BD1-824502E1723A}"/>
              </a:ext>
            </a:extLst>
          </p:cNvPr>
          <p:cNvSpPr>
            <a:spLocks noGrp="1"/>
          </p:cNvSpPr>
          <p:nvPr>
            <p:ph type="sldNum" sz="quarter" idx="12"/>
          </p:nvPr>
        </p:nvSpPr>
        <p:spPr/>
        <p:txBody>
          <a:bodyPr/>
          <a:lstStyle/>
          <a:p>
            <a:fld id="{BC06EAA3-687F-4743-ADBD-74613D0FCAFA}" type="slidenum">
              <a:rPr lang="en-GB" smtClean="0"/>
              <a:t>‹#›</a:t>
            </a:fld>
            <a:endParaRPr lang="en-GB"/>
          </a:p>
        </p:txBody>
      </p:sp>
    </p:spTree>
    <p:extLst>
      <p:ext uri="{BB962C8B-B14F-4D97-AF65-F5344CB8AC3E}">
        <p14:creationId xmlns:p14="http://schemas.microsoft.com/office/powerpoint/2010/main" val="548522257"/>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6B227-ED20-764E-426E-9F5CDFBEA85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D349740-23FE-F9ED-D386-A926A723F2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9A25FD-DB86-B542-12A5-2E7CDF3A56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423F5D4-83A8-E2FA-FC51-5EC642A0AC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2D54FD-48C1-820D-BCE6-1B682AB592C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5DA511F8-F32C-D8F0-AEB3-401D8B5FC88F}"/>
              </a:ext>
            </a:extLst>
          </p:cNvPr>
          <p:cNvSpPr>
            <a:spLocks noGrp="1"/>
          </p:cNvSpPr>
          <p:nvPr>
            <p:ph type="dt" sz="half" idx="10"/>
          </p:nvPr>
        </p:nvSpPr>
        <p:spPr/>
        <p:txBody>
          <a:bodyPr/>
          <a:lstStyle/>
          <a:p>
            <a:fld id="{4EC26DB7-A06C-42DA-8357-91E3DC55113E}" type="datetimeFigureOut">
              <a:rPr lang="en-GB" smtClean="0"/>
              <a:t>20/11/2025</a:t>
            </a:fld>
            <a:endParaRPr lang="en-GB"/>
          </a:p>
        </p:txBody>
      </p:sp>
      <p:sp>
        <p:nvSpPr>
          <p:cNvPr id="8" name="Footer Placeholder 7">
            <a:extLst>
              <a:ext uri="{FF2B5EF4-FFF2-40B4-BE49-F238E27FC236}">
                <a16:creationId xmlns:a16="http://schemas.microsoft.com/office/drawing/2014/main" id="{A431FDBF-6DC2-4988-5C5A-B10EE64F4F0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F478EF3-4A2D-5B99-BB8F-F041B4FCEBC4}"/>
              </a:ext>
            </a:extLst>
          </p:cNvPr>
          <p:cNvSpPr>
            <a:spLocks noGrp="1"/>
          </p:cNvSpPr>
          <p:nvPr>
            <p:ph type="sldNum" sz="quarter" idx="12"/>
          </p:nvPr>
        </p:nvSpPr>
        <p:spPr/>
        <p:txBody>
          <a:bodyPr/>
          <a:lstStyle/>
          <a:p>
            <a:fld id="{BC06EAA3-687F-4743-ADBD-74613D0FCAFA}" type="slidenum">
              <a:rPr lang="en-GB" smtClean="0"/>
              <a:t>‹#›</a:t>
            </a:fld>
            <a:endParaRPr lang="en-GB"/>
          </a:p>
        </p:txBody>
      </p:sp>
    </p:spTree>
    <p:extLst>
      <p:ext uri="{BB962C8B-B14F-4D97-AF65-F5344CB8AC3E}">
        <p14:creationId xmlns:p14="http://schemas.microsoft.com/office/powerpoint/2010/main" val="8986580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49924-CC38-0995-AEDA-E3DD8074512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69EED40-6E02-7E5B-F792-8BC0E33F9AE1}"/>
              </a:ext>
            </a:extLst>
          </p:cNvPr>
          <p:cNvSpPr>
            <a:spLocks noGrp="1"/>
          </p:cNvSpPr>
          <p:nvPr>
            <p:ph type="dt" sz="half" idx="10"/>
          </p:nvPr>
        </p:nvSpPr>
        <p:spPr/>
        <p:txBody>
          <a:bodyPr/>
          <a:lstStyle/>
          <a:p>
            <a:fld id="{4EC26DB7-A06C-42DA-8357-91E3DC55113E}" type="datetimeFigureOut">
              <a:rPr lang="en-GB" smtClean="0"/>
              <a:t>20/11/2025</a:t>
            </a:fld>
            <a:endParaRPr lang="en-GB"/>
          </a:p>
        </p:txBody>
      </p:sp>
      <p:sp>
        <p:nvSpPr>
          <p:cNvPr id="4" name="Footer Placeholder 3">
            <a:extLst>
              <a:ext uri="{FF2B5EF4-FFF2-40B4-BE49-F238E27FC236}">
                <a16:creationId xmlns:a16="http://schemas.microsoft.com/office/drawing/2014/main" id="{72BF5F26-3CD4-496E-C077-AC5EDA1D31A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3888503-B7AB-38E2-5DAD-72FD499E9E7A}"/>
              </a:ext>
            </a:extLst>
          </p:cNvPr>
          <p:cNvSpPr>
            <a:spLocks noGrp="1"/>
          </p:cNvSpPr>
          <p:nvPr>
            <p:ph type="sldNum" sz="quarter" idx="12"/>
          </p:nvPr>
        </p:nvSpPr>
        <p:spPr/>
        <p:txBody>
          <a:bodyPr/>
          <a:lstStyle/>
          <a:p>
            <a:fld id="{BC06EAA3-687F-4743-ADBD-74613D0FCAFA}" type="slidenum">
              <a:rPr lang="en-GB" smtClean="0"/>
              <a:t>‹#›</a:t>
            </a:fld>
            <a:endParaRPr lang="en-GB"/>
          </a:p>
        </p:txBody>
      </p:sp>
    </p:spTree>
    <p:extLst>
      <p:ext uri="{BB962C8B-B14F-4D97-AF65-F5344CB8AC3E}">
        <p14:creationId xmlns:p14="http://schemas.microsoft.com/office/powerpoint/2010/main" val="2975875757"/>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F6D9D4-D351-DC81-3897-2F98193336E9}"/>
              </a:ext>
            </a:extLst>
          </p:cNvPr>
          <p:cNvSpPr>
            <a:spLocks noGrp="1"/>
          </p:cNvSpPr>
          <p:nvPr>
            <p:ph type="dt" sz="half" idx="10"/>
          </p:nvPr>
        </p:nvSpPr>
        <p:spPr/>
        <p:txBody>
          <a:bodyPr/>
          <a:lstStyle/>
          <a:p>
            <a:fld id="{4EC26DB7-A06C-42DA-8357-91E3DC55113E}" type="datetimeFigureOut">
              <a:rPr lang="en-GB" smtClean="0"/>
              <a:t>20/11/2025</a:t>
            </a:fld>
            <a:endParaRPr lang="en-GB"/>
          </a:p>
        </p:txBody>
      </p:sp>
      <p:sp>
        <p:nvSpPr>
          <p:cNvPr id="3" name="Footer Placeholder 2">
            <a:extLst>
              <a:ext uri="{FF2B5EF4-FFF2-40B4-BE49-F238E27FC236}">
                <a16:creationId xmlns:a16="http://schemas.microsoft.com/office/drawing/2014/main" id="{3BD3DBE4-A960-F174-EF8B-F9F242931FE5}"/>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8B082EE-81DC-40FF-D1E9-7F5F900DEDE7}"/>
              </a:ext>
            </a:extLst>
          </p:cNvPr>
          <p:cNvSpPr>
            <a:spLocks noGrp="1"/>
          </p:cNvSpPr>
          <p:nvPr>
            <p:ph type="sldNum" sz="quarter" idx="12"/>
          </p:nvPr>
        </p:nvSpPr>
        <p:spPr/>
        <p:txBody>
          <a:bodyPr/>
          <a:lstStyle/>
          <a:p>
            <a:fld id="{BC06EAA3-687F-4743-ADBD-74613D0FCAFA}" type="slidenum">
              <a:rPr lang="en-GB" smtClean="0"/>
              <a:t>‹#›</a:t>
            </a:fld>
            <a:endParaRPr lang="en-GB"/>
          </a:p>
        </p:txBody>
      </p:sp>
    </p:spTree>
    <p:extLst>
      <p:ext uri="{BB962C8B-B14F-4D97-AF65-F5344CB8AC3E}">
        <p14:creationId xmlns:p14="http://schemas.microsoft.com/office/powerpoint/2010/main" val="4284823848"/>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FE104-A7A3-6B25-2374-58C1461D37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9FFA715D-F52D-326D-C0EC-E7996272D7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078AE0B7-9F82-277F-497D-D46BC448B2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E392FB-DCAD-F4C3-078E-B46D4DA523C9}"/>
              </a:ext>
            </a:extLst>
          </p:cNvPr>
          <p:cNvSpPr>
            <a:spLocks noGrp="1"/>
          </p:cNvSpPr>
          <p:nvPr>
            <p:ph type="dt" sz="half" idx="10"/>
          </p:nvPr>
        </p:nvSpPr>
        <p:spPr/>
        <p:txBody>
          <a:bodyPr/>
          <a:lstStyle/>
          <a:p>
            <a:fld id="{4EC26DB7-A06C-42DA-8357-91E3DC55113E}" type="datetimeFigureOut">
              <a:rPr lang="en-GB" smtClean="0"/>
              <a:t>20/11/2025</a:t>
            </a:fld>
            <a:endParaRPr lang="en-GB"/>
          </a:p>
        </p:txBody>
      </p:sp>
      <p:sp>
        <p:nvSpPr>
          <p:cNvPr id="6" name="Footer Placeholder 5">
            <a:extLst>
              <a:ext uri="{FF2B5EF4-FFF2-40B4-BE49-F238E27FC236}">
                <a16:creationId xmlns:a16="http://schemas.microsoft.com/office/drawing/2014/main" id="{F4BF508C-62B1-13BA-5B22-36787DEF31C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BE5D160-F10D-B18B-E36E-CCBB3916388F}"/>
              </a:ext>
            </a:extLst>
          </p:cNvPr>
          <p:cNvSpPr>
            <a:spLocks noGrp="1"/>
          </p:cNvSpPr>
          <p:nvPr>
            <p:ph type="sldNum" sz="quarter" idx="12"/>
          </p:nvPr>
        </p:nvSpPr>
        <p:spPr/>
        <p:txBody>
          <a:bodyPr/>
          <a:lstStyle/>
          <a:p>
            <a:fld id="{BC06EAA3-687F-4743-ADBD-74613D0FCAFA}" type="slidenum">
              <a:rPr lang="en-GB" smtClean="0"/>
              <a:t>‹#›</a:t>
            </a:fld>
            <a:endParaRPr lang="en-GB"/>
          </a:p>
        </p:txBody>
      </p:sp>
    </p:spTree>
    <p:extLst>
      <p:ext uri="{BB962C8B-B14F-4D97-AF65-F5344CB8AC3E}">
        <p14:creationId xmlns:p14="http://schemas.microsoft.com/office/powerpoint/2010/main" val="243994621"/>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E9AEA-2039-2071-0762-3A156623A8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BA3DD8F3-2EB7-1281-D22B-F93FA7A1E8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19EFFD57-46E8-3CAA-D66C-AF99523081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18EE8C-D497-B84E-4E92-0516B6CC5E37}"/>
              </a:ext>
            </a:extLst>
          </p:cNvPr>
          <p:cNvSpPr>
            <a:spLocks noGrp="1"/>
          </p:cNvSpPr>
          <p:nvPr>
            <p:ph type="dt" sz="half" idx="10"/>
          </p:nvPr>
        </p:nvSpPr>
        <p:spPr/>
        <p:txBody>
          <a:bodyPr/>
          <a:lstStyle/>
          <a:p>
            <a:fld id="{4EC26DB7-A06C-42DA-8357-91E3DC55113E}" type="datetimeFigureOut">
              <a:rPr lang="en-GB" smtClean="0"/>
              <a:t>20/11/2025</a:t>
            </a:fld>
            <a:endParaRPr lang="en-GB"/>
          </a:p>
        </p:txBody>
      </p:sp>
      <p:sp>
        <p:nvSpPr>
          <p:cNvPr id="6" name="Footer Placeholder 5">
            <a:extLst>
              <a:ext uri="{FF2B5EF4-FFF2-40B4-BE49-F238E27FC236}">
                <a16:creationId xmlns:a16="http://schemas.microsoft.com/office/drawing/2014/main" id="{B46CDEBA-FB5C-FB6B-976D-39697A6C983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DE15945-D84E-A947-333D-352A003F616B}"/>
              </a:ext>
            </a:extLst>
          </p:cNvPr>
          <p:cNvSpPr>
            <a:spLocks noGrp="1"/>
          </p:cNvSpPr>
          <p:nvPr>
            <p:ph type="sldNum" sz="quarter" idx="12"/>
          </p:nvPr>
        </p:nvSpPr>
        <p:spPr/>
        <p:txBody>
          <a:bodyPr/>
          <a:lstStyle/>
          <a:p>
            <a:fld id="{BC06EAA3-687F-4743-ADBD-74613D0FCAFA}" type="slidenum">
              <a:rPr lang="en-GB" smtClean="0"/>
              <a:t>‹#›</a:t>
            </a:fld>
            <a:endParaRPr lang="en-GB"/>
          </a:p>
        </p:txBody>
      </p:sp>
    </p:spTree>
    <p:extLst>
      <p:ext uri="{BB962C8B-B14F-4D97-AF65-F5344CB8AC3E}">
        <p14:creationId xmlns:p14="http://schemas.microsoft.com/office/powerpoint/2010/main" val="3579044927"/>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88BDA-1EA2-F9D9-EECB-A5066C987950}"/>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CDA9C0A-5969-55C4-2348-0BE86F7941F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308DF2-011E-5E7F-2617-7EFA41269D5F}"/>
              </a:ext>
            </a:extLst>
          </p:cNvPr>
          <p:cNvSpPr>
            <a:spLocks noGrp="1"/>
          </p:cNvSpPr>
          <p:nvPr>
            <p:ph type="dt" sz="half" idx="10"/>
          </p:nvPr>
        </p:nvSpPr>
        <p:spPr/>
        <p:txBody>
          <a:bodyPr/>
          <a:lstStyle/>
          <a:p>
            <a:fld id="{4EC26DB7-A06C-42DA-8357-91E3DC55113E}" type="datetimeFigureOut">
              <a:rPr lang="en-GB" smtClean="0"/>
              <a:t>20/11/2025</a:t>
            </a:fld>
            <a:endParaRPr lang="en-GB"/>
          </a:p>
        </p:txBody>
      </p:sp>
      <p:sp>
        <p:nvSpPr>
          <p:cNvPr id="5" name="Footer Placeholder 4">
            <a:extLst>
              <a:ext uri="{FF2B5EF4-FFF2-40B4-BE49-F238E27FC236}">
                <a16:creationId xmlns:a16="http://schemas.microsoft.com/office/drawing/2014/main" id="{0604628F-7ADC-D99C-800C-754AA5A6AB1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621C3D3-B91C-A8D6-ACE0-3135995B6316}"/>
              </a:ext>
            </a:extLst>
          </p:cNvPr>
          <p:cNvSpPr>
            <a:spLocks noGrp="1"/>
          </p:cNvSpPr>
          <p:nvPr>
            <p:ph type="sldNum" sz="quarter" idx="12"/>
          </p:nvPr>
        </p:nvSpPr>
        <p:spPr/>
        <p:txBody>
          <a:bodyPr/>
          <a:lstStyle/>
          <a:p>
            <a:fld id="{BC06EAA3-687F-4743-ADBD-74613D0FCAFA}" type="slidenum">
              <a:rPr lang="en-GB" smtClean="0"/>
              <a:t>‹#›</a:t>
            </a:fld>
            <a:endParaRPr lang="en-GB"/>
          </a:p>
        </p:txBody>
      </p:sp>
    </p:spTree>
    <p:extLst>
      <p:ext uri="{BB962C8B-B14F-4D97-AF65-F5344CB8AC3E}">
        <p14:creationId xmlns:p14="http://schemas.microsoft.com/office/powerpoint/2010/main" val="168945822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36153E-39C9-C19B-8703-267C50354F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E8CCD6B-8F8B-C8D4-D01C-D5BFF7F77E4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06BF384-9A67-29EB-91EF-95AEE009BBBB}"/>
              </a:ext>
            </a:extLst>
          </p:cNvPr>
          <p:cNvSpPr>
            <a:spLocks noGrp="1"/>
          </p:cNvSpPr>
          <p:nvPr>
            <p:ph type="dt" sz="half" idx="10"/>
          </p:nvPr>
        </p:nvSpPr>
        <p:spPr/>
        <p:txBody>
          <a:bodyPr/>
          <a:lstStyle/>
          <a:p>
            <a:fld id="{4EC26DB7-A06C-42DA-8357-91E3DC55113E}" type="datetimeFigureOut">
              <a:rPr lang="en-GB" smtClean="0"/>
              <a:t>20/11/2025</a:t>
            </a:fld>
            <a:endParaRPr lang="en-GB"/>
          </a:p>
        </p:txBody>
      </p:sp>
      <p:sp>
        <p:nvSpPr>
          <p:cNvPr id="5" name="Footer Placeholder 4">
            <a:extLst>
              <a:ext uri="{FF2B5EF4-FFF2-40B4-BE49-F238E27FC236}">
                <a16:creationId xmlns:a16="http://schemas.microsoft.com/office/drawing/2014/main" id="{D7282EB9-5887-4C07-FB1A-79B999B3769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EC8C2A8-AD18-99BC-8C93-08CE3940AA77}"/>
              </a:ext>
            </a:extLst>
          </p:cNvPr>
          <p:cNvSpPr>
            <a:spLocks noGrp="1"/>
          </p:cNvSpPr>
          <p:nvPr>
            <p:ph type="sldNum" sz="quarter" idx="12"/>
          </p:nvPr>
        </p:nvSpPr>
        <p:spPr/>
        <p:txBody>
          <a:bodyPr/>
          <a:lstStyle/>
          <a:p>
            <a:fld id="{BC06EAA3-687F-4743-ADBD-74613D0FCAFA}" type="slidenum">
              <a:rPr lang="en-GB" smtClean="0"/>
              <a:t>‹#›</a:t>
            </a:fld>
            <a:endParaRPr lang="en-GB"/>
          </a:p>
        </p:txBody>
      </p:sp>
    </p:spTree>
    <p:extLst>
      <p:ext uri="{BB962C8B-B14F-4D97-AF65-F5344CB8AC3E}">
        <p14:creationId xmlns:p14="http://schemas.microsoft.com/office/powerpoint/2010/main" val="3995806810"/>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rtlCol="0"/>
          <a:lstStyle>
            <a:lvl1pPr marL="0" indent="0" algn="ctr">
              <a:buNone/>
              <a:defRPr/>
            </a:lvl1pPr>
          </a:lstStyle>
          <a:p>
            <a:pPr rtl="0"/>
            <a:r>
              <a:rPr lang="en-US" noProof="0"/>
              <a:t>Click icon to add picture</a:t>
            </a:r>
            <a:endParaRPr lang="en-GB" noProof="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rtlCol="0">
            <a:noAutofit/>
          </a:bodyPr>
          <a:lstStyle>
            <a:lvl1pPr marL="0" indent="0" algn="ctr">
              <a:buNone/>
              <a:defRPr sz="1800" spc="300">
                <a:solidFill>
                  <a:schemeClr val="tx1"/>
                </a:solidFill>
              </a:defRPr>
            </a:lvl1pPr>
            <a:lvl2pPr marL="457200" indent="0">
              <a:buNone/>
              <a:defRPr/>
            </a:lvl2pPr>
          </a:lstStyle>
          <a:p>
            <a:pPr lvl="0" rtl="0"/>
            <a:r>
              <a:rPr lang="en-US" noProof="0"/>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rtlCol="0">
            <a:noAutofit/>
          </a:bodyPr>
          <a:lstStyle>
            <a:lvl1pPr marL="0" indent="0" algn="ctr">
              <a:buNone/>
              <a:defRPr sz="1800" cap="all" baseline="0"/>
            </a:lvl1pPr>
          </a:lstStyle>
          <a:p>
            <a:pPr rtl="0"/>
            <a:r>
              <a:rPr lang="en-GB" spc="300" noProof="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rtlCol="0">
            <a:noAutofit/>
          </a:bodyPr>
          <a:lstStyle>
            <a:lvl1pPr>
              <a:lnSpc>
                <a:spcPct val="150000"/>
              </a:lnSpc>
              <a:spcBef>
                <a:spcPts val="1000"/>
              </a:spcBef>
              <a:defRPr sz="4000" cap="all" spc="300" baseline="0"/>
            </a:lvl1pPr>
          </a:lstStyle>
          <a:p>
            <a:pPr rtl="0"/>
            <a:r>
              <a:rPr lang="en-GB" noProof="0"/>
              <a:t>Click to edit Master TEXT styles</a:t>
            </a:r>
          </a:p>
        </p:txBody>
      </p:sp>
    </p:spTree>
    <p:extLst>
      <p:ext uri="{BB962C8B-B14F-4D97-AF65-F5344CB8AC3E}">
        <p14:creationId xmlns:p14="http://schemas.microsoft.com/office/powerpoint/2010/main" val="2281130389"/>
      </p:ext>
    </p:extLst>
  </p:cSld>
  <p:clrMapOvr>
    <a:overrideClrMapping bg1="dk1" tx1="lt1" bg2="dk2" tx2="lt2" accent1="accent1" accent2="accent2" accent3="accent3" accent4="accent4" accent5="accent5" accent6="accent6" hlink="hlink" folHlink="folHlink"/>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AA82F-B09E-D2F9-5951-28B891DCAB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81E8D421-4248-5100-310D-9995C6B3AB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B3F0A21-8A40-B2C2-7033-8B1D89590AAC}"/>
              </a:ext>
            </a:extLst>
          </p:cNvPr>
          <p:cNvSpPr>
            <a:spLocks noGrp="1"/>
          </p:cNvSpPr>
          <p:nvPr>
            <p:ph type="dt" sz="half" idx="10"/>
          </p:nvPr>
        </p:nvSpPr>
        <p:spPr/>
        <p:txBody>
          <a:bodyPr/>
          <a:lstStyle/>
          <a:p>
            <a:fld id="{4EC26DB7-A06C-42DA-8357-91E3DC55113E}" type="datetimeFigureOut">
              <a:rPr lang="en-GB" smtClean="0"/>
              <a:t>20/11/2025</a:t>
            </a:fld>
            <a:endParaRPr lang="en-GB"/>
          </a:p>
        </p:txBody>
      </p:sp>
      <p:sp>
        <p:nvSpPr>
          <p:cNvPr id="5" name="Footer Placeholder 4">
            <a:extLst>
              <a:ext uri="{FF2B5EF4-FFF2-40B4-BE49-F238E27FC236}">
                <a16:creationId xmlns:a16="http://schemas.microsoft.com/office/drawing/2014/main" id="{0504DD1E-F7F4-55A0-0BE6-227AAA94F4F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FC9C0C2-A5EC-D4D8-7462-4B3266272A16}"/>
              </a:ext>
            </a:extLst>
          </p:cNvPr>
          <p:cNvSpPr>
            <a:spLocks noGrp="1"/>
          </p:cNvSpPr>
          <p:nvPr>
            <p:ph type="sldNum" sz="quarter" idx="12"/>
          </p:nvPr>
        </p:nvSpPr>
        <p:spPr/>
        <p:txBody>
          <a:bodyPr/>
          <a:lstStyle/>
          <a:p>
            <a:fld id="{BC06EAA3-687F-4743-ADBD-74613D0FCAFA}" type="slidenum">
              <a:rPr lang="en-GB" smtClean="0"/>
              <a:t>‹#›</a:t>
            </a:fld>
            <a:endParaRPr lang="en-GB"/>
          </a:p>
        </p:txBody>
      </p:sp>
    </p:spTree>
    <p:extLst>
      <p:ext uri="{BB962C8B-B14F-4D97-AF65-F5344CB8AC3E}">
        <p14:creationId xmlns:p14="http://schemas.microsoft.com/office/powerpoint/2010/main" val="29981561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8960D-D0FE-8BF7-2C3C-3B56C2885B0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46E4318-DAEB-3354-628A-32B1F80AED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4CBE39E-9EA7-7669-8423-8A1091B65C33}"/>
              </a:ext>
            </a:extLst>
          </p:cNvPr>
          <p:cNvSpPr>
            <a:spLocks noGrp="1"/>
          </p:cNvSpPr>
          <p:nvPr>
            <p:ph type="dt" sz="half" idx="10"/>
          </p:nvPr>
        </p:nvSpPr>
        <p:spPr/>
        <p:txBody>
          <a:bodyPr/>
          <a:lstStyle/>
          <a:p>
            <a:fld id="{4EC26DB7-A06C-42DA-8357-91E3DC55113E}" type="datetimeFigureOut">
              <a:rPr lang="en-GB" smtClean="0"/>
              <a:t>20/11/2025</a:t>
            </a:fld>
            <a:endParaRPr lang="en-GB"/>
          </a:p>
        </p:txBody>
      </p:sp>
      <p:sp>
        <p:nvSpPr>
          <p:cNvPr id="5" name="Footer Placeholder 4">
            <a:extLst>
              <a:ext uri="{FF2B5EF4-FFF2-40B4-BE49-F238E27FC236}">
                <a16:creationId xmlns:a16="http://schemas.microsoft.com/office/drawing/2014/main" id="{D2D00904-D6EF-D53E-DFEA-83BFEBCC4B1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0C01437-21B0-C351-82B5-F1B58E4577FB}"/>
              </a:ext>
            </a:extLst>
          </p:cNvPr>
          <p:cNvSpPr>
            <a:spLocks noGrp="1"/>
          </p:cNvSpPr>
          <p:nvPr>
            <p:ph type="sldNum" sz="quarter" idx="12"/>
          </p:nvPr>
        </p:nvSpPr>
        <p:spPr/>
        <p:txBody>
          <a:bodyPr/>
          <a:lstStyle/>
          <a:p>
            <a:fld id="{BC06EAA3-687F-4743-ADBD-74613D0FCAFA}" type="slidenum">
              <a:rPr lang="en-GB" smtClean="0"/>
              <a:t>‹#›</a:t>
            </a:fld>
            <a:endParaRPr lang="en-GB"/>
          </a:p>
        </p:txBody>
      </p:sp>
    </p:spTree>
    <p:extLst>
      <p:ext uri="{BB962C8B-B14F-4D97-AF65-F5344CB8AC3E}">
        <p14:creationId xmlns:p14="http://schemas.microsoft.com/office/powerpoint/2010/main" val="10558436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3A491-4156-E36B-6492-2ED3A28CDCA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4FBC71D-F50B-5931-46E4-A49E2FD314F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076327-1106-AFC8-FC93-5287B9C971F2}"/>
              </a:ext>
            </a:extLst>
          </p:cNvPr>
          <p:cNvSpPr>
            <a:spLocks noGrp="1"/>
          </p:cNvSpPr>
          <p:nvPr>
            <p:ph type="dt" sz="half" idx="10"/>
          </p:nvPr>
        </p:nvSpPr>
        <p:spPr/>
        <p:txBody>
          <a:bodyPr/>
          <a:lstStyle/>
          <a:p>
            <a:fld id="{4EC26DB7-A06C-42DA-8357-91E3DC55113E}" type="datetimeFigureOut">
              <a:rPr lang="en-GB" smtClean="0"/>
              <a:t>20/11/2025</a:t>
            </a:fld>
            <a:endParaRPr lang="en-GB"/>
          </a:p>
        </p:txBody>
      </p:sp>
      <p:sp>
        <p:nvSpPr>
          <p:cNvPr id="5" name="Footer Placeholder 4">
            <a:extLst>
              <a:ext uri="{FF2B5EF4-FFF2-40B4-BE49-F238E27FC236}">
                <a16:creationId xmlns:a16="http://schemas.microsoft.com/office/drawing/2014/main" id="{136CB46D-8D6A-7B02-3C3A-6AC1E26B468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9EF266B-8E52-1D60-2FD8-919F9230EA04}"/>
              </a:ext>
            </a:extLst>
          </p:cNvPr>
          <p:cNvSpPr>
            <a:spLocks noGrp="1"/>
          </p:cNvSpPr>
          <p:nvPr>
            <p:ph type="sldNum" sz="quarter" idx="12"/>
          </p:nvPr>
        </p:nvSpPr>
        <p:spPr/>
        <p:txBody>
          <a:bodyPr/>
          <a:lstStyle/>
          <a:p>
            <a:fld id="{BC06EAA3-687F-4743-ADBD-74613D0FCAFA}" type="slidenum">
              <a:rPr lang="en-GB" smtClean="0"/>
              <a:t>‹#›</a:t>
            </a:fld>
            <a:endParaRPr lang="en-GB"/>
          </a:p>
        </p:txBody>
      </p:sp>
    </p:spTree>
    <p:extLst>
      <p:ext uri="{BB962C8B-B14F-4D97-AF65-F5344CB8AC3E}">
        <p14:creationId xmlns:p14="http://schemas.microsoft.com/office/powerpoint/2010/main" val="21684406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F27A7-6437-26EA-D3DB-450DB75FD44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103A3AA-2A73-4A3F-60E7-58338E8137D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18580D2E-C8F1-C78D-96A8-89920F82FAE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2F682C54-77B6-C657-5B2E-7C643562EE16}"/>
              </a:ext>
            </a:extLst>
          </p:cNvPr>
          <p:cNvSpPr>
            <a:spLocks noGrp="1"/>
          </p:cNvSpPr>
          <p:nvPr>
            <p:ph type="dt" sz="half" idx="10"/>
          </p:nvPr>
        </p:nvSpPr>
        <p:spPr/>
        <p:txBody>
          <a:bodyPr/>
          <a:lstStyle/>
          <a:p>
            <a:fld id="{4EC26DB7-A06C-42DA-8357-91E3DC55113E}" type="datetimeFigureOut">
              <a:rPr lang="en-GB" smtClean="0"/>
              <a:t>20/11/2025</a:t>
            </a:fld>
            <a:endParaRPr lang="en-GB"/>
          </a:p>
        </p:txBody>
      </p:sp>
      <p:sp>
        <p:nvSpPr>
          <p:cNvPr id="6" name="Footer Placeholder 5">
            <a:extLst>
              <a:ext uri="{FF2B5EF4-FFF2-40B4-BE49-F238E27FC236}">
                <a16:creationId xmlns:a16="http://schemas.microsoft.com/office/drawing/2014/main" id="{3EAFD615-75AB-4E8A-FDB1-8884B474860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A8CDFAC-9CD2-55F7-4BD1-824502E1723A}"/>
              </a:ext>
            </a:extLst>
          </p:cNvPr>
          <p:cNvSpPr>
            <a:spLocks noGrp="1"/>
          </p:cNvSpPr>
          <p:nvPr>
            <p:ph type="sldNum" sz="quarter" idx="12"/>
          </p:nvPr>
        </p:nvSpPr>
        <p:spPr/>
        <p:txBody>
          <a:bodyPr/>
          <a:lstStyle/>
          <a:p>
            <a:fld id="{BC06EAA3-687F-4743-ADBD-74613D0FCAFA}" type="slidenum">
              <a:rPr lang="en-GB" smtClean="0"/>
              <a:t>‹#›</a:t>
            </a:fld>
            <a:endParaRPr lang="en-GB"/>
          </a:p>
        </p:txBody>
      </p:sp>
    </p:spTree>
    <p:extLst>
      <p:ext uri="{BB962C8B-B14F-4D97-AF65-F5344CB8AC3E}">
        <p14:creationId xmlns:p14="http://schemas.microsoft.com/office/powerpoint/2010/main" val="548522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6B227-ED20-764E-426E-9F5CDFBEA85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D349740-23FE-F9ED-D386-A926A723F2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9A25FD-DB86-B542-12A5-2E7CDF3A56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423F5D4-83A8-E2FA-FC51-5EC642A0AC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2D54FD-48C1-820D-BCE6-1B682AB592C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5DA511F8-F32C-D8F0-AEB3-401D8B5FC88F}"/>
              </a:ext>
            </a:extLst>
          </p:cNvPr>
          <p:cNvSpPr>
            <a:spLocks noGrp="1"/>
          </p:cNvSpPr>
          <p:nvPr>
            <p:ph type="dt" sz="half" idx="10"/>
          </p:nvPr>
        </p:nvSpPr>
        <p:spPr/>
        <p:txBody>
          <a:bodyPr/>
          <a:lstStyle/>
          <a:p>
            <a:fld id="{4EC26DB7-A06C-42DA-8357-91E3DC55113E}" type="datetimeFigureOut">
              <a:rPr lang="en-GB" smtClean="0"/>
              <a:t>20/11/2025</a:t>
            </a:fld>
            <a:endParaRPr lang="en-GB"/>
          </a:p>
        </p:txBody>
      </p:sp>
      <p:sp>
        <p:nvSpPr>
          <p:cNvPr id="8" name="Footer Placeholder 7">
            <a:extLst>
              <a:ext uri="{FF2B5EF4-FFF2-40B4-BE49-F238E27FC236}">
                <a16:creationId xmlns:a16="http://schemas.microsoft.com/office/drawing/2014/main" id="{A431FDBF-6DC2-4988-5C5A-B10EE64F4F0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F478EF3-4A2D-5B99-BB8F-F041B4FCEBC4}"/>
              </a:ext>
            </a:extLst>
          </p:cNvPr>
          <p:cNvSpPr>
            <a:spLocks noGrp="1"/>
          </p:cNvSpPr>
          <p:nvPr>
            <p:ph type="sldNum" sz="quarter" idx="12"/>
          </p:nvPr>
        </p:nvSpPr>
        <p:spPr/>
        <p:txBody>
          <a:bodyPr/>
          <a:lstStyle/>
          <a:p>
            <a:fld id="{BC06EAA3-687F-4743-ADBD-74613D0FCAFA}" type="slidenum">
              <a:rPr lang="en-GB" smtClean="0"/>
              <a:t>‹#›</a:t>
            </a:fld>
            <a:endParaRPr lang="en-GB"/>
          </a:p>
        </p:txBody>
      </p:sp>
    </p:spTree>
    <p:extLst>
      <p:ext uri="{BB962C8B-B14F-4D97-AF65-F5344CB8AC3E}">
        <p14:creationId xmlns:p14="http://schemas.microsoft.com/office/powerpoint/2010/main" val="898658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49924-CC38-0995-AEDA-E3DD8074512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69EED40-6E02-7E5B-F792-8BC0E33F9AE1}"/>
              </a:ext>
            </a:extLst>
          </p:cNvPr>
          <p:cNvSpPr>
            <a:spLocks noGrp="1"/>
          </p:cNvSpPr>
          <p:nvPr>
            <p:ph type="dt" sz="half" idx="10"/>
          </p:nvPr>
        </p:nvSpPr>
        <p:spPr/>
        <p:txBody>
          <a:bodyPr/>
          <a:lstStyle/>
          <a:p>
            <a:fld id="{4EC26DB7-A06C-42DA-8357-91E3DC55113E}" type="datetimeFigureOut">
              <a:rPr lang="en-GB" smtClean="0"/>
              <a:t>20/11/2025</a:t>
            </a:fld>
            <a:endParaRPr lang="en-GB"/>
          </a:p>
        </p:txBody>
      </p:sp>
      <p:sp>
        <p:nvSpPr>
          <p:cNvPr id="4" name="Footer Placeholder 3">
            <a:extLst>
              <a:ext uri="{FF2B5EF4-FFF2-40B4-BE49-F238E27FC236}">
                <a16:creationId xmlns:a16="http://schemas.microsoft.com/office/drawing/2014/main" id="{72BF5F26-3CD4-496E-C077-AC5EDA1D31A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3888503-B7AB-38E2-5DAD-72FD499E9E7A}"/>
              </a:ext>
            </a:extLst>
          </p:cNvPr>
          <p:cNvSpPr>
            <a:spLocks noGrp="1"/>
          </p:cNvSpPr>
          <p:nvPr>
            <p:ph type="sldNum" sz="quarter" idx="12"/>
          </p:nvPr>
        </p:nvSpPr>
        <p:spPr/>
        <p:txBody>
          <a:bodyPr/>
          <a:lstStyle/>
          <a:p>
            <a:fld id="{BC06EAA3-687F-4743-ADBD-74613D0FCAFA}" type="slidenum">
              <a:rPr lang="en-GB" smtClean="0"/>
              <a:t>‹#›</a:t>
            </a:fld>
            <a:endParaRPr lang="en-GB"/>
          </a:p>
        </p:txBody>
      </p:sp>
    </p:spTree>
    <p:extLst>
      <p:ext uri="{BB962C8B-B14F-4D97-AF65-F5344CB8AC3E}">
        <p14:creationId xmlns:p14="http://schemas.microsoft.com/office/powerpoint/2010/main" val="29758757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F6D9D4-D351-DC81-3897-2F98193336E9}"/>
              </a:ext>
            </a:extLst>
          </p:cNvPr>
          <p:cNvSpPr>
            <a:spLocks noGrp="1"/>
          </p:cNvSpPr>
          <p:nvPr>
            <p:ph type="dt" sz="half" idx="10"/>
          </p:nvPr>
        </p:nvSpPr>
        <p:spPr/>
        <p:txBody>
          <a:bodyPr/>
          <a:lstStyle/>
          <a:p>
            <a:fld id="{4EC26DB7-A06C-42DA-8357-91E3DC55113E}" type="datetimeFigureOut">
              <a:rPr lang="en-GB" smtClean="0"/>
              <a:t>20/11/2025</a:t>
            </a:fld>
            <a:endParaRPr lang="en-GB"/>
          </a:p>
        </p:txBody>
      </p:sp>
      <p:sp>
        <p:nvSpPr>
          <p:cNvPr id="3" name="Footer Placeholder 2">
            <a:extLst>
              <a:ext uri="{FF2B5EF4-FFF2-40B4-BE49-F238E27FC236}">
                <a16:creationId xmlns:a16="http://schemas.microsoft.com/office/drawing/2014/main" id="{3BD3DBE4-A960-F174-EF8B-F9F242931FE5}"/>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8B082EE-81DC-40FF-D1E9-7F5F900DEDE7}"/>
              </a:ext>
            </a:extLst>
          </p:cNvPr>
          <p:cNvSpPr>
            <a:spLocks noGrp="1"/>
          </p:cNvSpPr>
          <p:nvPr>
            <p:ph type="sldNum" sz="quarter" idx="12"/>
          </p:nvPr>
        </p:nvSpPr>
        <p:spPr/>
        <p:txBody>
          <a:bodyPr/>
          <a:lstStyle/>
          <a:p>
            <a:fld id="{BC06EAA3-687F-4743-ADBD-74613D0FCAFA}" type="slidenum">
              <a:rPr lang="en-GB" smtClean="0"/>
              <a:t>‹#›</a:t>
            </a:fld>
            <a:endParaRPr lang="en-GB"/>
          </a:p>
        </p:txBody>
      </p:sp>
    </p:spTree>
    <p:extLst>
      <p:ext uri="{BB962C8B-B14F-4D97-AF65-F5344CB8AC3E}">
        <p14:creationId xmlns:p14="http://schemas.microsoft.com/office/powerpoint/2010/main" val="42848238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FE104-A7A3-6B25-2374-58C1461D37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9FFA715D-F52D-326D-C0EC-E7996272D7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078AE0B7-9F82-277F-497D-D46BC448B2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E392FB-DCAD-F4C3-078E-B46D4DA523C9}"/>
              </a:ext>
            </a:extLst>
          </p:cNvPr>
          <p:cNvSpPr>
            <a:spLocks noGrp="1"/>
          </p:cNvSpPr>
          <p:nvPr>
            <p:ph type="dt" sz="half" idx="10"/>
          </p:nvPr>
        </p:nvSpPr>
        <p:spPr/>
        <p:txBody>
          <a:bodyPr/>
          <a:lstStyle/>
          <a:p>
            <a:fld id="{4EC26DB7-A06C-42DA-8357-91E3DC55113E}" type="datetimeFigureOut">
              <a:rPr lang="en-GB" smtClean="0"/>
              <a:t>20/11/2025</a:t>
            </a:fld>
            <a:endParaRPr lang="en-GB"/>
          </a:p>
        </p:txBody>
      </p:sp>
      <p:sp>
        <p:nvSpPr>
          <p:cNvPr id="6" name="Footer Placeholder 5">
            <a:extLst>
              <a:ext uri="{FF2B5EF4-FFF2-40B4-BE49-F238E27FC236}">
                <a16:creationId xmlns:a16="http://schemas.microsoft.com/office/drawing/2014/main" id="{F4BF508C-62B1-13BA-5B22-36787DEF31C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BE5D160-F10D-B18B-E36E-CCBB3916388F}"/>
              </a:ext>
            </a:extLst>
          </p:cNvPr>
          <p:cNvSpPr>
            <a:spLocks noGrp="1"/>
          </p:cNvSpPr>
          <p:nvPr>
            <p:ph type="sldNum" sz="quarter" idx="12"/>
          </p:nvPr>
        </p:nvSpPr>
        <p:spPr/>
        <p:txBody>
          <a:bodyPr/>
          <a:lstStyle/>
          <a:p>
            <a:fld id="{BC06EAA3-687F-4743-ADBD-74613D0FCAFA}" type="slidenum">
              <a:rPr lang="en-GB" smtClean="0"/>
              <a:t>‹#›</a:t>
            </a:fld>
            <a:endParaRPr lang="en-GB"/>
          </a:p>
        </p:txBody>
      </p:sp>
    </p:spTree>
    <p:extLst>
      <p:ext uri="{BB962C8B-B14F-4D97-AF65-F5344CB8AC3E}">
        <p14:creationId xmlns:p14="http://schemas.microsoft.com/office/powerpoint/2010/main" val="2439946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E9AEA-2039-2071-0762-3A156623A8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BA3DD8F3-2EB7-1281-D22B-F93FA7A1E8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19EFFD57-46E8-3CAA-D66C-AF99523081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18EE8C-D497-B84E-4E92-0516B6CC5E37}"/>
              </a:ext>
            </a:extLst>
          </p:cNvPr>
          <p:cNvSpPr>
            <a:spLocks noGrp="1"/>
          </p:cNvSpPr>
          <p:nvPr>
            <p:ph type="dt" sz="half" idx="10"/>
          </p:nvPr>
        </p:nvSpPr>
        <p:spPr/>
        <p:txBody>
          <a:bodyPr/>
          <a:lstStyle/>
          <a:p>
            <a:fld id="{4EC26DB7-A06C-42DA-8357-91E3DC55113E}" type="datetimeFigureOut">
              <a:rPr lang="en-GB" smtClean="0"/>
              <a:t>20/11/2025</a:t>
            </a:fld>
            <a:endParaRPr lang="en-GB"/>
          </a:p>
        </p:txBody>
      </p:sp>
      <p:sp>
        <p:nvSpPr>
          <p:cNvPr id="6" name="Footer Placeholder 5">
            <a:extLst>
              <a:ext uri="{FF2B5EF4-FFF2-40B4-BE49-F238E27FC236}">
                <a16:creationId xmlns:a16="http://schemas.microsoft.com/office/drawing/2014/main" id="{B46CDEBA-FB5C-FB6B-976D-39697A6C983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DE15945-D84E-A947-333D-352A003F616B}"/>
              </a:ext>
            </a:extLst>
          </p:cNvPr>
          <p:cNvSpPr>
            <a:spLocks noGrp="1"/>
          </p:cNvSpPr>
          <p:nvPr>
            <p:ph type="sldNum" sz="quarter" idx="12"/>
          </p:nvPr>
        </p:nvSpPr>
        <p:spPr/>
        <p:txBody>
          <a:bodyPr/>
          <a:lstStyle/>
          <a:p>
            <a:fld id="{BC06EAA3-687F-4743-ADBD-74613D0FCAFA}" type="slidenum">
              <a:rPr lang="en-GB" smtClean="0"/>
              <a:t>‹#›</a:t>
            </a:fld>
            <a:endParaRPr lang="en-GB"/>
          </a:p>
        </p:txBody>
      </p:sp>
    </p:spTree>
    <p:extLst>
      <p:ext uri="{BB962C8B-B14F-4D97-AF65-F5344CB8AC3E}">
        <p14:creationId xmlns:p14="http://schemas.microsoft.com/office/powerpoint/2010/main" val="35790449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88BDA-1EA2-F9D9-EECB-A5066C987950}"/>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CDA9C0A-5969-55C4-2348-0BE86F7941F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308DF2-011E-5E7F-2617-7EFA41269D5F}"/>
              </a:ext>
            </a:extLst>
          </p:cNvPr>
          <p:cNvSpPr>
            <a:spLocks noGrp="1"/>
          </p:cNvSpPr>
          <p:nvPr>
            <p:ph type="dt" sz="half" idx="10"/>
          </p:nvPr>
        </p:nvSpPr>
        <p:spPr/>
        <p:txBody>
          <a:bodyPr/>
          <a:lstStyle/>
          <a:p>
            <a:fld id="{4EC26DB7-A06C-42DA-8357-91E3DC55113E}" type="datetimeFigureOut">
              <a:rPr lang="en-GB" smtClean="0"/>
              <a:t>20/11/2025</a:t>
            </a:fld>
            <a:endParaRPr lang="en-GB"/>
          </a:p>
        </p:txBody>
      </p:sp>
      <p:sp>
        <p:nvSpPr>
          <p:cNvPr id="5" name="Footer Placeholder 4">
            <a:extLst>
              <a:ext uri="{FF2B5EF4-FFF2-40B4-BE49-F238E27FC236}">
                <a16:creationId xmlns:a16="http://schemas.microsoft.com/office/drawing/2014/main" id="{0604628F-7ADC-D99C-800C-754AA5A6AB1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621C3D3-B91C-A8D6-ACE0-3135995B6316}"/>
              </a:ext>
            </a:extLst>
          </p:cNvPr>
          <p:cNvSpPr>
            <a:spLocks noGrp="1"/>
          </p:cNvSpPr>
          <p:nvPr>
            <p:ph type="sldNum" sz="quarter" idx="12"/>
          </p:nvPr>
        </p:nvSpPr>
        <p:spPr/>
        <p:txBody>
          <a:bodyPr/>
          <a:lstStyle/>
          <a:p>
            <a:fld id="{BC06EAA3-687F-4743-ADBD-74613D0FCAFA}" type="slidenum">
              <a:rPr lang="en-GB" smtClean="0"/>
              <a:t>‹#›</a:t>
            </a:fld>
            <a:endParaRPr lang="en-GB"/>
          </a:p>
        </p:txBody>
      </p:sp>
    </p:spTree>
    <p:extLst>
      <p:ext uri="{BB962C8B-B14F-4D97-AF65-F5344CB8AC3E}">
        <p14:creationId xmlns:p14="http://schemas.microsoft.com/office/powerpoint/2010/main" val="16894582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36153E-39C9-C19B-8703-267C50354F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E8CCD6B-8F8B-C8D4-D01C-D5BFF7F77E4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06BF384-9A67-29EB-91EF-95AEE009BBBB}"/>
              </a:ext>
            </a:extLst>
          </p:cNvPr>
          <p:cNvSpPr>
            <a:spLocks noGrp="1"/>
          </p:cNvSpPr>
          <p:nvPr>
            <p:ph type="dt" sz="half" idx="10"/>
          </p:nvPr>
        </p:nvSpPr>
        <p:spPr/>
        <p:txBody>
          <a:bodyPr/>
          <a:lstStyle/>
          <a:p>
            <a:fld id="{4EC26DB7-A06C-42DA-8357-91E3DC55113E}" type="datetimeFigureOut">
              <a:rPr lang="en-GB" smtClean="0"/>
              <a:t>20/11/2025</a:t>
            </a:fld>
            <a:endParaRPr lang="en-GB"/>
          </a:p>
        </p:txBody>
      </p:sp>
      <p:sp>
        <p:nvSpPr>
          <p:cNvPr id="5" name="Footer Placeholder 4">
            <a:extLst>
              <a:ext uri="{FF2B5EF4-FFF2-40B4-BE49-F238E27FC236}">
                <a16:creationId xmlns:a16="http://schemas.microsoft.com/office/drawing/2014/main" id="{D7282EB9-5887-4C07-FB1A-79B999B3769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EC8C2A8-AD18-99BC-8C93-08CE3940AA77}"/>
              </a:ext>
            </a:extLst>
          </p:cNvPr>
          <p:cNvSpPr>
            <a:spLocks noGrp="1"/>
          </p:cNvSpPr>
          <p:nvPr>
            <p:ph type="sldNum" sz="quarter" idx="12"/>
          </p:nvPr>
        </p:nvSpPr>
        <p:spPr/>
        <p:txBody>
          <a:bodyPr/>
          <a:lstStyle/>
          <a:p>
            <a:fld id="{BC06EAA3-687F-4743-ADBD-74613D0FCAFA}" type="slidenum">
              <a:rPr lang="en-GB" smtClean="0"/>
              <a:t>‹#›</a:t>
            </a:fld>
            <a:endParaRPr lang="en-GB"/>
          </a:p>
        </p:txBody>
      </p:sp>
    </p:spTree>
    <p:extLst>
      <p:ext uri="{BB962C8B-B14F-4D97-AF65-F5344CB8AC3E}">
        <p14:creationId xmlns:p14="http://schemas.microsoft.com/office/powerpoint/2010/main" val="39958068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rtlCol="0"/>
          <a:lstStyle>
            <a:lvl1pPr marL="0" indent="0" algn="ctr">
              <a:buNone/>
              <a:defRPr/>
            </a:lvl1pPr>
          </a:lstStyle>
          <a:p>
            <a:pPr rtl="0"/>
            <a:r>
              <a:rPr lang="en-US" noProof="0"/>
              <a:t>Click icon to add picture</a:t>
            </a:r>
            <a:endParaRPr lang="en-GB" noProof="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rtlCol="0">
            <a:noAutofit/>
          </a:bodyPr>
          <a:lstStyle>
            <a:lvl1pPr marL="0" indent="0" algn="ctr">
              <a:buNone/>
              <a:defRPr sz="1800" spc="300">
                <a:solidFill>
                  <a:schemeClr val="tx1"/>
                </a:solidFill>
              </a:defRPr>
            </a:lvl1pPr>
            <a:lvl2pPr marL="457200" indent="0">
              <a:buNone/>
              <a:defRPr/>
            </a:lvl2pPr>
          </a:lstStyle>
          <a:p>
            <a:pPr lvl="0" rtl="0"/>
            <a:r>
              <a:rPr lang="en-US" noProof="0"/>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rtlCol="0">
            <a:noAutofit/>
          </a:bodyPr>
          <a:lstStyle>
            <a:lvl1pPr marL="0" indent="0" algn="ctr">
              <a:buNone/>
              <a:defRPr sz="1800" cap="all" baseline="0"/>
            </a:lvl1pPr>
          </a:lstStyle>
          <a:p>
            <a:pPr rtl="0"/>
            <a:r>
              <a:rPr lang="en-GB" spc="300" noProof="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rtlCol="0">
            <a:noAutofit/>
          </a:bodyPr>
          <a:lstStyle>
            <a:lvl1pPr>
              <a:lnSpc>
                <a:spcPct val="150000"/>
              </a:lnSpc>
              <a:spcBef>
                <a:spcPts val="1000"/>
              </a:spcBef>
              <a:defRPr sz="4000" cap="all" spc="300" baseline="0"/>
            </a:lvl1pPr>
          </a:lstStyle>
          <a:p>
            <a:pPr rtl="0"/>
            <a:r>
              <a:rPr lang="en-GB" noProof="0"/>
              <a:t>Click to edit Master TEXT styles</a:t>
            </a:r>
          </a:p>
        </p:txBody>
      </p:sp>
    </p:spTree>
    <p:extLst>
      <p:ext uri="{BB962C8B-B14F-4D97-AF65-F5344CB8AC3E}">
        <p14:creationId xmlns:p14="http://schemas.microsoft.com/office/powerpoint/2010/main" val="2281130389"/>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C958D5-CEB3-C6D6-3808-D142F88117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E097E59-CC47-68C4-01F7-C3E3C49385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5A25303-95B0-FE9E-22F8-A4EC84EAA1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EC26DB7-A06C-42DA-8357-91E3DC55113E}" type="datetimeFigureOut">
              <a:rPr lang="en-GB" smtClean="0"/>
              <a:t>20/11/2025</a:t>
            </a:fld>
            <a:endParaRPr lang="en-GB"/>
          </a:p>
        </p:txBody>
      </p:sp>
      <p:sp>
        <p:nvSpPr>
          <p:cNvPr id="5" name="Footer Placeholder 4">
            <a:extLst>
              <a:ext uri="{FF2B5EF4-FFF2-40B4-BE49-F238E27FC236}">
                <a16:creationId xmlns:a16="http://schemas.microsoft.com/office/drawing/2014/main" id="{C7B7F199-12AD-F274-6EEF-68299C475E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E3A8172B-CE0D-7350-2172-14CC9720E3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06EAA3-687F-4743-ADBD-74613D0FCAFA}" type="slidenum">
              <a:rPr lang="en-GB" smtClean="0"/>
              <a:t>‹#›</a:t>
            </a:fld>
            <a:endParaRPr lang="en-GB"/>
          </a:p>
        </p:txBody>
      </p:sp>
    </p:spTree>
    <p:extLst>
      <p:ext uri="{BB962C8B-B14F-4D97-AF65-F5344CB8AC3E}">
        <p14:creationId xmlns:p14="http://schemas.microsoft.com/office/powerpoint/2010/main" val="35497628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C958D5-CEB3-C6D6-3808-D142F88117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E097E59-CC47-68C4-01F7-C3E3C49385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5A25303-95B0-FE9E-22F8-A4EC84EAA1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EC26DB7-A06C-42DA-8357-91E3DC55113E}" type="datetimeFigureOut">
              <a:rPr lang="en-GB" smtClean="0"/>
              <a:t>20/11/2025</a:t>
            </a:fld>
            <a:endParaRPr lang="en-GB"/>
          </a:p>
        </p:txBody>
      </p:sp>
      <p:sp>
        <p:nvSpPr>
          <p:cNvPr id="5" name="Footer Placeholder 4">
            <a:extLst>
              <a:ext uri="{FF2B5EF4-FFF2-40B4-BE49-F238E27FC236}">
                <a16:creationId xmlns:a16="http://schemas.microsoft.com/office/drawing/2014/main" id="{C7B7F199-12AD-F274-6EEF-68299C475E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E3A8172B-CE0D-7350-2172-14CC9720E3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06EAA3-687F-4743-ADBD-74613D0FCAFA}" type="slidenum">
              <a:rPr lang="en-GB" smtClean="0"/>
              <a:t>‹#›</a:t>
            </a:fld>
            <a:endParaRPr lang="en-GB"/>
          </a:p>
        </p:txBody>
      </p:sp>
    </p:spTree>
    <p:extLst>
      <p:ext uri="{BB962C8B-B14F-4D97-AF65-F5344CB8AC3E}">
        <p14:creationId xmlns:p14="http://schemas.microsoft.com/office/powerpoint/2010/main" val="354976287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svg"/><Relationship Id="rId12"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20.svg"/><Relationship Id="rId5" Type="http://schemas.openxmlformats.org/officeDocument/2006/relationships/image" Target="../media/image14.sv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microsoft.com/office/2007/relationships/hdphoto" Target="../media/hdphoto1.wdp"/></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hyperlink" Target="https://grafana.com/blog/2021/08/17/whats-new-in-grafana-8.1-geomap-panel/?utm_source=chatgpt.com"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2.xml"/><Relationship Id="rId4" Type="http://schemas.microsoft.com/office/2007/relationships/hdphoto" Target="../media/hdphoto1.wdp"/></Relationships>
</file>

<file path=ppt/slides/_rels/slide33.xml.rels><?xml version="1.0" encoding="UTF-8" standalone="yes"?>
<Relationships xmlns="http://schemas.openxmlformats.org/package/2006/relationships"><Relationship Id="rId3" Type="http://schemas.openxmlformats.org/officeDocument/2006/relationships/hyperlink" Target="https://www.datacamp.com/tutorial/random-forests-classifier-python" TargetMode="External"/><Relationship Id="rId2" Type="http://schemas.openxmlformats.org/officeDocument/2006/relationships/hyperlink" Target="https://grafana.com/blog/2021/08/17/whats-new-in-grafana-8.1-geomap-panel/?utm_source=chatgpt.com" TargetMode="External"/><Relationship Id="rId1" Type="http://schemas.openxmlformats.org/officeDocument/2006/relationships/slideLayout" Target="../slideLayouts/slideLayout2.xml"/><Relationship Id="rId4" Type="http://schemas.openxmlformats.org/officeDocument/2006/relationships/hyperlink" Target="https://www.geeksforgeeks.org/machine-learning/svm-hyperparameter-tuning-using-gridsearchcv-ml/" TargetMode="External"/></Relationships>
</file>

<file path=ppt/slides/_rels/slide34.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3">
            <a:alphaModFix amt="52000"/>
            <a:extLst>
              <a:ext uri="{BEBA8EAE-BF5A-486C-A8C5-ECC9F3942E4B}">
                <a14:imgProps xmlns:a14="http://schemas.microsoft.com/office/drawing/2010/main">
                  <a14:imgLayer r:embed="rId4">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6" y="2848231"/>
            <a:ext cx="11490325" cy="823913"/>
          </a:xfrm>
        </p:spPr>
        <p:txBody>
          <a:bodyPr rtlCol="0"/>
          <a:lstStyle/>
          <a:p>
            <a:pPr algn="ctr" rtl="0"/>
            <a:r>
              <a:rPr lang="en-GB"/>
              <a:t>securing </a:t>
            </a:r>
            <a:r>
              <a:rPr lang="en-GB" err="1"/>
              <a:t>iot</a:t>
            </a:r>
            <a:r>
              <a:rPr lang="en-GB"/>
              <a:t> </a:t>
            </a:r>
          </a:p>
        </p:txBody>
      </p:sp>
      <p:sp>
        <p:nvSpPr>
          <p:cNvPr id="3" name="Text Placeholder 2">
            <a:extLst>
              <a:ext uri="{FF2B5EF4-FFF2-40B4-BE49-F238E27FC236}">
                <a16:creationId xmlns:a16="http://schemas.microsoft.com/office/drawing/2014/main" id="{C0AE828D-1E63-455F-949D-0C5454A7FE88}"/>
              </a:ext>
            </a:extLst>
          </p:cNvPr>
          <p:cNvSpPr>
            <a:spLocks noGrp="1"/>
          </p:cNvSpPr>
          <p:nvPr>
            <p:ph type="body" sz="quarter" idx="12"/>
          </p:nvPr>
        </p:nvSpPr>
        <p:spPr/>
        <p:txBody>
          <a:bodyPr rtlCol="0"/>
          <a:lstStyle/>
          <a:p>
            <a:pPr rtl="0"/>
            <a:r>
              <a:rPr lang="en-GB"/>
              <a:t>21.11.25</a:t>
            </a:r>
          </a:p>
        </p:txBody>
      </p:sp>
      <p:sp>
        <p:nvSpPr>
          <p:cNvPr id="5" name="Title 8">
            <a:extLst>
              <a:ext uri="{FF2B5EF4-FFF2-40B4-BE49-F238E27FC236}">
                <a16:creationId xmlns:a16="http://schemas.microsoft.com/office/drawing/2014/main" id="{A22ECAFD-4E19-25C5-D335-F6D0771C2D5B}"/>
              </a:ext>
            </a:extLst>
          </p:cNvPr>
          <p:cNvSpPr txBox="1">
            <a:spLocks/>
          </p:cNvSpPr>
          <p:nvPr/>
        </p:nvSpPr>
        <p:spPr>
          <a:xfrm>
            <a:off x="350836" y="3476866"/>
            <a:ext cx="11490325" cy="823913"/>
          </a:xfrm>
          <a:prstGeom prst="rect">
            <a:avLst/>
          </a:prstGeom>
        </p:spPr>
        <p:txBody>
          <a:bodyPr vert="horz" lIns="91440" tIns="45720" rIns="91440" bIns="45720" rtlCol="0" anchor="ctr">
            <a:noAutofit/>
          </a:bodyPr>
          <a:lstStyle>
            <a:lvl1pPr algn="ctr" defTabSz="914400" rtl="0" eaLnBrk="1" latinLnBrk="0" hangingPunct="1">
              <a:lnSpc>
                <a:spcPct val="150000"/>
              </a:lnSpc>
              <a:spcBef>
                <a:spcPts val="1000"/>
              </a:spcBef>
              <a:buNone/>
              <a:defRPr sz="4000" kern="1200" cap="all" spc="300" baseline="0">
                <a:solidFill>
                  <a:schemeClr val="tx1"/>
                </a:solidFill>
                <a:latin typeface="+mj-lt"/>
                <a:ea typeface="+mj-ea"/>
                <a:cs typeface="+mj-cs"/>
              </a:defRPr>
            </a:lvl1pPr>
          </a:lstStyle>
          <a:p>
            <a:r>
              <a:rPr lang="en-GB" sz="2000"/>
              <a:t>Human activity recognition</a:t>
            </a:r>
            <a:endParaRPr lang="en-US"/>
          </a:p>
        </p:txBody>
      </p:sp>
    </p:spTree>
    <p:extLst>
      <p:ext uri="{BB962C8B-B14F-4D97-AF65-F5344CB8AC3E}">
        <p14:creationId xmlns:p14="http://schemas.microsoft.com/office/powerpoint/2010/main" val="3927832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30CA39-B2F1-41D6-435D-313549E4104A}"/>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CBC2AA32-7E8B-8EF7-E441-85FD00813B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94B7EC-C34B-A86F-E3D3-6934D1CA3FB2}"/>
              </a:ext>
            </a:extLst>
          </p:cNvPr>
          <p:cNvSpPr>
            <a:spLocks noGrp="1"/>
          </p:cNvSpPr>
          <p:nvPr>
            <p:ph type="title"/>
          </p:nvPr>
        </p:nvSpPr>
        <p:spPr>
          <a:xfrm>
            <a:off x="1156851" y="637762"/>
            <a:ext cx="9888496" cy="900131"/>
          </a:xfrm>
        </p:spPr>
        <p:txBody>
          <a:bodyPr anchor="t">
            <a:normAutofit/>
          </a:bodyPr>
          <a:lstStyle/>
          <a:p>
            <a:r>
              <a:rPr lang="en-GB" sz="4000">
                <a:solidFill>
                  <a:schemeClr val="bg1"/>
                </a:solidFill>
              </a:rPr>
              <a:t>What is IoT</a:t>
            </a:r>
            <a:endParaRPr lang="en-US"/>
          </a:p>
        </p:txBody>
      </p:sp>
      <p:sp>
        <p:nvSpPr>
          <p:cNvPr id="10" name="Rectangle 9">
            <a:extLst>
              <a:ext uri="{FF2B5EF4-FFF2-40B4-BE49-F238E27FC236}">
                <a16:creationId xmlns:a16="http://schemas.microsoft.com/office/drawing/2014/main" id="{6BC1B759-5AEF-9B0B-0D91-A753F57653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091956C-25E9-56C4-454F-4108B354A6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0690682-DE64-8A38-0AAD-6DB51A6CB4A2}"/>
              </a:ext>
            </a:extLst>
          </p:cNvPr>
          <p:cNvSpPr>
            <a:spLocks noGrp="1"/>
          </p:cNvSpPr>
          <p:nvPr>
            <p:ph idx="1"/>
          </p:nvPr>
        </p:nvSpPr>
        <p:spPr>
          <a:xfrm>
            <a:off x="867224" y="2443884"/>
            <a:ext cx="9880893" cy="3959619"/>
          </a:xfrm>
        </p:spPr>
        <p:txBody>
          <a:bodyPr vert="horz" lIns="91440" tIns="45720" rIns="91440" bIns="45720" rtlCol="0" anchor="t">
            <a:normAutofit/>
          </a:bodyPr>
          <a:lstStyle/>
          <a:p>
            <a:pPr marL="0" indent="0">
              <a:buNone/>
            </a:pPr>
            <a:endParaRPr lang="en-GB"/>
          </a:p>
          <a:p>
            <a:pPr marL="0" indent="0">
              <a:buNone/>
            </a:pPr>
            <a:r>
              <a:rPr lang="en-GB" sz="2400"/>
              <a:t>Internet of Things realises an adaptive complex network that connects devices, or "things" to the internet via standard communication protocols.</a:t>
            </a:r>
          </a:p>
          <a:p>
            <a:pPr marL="0" indent="0">
              <a:buNone/>
            </a:pPr>
            <a:endParaRPr lang="en-GB" sz="2400"/>
          </a:p>
          <a:p>
            <a:pPr marL="0" indent="0">
              <a:buNone/>
            </a:pPr>
            <a:r>
              <a:rPr lang="en-GB" sz="2400"/>
              <a:t>IoT utilises a level of digital intelligence, using sensors and mechanisms to interact with the environment to communicate real-time data.</a:t>
            </a:r>
          </a:p>
        </p:txBody>
      </p:sp>
      <p:sp>
        <p:nvSpPr>
          <p:cNvPr id="5" name="Slide Number Placeholder 4">
            <a:extLst>
              <a:ext uri="{FF2B5EF4-FFF2-40B4-BE49-F238E27FC236}">
                <a16:creationId xmlns:a16="http://schemas.microsoft.com/office/drawing/2014/main" id="{1E84626D-D27A-067F-BD55-A23B056E2B0B}"/>
              </a:ext>
            </a:extLst>
          </p:cNvPr>
          <p:cNvSpPr>
            <a:spLocks noGrp="1"/>
          </p:cNvSpPr>
          <p:nvPr>
            <p:ph type="sldNum" sz="quarter" idx="12"/>
          </p:nvPr>
        </p:nvSpPr>
        <p:spPr/>
        <p:txBody>
          <a:bodyPr/>
          <a:lstStyle/>
          <a:p>
            <a:fld id="{BC06EAA3-687F-4743-ADBD-74613D0FCAFA}" type="slidenum">
              <a:rPr lang="en-GB" smtClean="0"/>
              <a:t>2</a:t>
            </a:fld>
            <a:endParaRPr lang="en-GB"/>
          </a:p>
        </p:txBody>
      </p:sp>
    </p:spTree>
    <p:extLst>
      <p:ext uri="{BB962C8B-B14F-4D97-AF65-F5344CB8AC3E}">
        <p14:creationId xmlns:p14="http://schemas.microsoft.com/office/powerpoint/2010/main" val="34008956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57DB84C-2EF7-898B-2CFA-29D0A6AE31E1}"/>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D3CACE94-0347-FD0B-86FE-0975250C4E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CA831C2-F241-5313-E326-1B6672AB1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E59538-6DE8-6B8B-0616-CE7B78F35BB5}"/>
              </a:ext>
            </a:extLst>
          </p:cNvPr>
          <p:cNvSpPr>
            <a:spLocks noGrp="1"/>
          </p:cNvSpPr>
          <p:nvPr>
            <p:ph type="title"/>
          </p:nvPr>
        </p:nvSpPr>
        <p:spPr>
          <a:xfrm>
            <a:off x="1156851" y="637762"/>
            <a:ext cx="9888496" cy="900131"/>
          </a:xfrm>
        </p:spPr>
        <p:txBody>
          <a:bodyPr anchor="t">
            <a:normAutofit/>
          </a:bodyPr>
          <a:lstStyle/>
          <a:p>
            <a:r>
              <a:rPr lang="en-GB" sz="4000">
                <a:solidFill>
                  <a:schemeClr val="bg1"/>
                </a:solidFill>
              </a:rPr>
              <a:t>Benefits of IoT</a:t>
            </a:r>
            <a:endParaRPr lang="en-US"/>
          </a:p>
        </p:txBody>
      </p:sp>
      <p:sp>
        <p:nvSpPr>
          <p:cNvPr id="12" name="Rectangle 11">
            <a:extLst>
              <a:ext uri="{FF2B5EF4-FFF2-40B4-BE49-F238E27FC236}">
                <a16:creationId xmlns:a16="http://schemas.microsoft.com/office/drawing/2014/main" id="{D4DB701C-24C3-056B-5E23-0F4533BB53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1F3E50D-AC2A-2FB2-1BDA-69CE7AB8EB53}"/>
              </a:ext>
            </a:extLst>
          </p:cNvPr>
          <p:cNvSpPr>
            <a:spLocks noGrp="1"/>
          </p:cNvSpPr>
          <p:nvPr>
            <p:ph idx="1"/>
          </p:nvPr>
        </p:nvSpPr>
        <p:spPr>
          <a:xfrm>
            <a:off x="867224" y="2443884"/>
            <a:ext cx="9880893" cy="3959619"/>
          </a:xfrm>
        </p:spPr>
        <p:txBody>
          <a:bodyPr vert="horz" lIns="91440" tIns="45720" rIns="91440" bIns="45720" rtlCol="0" anchor="t">
            <a:normAutofit/>
          </a:bodyPr>
          <a:lstStyle/>
          <a:p>
            <a:endParaRPr lang="en-GB"/>
          </a:p>
          <a:p>
            <a:endParaRPr lang="en-GB"/>
          </a:p>
          <a:p>
            <a:endParaRPr lang="en-GB"/>
          </a:p>
          <a:p>
            <a:endParaRPr lang="en-GB" sz="2400"/>
          </a:p>
        </p:txBody>
      </p:sp>
      <p:sp>
        <p:nvSpPr>
          <p:cNvPr id="4" name="Slide Number Placeholder 3">
            <a:extLst>
              <a:ext uri="{FF2B5EF4-FFF2-40B4-BE49-F238E27FC236}">
                <a16:creationId xmlns:a16="http://schemas.microsoft.com/office/drawing/2014/main" id="{CE46D6A8-4819-02F2-806A-5D7B670C93D6}"/>
              </a:ext>
            </a:extLst>
          </p:cNvPr>
          <p:cNvSpPr>
            <a:spLocks noGrp="1"/>
          </p:cNvSpPr>
          <p:nvPr>
            <p:ph type="sldNum" sz="quarter" idx="12"/>
          </p:nvPr>
        </p:nvSpPr>
        <p:spPr/>
        <p:txBody>
          <a:bodyPr/>
          <a:lstStyle/>
          <a:p>
            <a:fld id="{BC06EAA3-687F-4743-ADBD-74613D0FCAFA}" type="slidenum">
              <a:rPr lang="en-GB" smtClean="0"/>
              <a:t>3</a:t>
            </a:fld>
            <a:endParaRPr lang="en-GB"/>
          </a:p>
        </p:txBody>
      </p:sp>
      <p:sp>
        <p:nvSpPr>
          <p:cNvPr id="9" name="Content Placeholder 2">
            <a:extLst>
              <a:ext uri="{FF2B5EF4-FFF2-40B4-BE49-F238E27FC236}">
                <a16:creationId xmlns:a16="http://schemas.microsoft.com/office/drawing/2014/main" id="{7FD7A177-4D4A-1ACB-05A9-5347EBF32291}"/>
              </a:ext>
            </a:extLst>
          </p:cNvPr>
          <p:cNvSpPr txBox="1">
            <a:spLocks/>
          </p:cNvSpPr>
          <p:nvPr/>
        </p:nvSpPr>
        <p:spPr>
          <a:xfrm>
            <a:off x="1019624" y="2596284"/>
            <a:ext cx="9880893" cy="395961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en-GB"/>
              <a:t>Customer Experience Improvement</a:t>
            </a:r>
            <a:endParaRPr lang="en-US"/>
          </a:p>
          <a:p>
            <a:pPr marL="457200" indent="-457200"/>
            <a:r>
              <a:rPr lang="en-GB"/>
              <a:t>Data Collection</a:t>
            </a:r>
            <a:endParaRPr lang="en-US"/>
          </a:p>
          <a:p>
            <a:pPr marL="457200" indent="-457200"/>
            <a:r>
              <a:rPr lang="en-GB"/>
              <a:t>Predictive Maintenance</a:t>
            </a:r>
          </a:p>
          <a:p>
            <a:pPr marL="457200" indent="-457200"/>
            <a:r>
              <a:rPr lang="en-GB"/>
              <a:t>Cost Reduction</a:t>
            </a:r>
          </a:p>
          <a:p>
            <a:pPr marL="457200" indent="-457200"/>
            <a:r>
              <a:rPr lang="en-GB"/>
              <a:t>Productivity Increase</a:t>
            </a:r>
          </a:p>
          <a:p>
            <a:pPr marL="457200" indent="-457200"/>
            <a:endParaRPr lang="en-GB"/>
          </a:p>
          <a:p>
            <a:pPr marL="0" indent="0">
              <a:buNone/>
            </a:pPr>
            <a:endParaRPr lang="en-GB" sz="2400"/>
          </a:p>
        </p:txBody>
      </p:sp>
    </p:spTree>
    <p:extLst>
      <p:ext uri="{BB962C8B-B14F-4D97-AF65-F5344CB8AC3E}">
        <p14:creationId xmlns:p14="http://schemas.microsoft.com/office/powerpoint/2010/main" val="2538087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7801FC-5ED1-3AF9-F6C9-E2612ADA0CFA}"/>
              </a:ext>
            </a:extLst>
          </p:cNvPr>
          <p:cNvSpPr>
            <a:spLocks noGrp="1"/>
          </p:cNvSpPr>
          <p:nvPr>
            <p:ph type="title"/>
          </p:nvPr>
        </p:nvSpPr>
        <p:spPr>
          <a:xfrm>
            <a:off x="1156851" y="637762"/>
            <a:ext cx="9888496" cy="900131"/>
          </a:xfrm>
        </p:spPr>
        <p:txBody>
          <a:bodyPr anchor="t">
            <a:normAutofit/>
          </a:bodyPr>
          <a:lstStyle/>
          <a:p>
            <a:r>
              <a:rPr lang="en-GB" sz="4000">
                <a:solidFill>
                  <a:schemeClr val="bg1"/>
                </a:solidFill>
              </a:rPr>
              <a:t>The Idea</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8B2E77E-5D71-8EC2-7DD9-E4795AF5AE1F}"/>
              </a:ext>
            </a:extLst>
          </p:cNvPr>
          <p:cNvSpPr>
            <a:spLocks noGrp="1"/>
          </p:cNvSpPr>
          <p:nvPr>
            <p:ph idx="1"/>
          </p:nvPr>
        </p:nvSpPr>
        <p:spPr>
          <a:xfrm>
            <a:off x="867224" y="2443884"/>
            <a:ext cx="9880893" cy="3959619"/>
          </a:xfrm>
        </p:spPr>
        <p:txBody>
          <a:bodyPr vert="horz" lIns="91440" tIns="45720" rIns="91440" bIns="45720" rtlCol="0" anchor="t">
            <a:normAutofit/>
          </a:bodyPr>
          <a:lstStyle/>
          <a:p>
            <a:r>
              <a:rPr lang="en-GB" sz="2400"/>
              <a:t>IoT Devices have sensors to provide LOADS of data</a:t>
            </a:r>
          </a:p>
          <a:p>
            <a:r>
              <a:rPr lang="en-GB" sz="2400"/>
              <a:t>Data can be leveraged for surveillance purposes </a:t>
            </a:r>
          </a:p>
          <a:p>
            <a:r>
              <a:rPr lang="en-GB" sz="2400"/>
              <a:t>Prevent major crime</a:t>
            </a:r>
          </a:p>
          <a:p>
            <a:r>
              <a:rPr lang="en-GB" sz="2400"/>
              <a:t>Idea comes from anti-terrorism  </a:t>
            </a:r>
          </a:p>
          <a:p>
            <a:endParaRPr lang="en-GB" sz="2400"/>
          </a:p>
          <a:p>
            <a:endParaRPr lang="en-GB" sz="2400"/>
          </a:p>
        </p:txBody>
      </p:sp>
      <p:pic>
        <p:nvPicPr>
          <p:cNvPr id="5" name="Graphic 4" descr="Security Camera Sign">
            <a:extLst>
              <a:ext uri="{FF2B5EF4-FFF2-40B4-BE49-F238E27FC236}">
                <a16:creationId xmlns:a16="http://schemas.microsoft.com/office/drawing/2014/main" id="{0D8E1490-5070-D2A3-56F3-C8730114699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32477" y="3164862"/>
            <a:ext cx="3620021" cy="3620021"/>
          </a:xfrm>
          <a:prstGeom prst="rect">
            <a:avLst/>
          </a:prstGeom>
        </p:spPr>
      </p:pic>
      <p:sp>
        <p:nvSpPr>
          <p:cNvPr id="4" name="Slide Number Placeholder 3">
            <a:extLst>
              <a:ext uri="{FF2B5EF4-FFF2-40B4-BE49-F238E27FC236}">
                <a16:creationId xmlns:a16="http://schemas.microsoft.com/office/drawing/2014/main" id="{9DD97708-5085-6B37-BB06-BA87B255B7F2}"/>
              </a:ext>
            </a:extLst>
          </p:cNvPr>
          <p:cNvSpPr>
            <a:spLocks noGrp="1"/>
          </p:cNvSpPr>
          <p:nvPr>
            <p:ph type="sldNum" sz="quarter" idx="12"/>
          </p:nvPr>
        </p:nvSpPr>
        <p:spPr/>
        <p:txBody>
          <a:bodyPr/>
          <a:lstStyle/>
          <a:p>
            <a:fld id="{BC06EAA3-687F-4743-ADBD-74613D0FCAFA}" type="slidenum">
              <a:rPr lang="en-GB" smtClean="0"/>
              <a:t>4</a:t>
            </a:fld>
            <a:endParaRPr lang="en-GB"/>
          </a:p>
        </p:txBody>
      </p:sp>
    </p:spTree>
    <p:extLst>
      <p:ext uri="{BB962C8B-B14F-4D97-AF65-F5344CB8AC3E}">
        <p14:creationId xmlns:p14="http://schemas.microsoft.com/office/powerpoint/2010/main" val="20810463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C3E57A-483E-F966-BF0C-6D1E780CF462}"/>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C8071BF-D3B1-3230-DA73-E687A324A6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848621-5479-EFC4-BAEE-231E90FA8FD7}"/>
              </a:ext>
            </a:extLst>
          </p:cNvPr>
          <p:cNvSpPr>
            <a:spLocks noGrp="1"/>
          </p:cNvSpPr>
          <p:nvPr>
            <p:ph type="title"/>
          </p:nvPr>
        </p:nvSpPr>
        <p:spPr>
          <a:xfrm>
            <a:off x="1156851" y="637762"/>
            <a:ext cx="9888496" cy="900131"/>
          </a:xfrm>
        </p:spPr>
        <p:txBody>
          <a:bodyPr anchor="t">
            <a:normAutofit/>
          </a:bodyPr>
          <a:lstStyle/>
          <a:p>
            <a:r>
              <a:rPr lang="en-GB" sz="4000">
                <a:solidFill>
                  <a:schemeClr val="bg1"/>
                </a:solidFill>
              </a:rPr>
              <a:t>Phases</a:t>
            </a:r>
          </a:p>
        </p:txBody>
      </p:sp>
      <p:sp>
        <p:nvSpPr>
          <p:cNvPr id="10" name="Rectangle 9">
            <a:extLst>
              <a:ext uri="{FF2B5EF4-FFF2-40B4-BE49-F238E27FC236}">
                <a16:creationId xmlns:a16="http://schemas.microsoft.com/office/drawing/2014/main" id="{8ECD1180-552A-ED87-E893-2267611C01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09A51AF-D029-FE55-F678-9BEE7D42D1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05AAEA97-CA1B-B747-D158-531BA95177B1}"/>
              </a:ext>
            </a:extLst>
          </p:cNvPr>
          <p:cNvGraphicFramePr>
            <a:graphicFrameLocks noGrp="1"/>
          </p:cNvGraphicFramePr>
          <p:nvPr>
            <p:ph idx="1"/>
            <p:extLst>
              <p:ext uri="{D42A27DB-BD31-4B8C-83A1-F6EECF244321}">
                <p14:modId xmlns:p14="http://schemas.microsoft.com/office/powerpoint/2010/main" val="687517237"/>
              </p:ext>
            </p:extLst>
          </p:nvPr>
        </p:nvGraphicFramePr>
        <p:xfrm>
          <a:off x="547688" y="2133600"/>
          <a:ext cx="11093450" cy="41576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5" name="Slide Number Placeholder 24">
            <a:extLst>
              <a:ext uri="{FF2B5EF4-FFF2-40B4-BE49-F238E27FC236}">
                <a16:creationId xmlns:a16="http://schemas.microsoft.com/office/drawing/2014/main" id="{FC1C66C8-223E-670D-BA54-0368C7A0AD7F}"/>
              </a:ext>
            </a:extLst>
          </p:cNvPr>
          <p:cNvSpPr>
            <a:spLocks noGrp="1"/>
          </p:cNvSpPr>
          <p:nvPr>
            <p:ph type="sldNum" sz="quarter" idx="12"/>
          </p:nvPr>
        </p:nvSpPr>
        <p:spPr/>
        <p:txBody>
          <a:bodyPr/>
          <a:lstStyle/>
          <a:p>
            <a:fld id="{BC06EAA3-687F-4743-ADBD-74613D0FCAFA}" type="slidenum">
              <a:rPr lang="en-GB" smtClean="0"/>
              <a:t>5</a:t>
            </a:fld>
            <a:endParaRPr lang="en-GB"/>
          </a:p>
        </p:txBody>
      </p:sp>
    </p:spTree>
    <p:extLst>
      <p:ext uri="{BB962C8B-B14F-4D97-AF65-F5344CB8AC3E}">
        <p14:creationId xmlns:p14="http://schemas.microsoft.com/office/powerpoint/2010/main" val="3494004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840A4A-B28B-1B5A-0373-D49AB743724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C4468A65-EF45-479F-57C3-0ECC503882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A08DCA-36DC-D7CB-92D1-5ADC27A6591B}"/>
              </a:ext>
            </a:extLst>
          </p:cNvPr>
          <p:cNvSpPr>
            <a:spLocks noGrp="1"/>
          </p:cNvSpPr>
          <p:nvPr>
            <p:ph type="title"/>
          </p:nvPr>
        </p:nvSpPr>
        <p:spPr>
          <a:xfrm>
            <a:off x="1156851" y="637762"/>
            <a:ext cx="9888496" cy="900131"/>
          </a:xfrm>
        </p:spPr>
        <p:txBody>
          <a:bodyPr anchor="t">
            <a:normAutofit/>
          </a:bodyPr>
          <a:lstStyle/>
          <a:p>
            <a:r>
              <a:rPr lang="en-GB" sz="4000">
                <a:solidFill>
                  <a:schemeClr val="bg1"/>
                </a:solidFill>
              </a:rPr>
              <a:t>Project Management</a:t>
            </a:r>
            <a:endParaRPr lang="en-US"/>
          </a:p>
        </p:txBody>
      </p:sp>
      <p:sp>
        <p:nvSpPr>
          <p:cNvPr id="10" name="Rectangle 9">
            <a:extLst>
              <a:ext uri="{FF2B5EF4-FFF2-40B4-BE49-F238E27FC236}">
                <a16:creationId xmlns:a16="http://schemas.microsoft.com/office/drawing/2014/main" id="{4167805B-908C-F685-2C45-AE37B3E7E9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10FA2D7-F062-6827-44D9-EF547A2B6B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Content Placeholder 16">
            <a:extLst>
              <a:ext uri="{FF2B5EF4-FFF2-40B4-BE49-F238E27FC236}">
                <a16:creationId xmlns:a16="http://schemas.microsoft.com/office/drawing/2014/main" id="{C1EA0870-ECDE-D92C-D595-EECCC725463B}"/>
              </a:ext>
            </a:extLst>
          </p:cNvPr>
          <p:cNvSpPr>
            <a:spLocks noGrp="1"/>
          </p:cNvSpPr>
          <p:nvPr>
            <p:ph idx="1"/>
          </p:nvPr>
        </p:nvSpPr>
        <p:spPr>
          <a:xfrm>
            <a:off x="295224" y="2207225"/>
            <a:ext cx="10515600" cy="4351338"/>
          </a:xfrm>
        </p:spPr>
        <p:txBody>
          <a:bodyPr vert="horz" lIns="91440" tIns="45720" rIns="91440" bIns="45720" rtlCol="0" anchor="t">
            <a:normAutofit lnSpcReduction="10000"/>
          </a:bodyPr>
          <a:lstStyle/>
          <a:p>
            <a:pPr marL="0" indent="0">
              <a:buNone/>
            </a:pPr>
            <a:r>
              <a:rPr lang="en-GB" sz="2000"/>
              <a:t>The project has been split up with 'Leads’:</a:t>
            </a:r>
            <a:endParaRPr lang="en-US" sz="2000"/>
          </a:p>
          <a:p>
            <a:r>
              <a:rPr lang="en-GB" sz="2000"/>
              <a:t>ML/DL Lead</a:t>
            </a:r>
          </a:p>
          <a:p>
            <a:r>
              <a:rPr lang="en-GB" sz="2000"/>
              <a:t>Data collection Lead</a:t>
            </a:r>
          </a:p>
          <a:p>
            <a:r>
              <a:rPr lang="en-GB" sz="2000"/>
              <a:t>Results &amp; Visualisation Lead</a:t>
            </a:r>
          </a:p>
          <a:p>
            <a:r>
              <a:rPr lang="en-GB" sz="2000">
                <a:ea typeface="+mn-lt"/>
                <a:cs typeface="+mn-lt"/>
              </a:rPr>
              <a:t>Ethics &amp; Security Lead</a:t>
            </a:r>
          </a:p>
          <a:p>
            <a:r>
              <a:rPr lang="en-GB" sz="2000">
                <a:ea typeface="+mn-lt"/>
                <a:cs typeface="+mn-lt"/>
              </a:rPr>
              <a:t>Documentation Lead</a:t>
            </a:r>
          </a:p>
          <a:p>
            <a:pPr marL="457200" lvl="1" indent="0">
              <a:buNone/>
            </a:pPr>
            <a:endParaRPr lang="en-GB" sz="2000">
              <a:ea typeface="+mn-lt"/>
              <a:cs typeface="+mn-lt"/>
            </a:endParaRPr>
          </a:p>
          <a:p>
            <a:pPr marL="457200" lvl="1" indent="0">
              <a:buNone/>
            </a:pPr>
            <a:endParaRPr lang="en-GB" sz="2000">
              <a:ea typeface="+mn-lt"/>
              <a:cs typeface="+mn-lt"/>
            </a:endParaRPr>
          </a:p>
          <a:p>
            <a:pPr marL="457200" lvl="1" indent="0">
              <a:buNone/>
            </a:pPr>
            <a:endParaRPr lang="en-GB" sz="2000">
              <a:ea typeface="+mn-lt"/>
              <a:cs typeface="+mn-lt"/>
            </a:endParaRPr>
          </a:p>
          <a:p>
            <a:pPr marL="457200" lvl="1" indent="0">
              <a:buNone/>
            </a:pPr>
            <a:endParaRPr lang="en-GB" sz="2000">
              <a:ea typeface="+mn-lt"/>
              <a:cs typeface="+mn-lt"/>
            </a:endParaRPr>
          </a:p>
          <a:p>
            <a:pPr marL="0" indent="0" algn="ctr">
              <a:buNone/>
            </a:pPr>
            <a:r>
              <a:rPr lang="en-GB" sz="2000">
                <a:ea typeface="+mn-lt"/>
                <a:cs typeface="+mn-lt"/>
              </a:rPr>
              <a:t>All members still had to participate in each other’s activities</a:t>
            </a:r>
            <a:endParaRPr lang="en-GB" sz="2000"/>
          </a:p>
          <a:p>
            <a:pPr marL="0" indent="0" algn="ctr">
              <a:buNone/>
            </a:pPr>
            <a:r>
              <a:rPr lang="en-GB" sz="2000"/>
              <a:t>Progress was tracked via GitHub</a:t>
            </a:r>
          </a:p>
          <a:p>
            <a:endParaRPr lang="en-GB" sz="2400"/>
          </a:p>
        </p:txBody>
      </p:sp>
      <p:sp>
        <p:nvSpPr>
          <p:cNvPr id="3" name="Slide Number Placeholder 2">
            <a:extLst>
              <a:ext uri="{FF2B5EF4-FFF2-40B4-BE49-F238E27FC236}">
                <a16:creationId xmlns:a16="http://schemas.microsoft.com/office/drawing/2014/main" id="{FF9B2D9A-0807-8556-670D-63C4FB200525}"/>
              </a:ext>
            </a:extLst>
          </p:cNvPr>
          <p:cNvSpPr>
            <a:spLocks noGrp="1"/>
          </p:cNvSpPr>
          <p:nvPr>
            <p:ph type="sldNum" sz="quarter" idx="12"/>
          </p:nvPr>
        </p:nvSpPr>
        <p:spPr/>
        <p:txBody>
          <a:bodyPr/>
          <a:lstStyle/>
          <a:p>
            <a:fld id="{BC06EAA3-687F-4743-ADBD-74613D0FCAFA}" type="slidenum">
              <a:rPr lang="en-GB" smtClean="0"/>
              <a:t>6</a:t>
            </a:fld>
            <a:endParaRPr lang="en-GB"/>
          </a:p>
        </p:txBody>
      </p:sp>
      <p:pic>
        <p:nvPicPr>
          <p:cNvPr id="4" name="Picture 3" descr="A graph with blue squares&#10;&#10;AI-generated content may be incorrect.">
            <a:extLst>
              <a:ext uri="{FF2B5EF4-FFF2-40B4-BE49-F238E27FC236}">
                <a16:creationId xmlns:a16="http://schemas.microsoft.com/office/drawing/2014/main" id="{91E3CC9D-8D91-EBFC-0CAD-963079E97E8D}"/>
              </a:ext>
            </a:extLst>
          </p:cNvPr>
          <p:cNvPicPr>
            <a:picLocks noChangeAspect="1"/>
          </p:cNvPicPr>
          <p:nvPr/>
        </p:nvPicPr>
        <p:blipFill>
          <a:blip r:embed="rId3"/>
          <a:stretch>
            <a:fillRect/>
          </a:stretch>
        </p:blipFill>
        <p:spPr>
          <a:xfrm>
            <a:off x="4897697" y="2752794"/>
            <a:ext cx="6999079" cy="2539402"/>
          </a:xfrm>
          <a:prstGeom prst="rect">
            <a:avLst/>
          </a:prstGeom>
        </p:spPr>
      </p:pic>
    </p:spTree>
    <p:extLst>
      <p:ext uri="{BB962C8B-B14F-4D97-AF65-F5344CB8AC3E}">
        <p14:creationId xmlns:p14="http://schemas.microsoft.com/office/powerpoint/2010/main" val="34704997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7C6EB-9D6A-9EC3-F474-F8358397EE32}"/>
            </a:ext>
          </a:extLst>
        </p:cNvPr>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5F9D8F5B-32EC-9F07-952D-865E5D4A4CA7}"/>
              </a:ext>
            </a:extLst>
          </p:cNvPr>
          <p:cNvPicPr>
            <a:picLocks noGrp="1" noChangeAspect="1"/>
          </p:cNvPicPr>
          <p:nvPr>
            <p:ph type="pic" sz="quarter" idx="10"/>
          </p:nvPr>
        </p:nvPicPr>
        <p:blipFill rotWithShape="1">
          <a:blip r:embed="rId3">
            <a:alphaModFix amt="52000"/>
            <a:extLst>
              <a:ext uri="{BEBA8EAE-BF5A-486C-A8C5-ECC9F3942E4B}">
                <a14:imgProps xmlns:a14="http://schemas.microsoft.com/office/drawing/2010/main">
                  <a14:imgLayer r:embed="rId4">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94FA1309-44D0-B824-FA07-F764C7B20DF6}"/>
              </a:ext>
            </a:extLst>
          </p:cNvPr>
          <p:cNvSpPr>
            <a:spLocks noGrp="1"/>
          </p:cNvSpPr>
          <p:nvPr>
            <p:ph type="title"/>
          </p:nvPr>
        </p:nvSpPr>
        <p:spPr>
          <a:xfrm>
            <a:off x="350836" y="2848231"/>
            <a:ext cx="11490325" cy="823913"/>
          </a:xfrm>
        </p:spPr>
        <p:txBody>
          <a:bodyPr rtlCol="0"/>
          <a:lstStyle/>
          <a:p>
            <a:pPr algn="ctr"/>
            <a:r>
              <a:rPr lang="en-GB"/>
              <a:t>Data collection</a:t>
            </a:r>
            <a:endParaRPr lang="en-US"/>
          </a:p>
        </p:txBody>
      </p:sp>
      <p:sp>
        <p:nvSpPr>
          <p:cNvPr id="13" name="Text Placeholder 12">
            <a:extLst>
              <a:ext uri="{FF2B5EF4-FFF2-40B4-BE49-F238E27FC236}">
                <a16:creationId xmlns:a16="http://schemas.microsoft.com/office/drawing/2014/main" id="{5C68794C-77F5-8516-5706-5D4600BBDDBE}"/>
              </a:ext>
            </a:extLst>
          </p:cNvPr>
          <p:cNvSpPr>
            <a:spLocks noGrp="1"/>
          </p:cNvSpPr>
          <p:nvPr>
            <p:ph type="body" sz="quarter" idx="12"/>
          </p:nvPr>
        </p:nvSpPr>
        <p:spPr/>
        <p:txBody>
          <a:bodyPr/>
          <a:lstStyle/>
          <a:p>
            <a:endParaRPr lang="en-GB"/>
          </a:p>
        </p:txBody>
      </p:sp>
    </p:spTree>
    <p:extLst>
      <p:ext uri="{BB962C8B-B14F-4D97-AF65-F5344CB8AC3E}">
        <p14:creationId xmlns:p14="http://schemas.microsoft.com/office/powerpoint/2010/main" val="1498300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C91238-7060-600C-D304-DB7167A2BB1A}"/>
              </a:ext>
            </a:extLst>
          </p:cNvPr>
          <p:cNvSpPr>
            <a:spLocks noGrp="1"/>
          </p:cNvSpPr>
          <p:nvPr>
            <p:ph type="title"/>
          </p:nvPr>
        </p:nvSpPr>
        <p:spPr>
          <a:xfrm>
            <a:off x="1156851" y="637762"/>
            <a:ext cx="9888496" cy="900131"/>
          </a:xfrm>
        </p:spPr>
        <p:txBody>
          <a:bodyPr anchor="t">
            <a:normAutofit/>
          </a:bodyPr>
          <a:lstStyle/>
          <a:p>
            <a:r>
              <a:rPr lang="en-GB" sz="4000">
                <a:solidFill>
                  <a:schemeClr val="bg1"/>
                </a:solidFill>
              </a:rPr>
              <a:t>How the data was collected</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813B594-8809-E4F2-2C46-F55F60405CCB}"/>
              </a:ext>
            </a:extLst>
          </p:cNvPr>
          <p:cNvSpPr>
            <a:spLocks noGrp="1"/>
          </p:cNvSpPr>
          <p:nvPr>
            <p:ph idx="1"/>
          </p:nvPr>
        </p:nvSpPr>
        <p:spPr>
          <a:xfrm>
            <a:off x="1155548" y="2217343"/>
            <a:ext cx="9880893" cy="3959619"/>
          </a:xfrm>
        </p:spPr>
        <p:txBody>
          <a:bodyPr vert="horz" lIns="91440" tIns="45720" rIns="91440" bIns="45720" rtlCol="0" anchor="t">
            <a:normAutofit/>
          </a:bodyPr>
          <a:lstStyle/>
          <a:p>
            <a:pPr marL="0" indent="0">
              <a:buNone/>
            </a:pPr>
            <a:r>
              <a:rPr lang="en-GB" sz="2400"/>
              <a:t>Data was gathered through 6 phones using the Tracks logger (Apple) and GPS logger (Android) apps.</a:t>
            </a:r>
          </a:p>
          <a:p>
            <a:pPr marL="0" indent="0">
              <a:buNone/>
            </a:pPr>
            <a:endParaRPr lang="en-GB" sz="2400"/>
          </a:p>
          <a:p>
            <a:pPr marL="0" indent="0">
              <a:buNone/>
            </a:pPr>
            <a:r>
              <a:rPr lang="en-GB" sz="2400"/>
              <a:t>The activities recorded include sitting, walking, running, driving and train travel.</a:t>
            </a:r>
          </a:p>
          <a:p>
            <a:endParaRPr lang="en-GB" sz="2400"/>
          </a:p>
        </p:txBody>
      </p:sp>
      <p:sp>
        <p:nvSpPr>
          <p:cNvPr id="4" name="Slide Number Placeholder 3">
            <a:extLst>
              <a:ext uri="{FF2B5EF4-FFF2-40B4-BE49-F238E27FC236}">
                <a16:creationId xmlns:a16="http://schemas.microsoft.com/office/drawing/2014/main" id="{18890F38-573B-F97B-E75E-C4D93B0C9265}"/>
              </a:ext>
            </a:extLst>
          </p:cNvPr>
          <p:cNvSpPr>
            <a:spLocks noGrp="1"/>
          </p:cNvSpPr>
          <p:nvPr>
            <p:ph type="sldNum" sz="quarter" idx="12"/>
          </p:nvPr>
        </p:nvSpPr>
        <p:spPr/>
        <p:txBody>
          <a:bodyPr/>
          <a:lstStyle/>
          <a:p>
            <a:fld id="{BC06EAA3-687F-4743-ADBD-74613D0FCAFA}" type="slidenum">
              <a:rPr lang="en-GB" smtClean="0"/>
              <a:t>8</a:t>
            </a:fld>
            <a:endParaRPr lang="en-GB"/>
          </a:p>
        </p:txBody>
      </p:sp>
      <p:pic>
        <p:nvPicPr>
          <p:cNvPr id="5" name="Picture 4">
            <a:extLst>
              <a:ext uri="{FF2B5EF4-FFF2-40B4-BE49-F238E27FC236}">
                <a16:creationId xmlns:a16="http://schemas.microsoft.com/office/drawing/2014/main" id="{618CE406-0AC2-6D98-14E6-73523DC69386}"/>
              </a:ext>
            </a:extLst>
          </p:cNvPr>
          <p:cNvPicPr>
            <a:picLocks noChangeAspect="1"/>
          </p:cNvPicPr>
          <p:nvPr/>
        </p:nvPicPr>
        <p:blipFill>
          <a:blip r:embed="rId3"/>
          <a:stretch>
            <a:fillRect/>
          </a:stretch>
        </p:blipFill>
        <p:spPr>
          <a:xfrm>
            <a:off x="9438050" y="4646833"/>
            <a:ext cx="1598391" cy="1598391"/>
          </a:xfrm>
          <a:prstGeom prst="rect">
            <a:avLst/>
          </a:prstGeom>
        </p:spPr>
      </p:pic>
      <p:sp>
        <p:nvSpPr>
          <p:cNvPr id="6" name="TextBox 5">
            <a:extLst>
              <a:ext uri="{FF2B5EF4-FFF2-40B4-BE49-F238E27FC236}">
                <a16:creationId xmlns:a16="http://schemas.microsoft.com/office/drawing/2014/main" id="{7DC1905B-70B5-5AE8-5384-E4A66566F20B}"/>
              </a:ext>
            </a:extLst>
          </p:cNvPr>
          <p:cNvSpPr txBox="1"/>
          <p:nvPr/>
        </p:nvSpPr>
        <p:spPr>
          <a:xfrm>
            <a:off x="1155548" y="4646833"/>
            <a:ext cx="7455052" cy="1107996"/>
          </a:xfrm>
          <a:prstGeom prst="rect">
            <a:avLst/>
          </a:prstGeom>
          <a:noFill/>
        </p:spPr>
        <p:txBody>
          <a:bodyPr wrap="square" rtlCol="0">
            <a:spAutoFit/>
          </a:bodyPr>
          <a:lstStyle/>
          <a:p>
            <a:r>
              <a:rPr lang="en-GB" sz="2400"/>
              <a:t>The data was gathered across the UK but mostly came from Somerset and the west midlands. </a:t>
            </a:r>
          </a:p>
          <a:p>
            <a:endParaRPr lang="en-GB"/>
          </a:p>
        </p:txBody>
      </p:sp>
    </p:spTree>
    <p:extLst>
      <p:ext uri="{BB962C8B-B14F-4D97-AF65-F5344CB8AC3E}">
        <p14:creationId xmlns:p14="http://schemas.microsoft.com/office/powerpoint/2010/main" val="36405068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1793B34-C51F-D79D-27B6-8A84D9D53BD2}"/>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8B29E57-4800-F153-BE21-D8D84BE9B5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856FC3-B818-C329-173B-B365B5BC9A8C}"/>
              </a:ext>
            </a:extLst>
          </p:cNvPr>
          <p:cNvSpPr>
            <a:spLocks noGrp="1"/>
          </p:cNvSpPr>
          <p:nvPr>
            <p:ph type="title"/>
          </p:nvPr>
        </p:nvSpPr>
        <p:spPr>
          <a:xfrm>
            <a:off x="1156851" y="637762"/>
            <a:ext cx="9888496" cy="900131"/>
          </a:xfrm>
        </p:spPr>
        <p:txBody>
          <a:bodyPr anchor="t">
            <a:normAutofit/>
          </a:bodyPr>
          <a:lstStyle/>
          <a:p>
            <a:r>
              <a:rPr lang="en-GB">
                <a:solidFill>
                  <a:schemeClr val="bg1"/>
                </a:solidFill>
              </a:rPr>
              <a:t>Problems with data collection </a:t>
            </a:r>
          </a:p>
          <a:p>
            <a:endParaRPr lang="en-GB" sz="4000">
              <a:solidFill>
                <a:schemeClr val="bg1"/>
              </a:solidFill>
            </a:endParaRPr>
          </a:p>
        </p:txBody>
      </p:sp>
      <p:sp>
        <p:nvSpPr>
          <p:cNvPr id="10" name="Rectangle 9">
            <a:extLst>
              <a:ext uri="{FF2B5EF4-FFF2-40B4-BE49-F238E27FC236}">
                <a16:creationId xmlns:a16="http://schemas.microsoft.com/office/drawing/2014/main" id="{00E74604-4E12-1218-2629-EDDB2DA3B9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29E7FB0-B349-947A-B0DE-01B271C806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39217F8-9C09-2014-DE16-B0DE0B609BAC}"/>
              </a:ext>
            </a:extLst>
          </p:cNvPr>
          <p:cNvSpPr>
            <a:spLocks noGrp="1"/>
          </p:cNvSpPr>
          <p:nvPr>
            <p:ph idx="1"/>
          </p:nvPr>
        </p:nvSpPr>
        <p:spPr>
          <a:xfrm>
            <a:off x="1155548" y="2217343"/>
            <a:ext cx="9880893" cy="3959619"/>
          </a:xfrm>
        </p:spPr>
        <p:txBody>
          <a:bodyPr vert="horz" lIns="91440" tIns="45720" rIns="91440" bIns="45720" rtlCol="0" anchor="t">
            <a:normAutofit/>
          </a:bodyPr>
          <a:lstStyle/>
          <a:p>
            <a:pPr marL="0" indent="0">
              <a:buNone/>
            </a:pPr>
            <a:r>
              <a:rPr lang="en-GB" sz="2400"/>
              <a:t>While collecting data we encountered some issues…</a:t>
            </a:r>
          </a:p>
          <a:p>
            <a:pPr marL="0" indent="0">
              <a:buNone/>
            </a:pPr>
            <a:endParaRPr lang="en-GB" sz="2400"/>
          </a:p>
          <a:p>
            <a:r>
              <a:rPr lang="en-GB" sz="2400"/>
              <a:t>Discrepancies with sitting data</a:t>
            </a:r>
          </a:p>
          <a:p>
            <a:endParaRPr lang="en-GB" sz="2400"/>
          </a:p>
          <a:p>
            <a:r>
              <a:rPr lang="en-GB" sz="2400"/>
              <a:t>Loss of GPS signal</a:t>
            </a:r>
            <a:endParaRPr lang="en-US" sz="2400"/>
          </a:p>
          <a:p>
            <a:endParaRPr lang="en-US" sz="2400">
              <a:highlight>
                <a:srgbClr val="FFFF00"/>
              </a:highlight>
            </a:endParaRPr>
          </a:p>
          <a:p>
            <a:r>
              <a:rPr lang="en-US" sz="2400"/>
              <a:t>App limited the rows of data that can be recorded</a:t>
            </a:r>
            <a:endParaRPr lang="en-GB" sz="2400"/>
          </a:p>
          <a:p>
            <a:endParaRPr lang="en-GB" sz="2400"/>
          </a:p>
        </p:txBody>
      </p:sp>
      <p:sp>
        <p:nvSpPr>
          <p:cNvPr id="4" name="Slide Number Placeholder 3">
            <a:extLst>
              <a:ext uri="{FF2B5EF4-FFF2-40B4-BE49-F238E27FC236}">
                <a16:creationId xmlns:a16="http://schemas.microsoft.com/office/drawing/2014/main" id="{93567560-DBF3-777D-17A1-7DB7434B39FA}"/>
              </a:ext>
            </a:extLst>
          </p:cNvPr>
          <p:cNvSpPr>
            <a:spLocks noGrp="1"/>
          </p:cNvSpPr>
          <p:nvPr>
            <p:ph type="sldNum" sz="quarter" idx="12"/>
          </p:nvPr>
        </p:nvSpPr>
        <p:spPr/>
        <p:txBody>
          <a:bodyPr/>
          <a:lstStyle/>
          <a:p>
            <a:fld id="{BC06EAA3-687F-4743-ADBD-74613D0FCAFA}" type="slidenum">
              <a:rPr lang="en-GB" smtClean="0"/>
              <a:t>9</a:t>
            </a:fld>
            <a:endParaRPr lang="en-GB"/>
          </a:p>
        </p:txBody>
      </p:sp>
    </p:spTree>
    <p:extLst>
      <p:ext uri="{BB962C8B-B14F-4D97-AF65-F5344CB8AC3E}">
        <p14:creationId xmlns:p14="http://schemas.microsoft.com/office/powerpoint/2010/main" val="4026003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5720F7-7AB5-0E2F-F952-11C5E17EA7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E3EB2C-AFD8-C141-EE57-81ACF663D342}"/>
              </a:ext>
            </a:extLst>
          </p:cNvPr>
          <p:cNvSpPr>
            <a:spLocks noGrp="1"/>
          </p:cNvSpPr>
          <p:nvPr>
            <p:ph type="title"/>
          </p:nvPr>
        </p:nvSpPr>
        <p:spPr>
          <a:xfrm>
            <a:off x="838200" y="4138163"/>
            <a:ext cx="3687491" cy="2106333"/>
          </a:xfrm>
        </p:spPr>
        <p:txBody>
          <a:bodyPr anchor="t">
            <a:normAutofit/>
          </a:bodyPr>
          <a:lstStyle/>
          <a:p>
            <a:r>
              <a:rPr lang="en-GB" sz="3200"/>
              <a:t>Public Dataset: </a:t>
            </a:r>
            <a:br>
              <a:rPr lang="en-GB" sz="3200"/>
            </a:br>
            <a:r>
              <a:rPr lang="en-GB" sz="3200"/>
              <a:t>Run or Walk</a:t>
            </a:r>
          </a:p>
        </p:txBody>
      </p:sp>
      <p:pic>
        <p:nvPicPr>
          <p:cNvPr id="7" name="Content Placeholder 6" descr="A group of people running on a road&#10;&#10;AI-generated content may be incorrect.">
            <a:extLst>
              <a:ext uri="{FF2B5EF4-FFF2-40B4-BE49-F238E27FC236}">
                <a16:creationId xmlns:a16="http://schemas.microsoft.com/office/drawing/2014/main" id="{BCD70B90-C0D2-DA5B-C716-10806626D05F}"/>
              </a:ext>
            </a:extLst>
          </p:cNvPr>
          <p:cNvPicPr>
            <a:picLocks noChangeAspect="1"/>
          </p:cNvPicPr>
          <p:nvPr/>
        </p:nvPicPr>
        <p:blipFill>
          <a:blip r:embed="rId3">
            <a:extLst>
              <a:ext uri="{28A0092B-C50C-407E-A947-70E740481C1C}">
                <a14:useLocalDpi xmlns:a14="http://schemas.microsoft.com/office/drawing/2010/main" val="0"/>
              </a:ext>
            </a:extLst>
          </a:blip>
          <a:srcRect r="20889"/>
          <a:stretch>
            <a:fillRect/>
          </a:stretch>
        </p:blipFill>
        <p:spPr>
          <a:xfrm>
            <a:off x="-2" y="10"/>
            <a:ext cx="12192002" cy="3428990"/>
          </a:xfrm>
          <a:prstGeom prst="rect">
            <a:avLst/>
          </a:prstGeom>
        </p:spPr>
      </p:pic>
      <p:grpSp>
        <p:nvGrpSpPr>
          <p:cNvPr id="19" name="Group 18">
            <a:extLst>
              <a:ext uri="{FF2B5EF4-FFF2-40B4-BE49-F238E27FC236}">
                <a16:creationId xmlns:a16="http://schemas.microsoft.com/office/drawing/2014/main" id="{5EC81CC9-EAC3-3907-9268-3A583E3B635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00" y="3401858"/>
            <a:ext cx="12207200" cy="123363"/>
            <a:chOff x="-5025" y="6737718"/>
            <a:chExt cx="12207200" cy="123363"/>
          </a:xfrm>
        </p:grpSpPr>
        <p:sp>
          <p:nvSpPr>
            <p:cNvPr id="20" name="Rectangle 19">
              <a:extLst>
                <a:ext uri="{FF2B5EF4-FFF2-40B4-BE49-F238E27FC236}">
                  <a16:creationId xmlns:a16="http://schemas.microsoft.com/office/drawing/2014/main" id="{665915B0-4647-B7BB-3CDF-D62A16FCB0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A416CD1-48B0-ADCA-33F6-A12FBD9EE5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Content Placeholder 15">
            <a:extLst>
              <a:ext uri="{FF2B5EF4-FFF2-40B4-BE49-F238E27FC236}">
                <a16:creationId xmlns:a16="http://schemas.microsoft.com/office/drawing/2014/main" id="{AB6A2C04-E81A-DD6F-0E19-33D6741109D7}"/>
              </a:ext>
            </a:extLst>
          </p:cNvPr>
          <p:cNvSpPr>
            <a:spLocks noGrp="1"/>
          </p:cNvSpPr>
          <p:nvPr>
            <p:ph idx="1"/>
          </p:nvPr>
        </p:nvSpPr>
        <p:spPr>
          <a:xfrm>
            <a:off x="5341546" y="4088724"/>
            <a:ext cx="6012254" cy="2171405"/>
          </a:xfrm>
        </p:spPr>
        <p:txBody>
          <a:bodyPr anchor="t">
            <a:normAutofit/>
          </a:bodyPr>
          <a:lstStyle/>
          <a:p>
            <a:pPr marL="0" indent="0">
              <a:buNone/>
            </a:pPr>
            <a:r>
              <a:rPr lang="en-US" sz="2000"/>
              <a:t>We chose the Run or Walk dataset, containing labelled sensor data for different types of movement.</a:t>
            </a:r>
          </a:p>
          <a:p>
            <a:pPr marL="0" indent="0">
              <a:buNone/>
            </a:pPr>
            <a:endParaRPr lang="en-US" sz="2000"/>
          </a:p>
          <a:p>
            <a:pPr marL="0" indent="0">
              <a:buNone/>
            </a:pPr>
            <a:r>
              <a:rPr lang="en-US" sz="2000"/>
              <a:t>Due to differences in formatting, we created a python script to make the public dataset comparable to our gathered data.</a:t>
            </a:r>
          </a:p>
        </p:txBody>
      </p:sp>
      <p:sp>
        <p:nvSpPr>
          <p:cNvPr id="4" name="Slide Number Placeholder 3">
            <a:extLst>
              <a:ext uri="{FF2B5EF4-FFF2-40B4-BE49-F238E27FC236}">
                <a16:creationId xmlns:a16="http://schemas.microsoft.com/office/drawing/2014/main" id="{F285DA29-DD0D-E177-B3B6-4F292DE54D3A}"/>
              </a:ext>
            </a:extLst>
          </p:cNvPr>
          <p:cNvSpPr>
            <a:spLocks noGrp="1"/>
          </p:cNvSpPr>
          <p:nvPr>
            <p:ph type="sldNum" sz="quarter" idx="12"/>
          </p:nvPr>
        </p:nvSpPr>
        <p:spPr>
          <a:xfrm>
            <a:off x="8610600" y="6356350"/>
            <a:ext cx="2743200" cy="365125"/>
          </a:xfrm>
        </p:spPr>
        <p:txBody>
          <a:bodyPr>
            <a:normAutofit/>
          </a:bodyPr>
          <a:lstStyle/>
          <a:p>
            <a:pPr>
              <a:spcAft>
                <a:spcPts val="600"/>
              </a:spcAft>
            </a:pPr>
            <a:fld id="{BC06EAA3-687F-4743-ADBD-74613D0FCAFA}" type="slidenum">
              <a:rPr lang="en-GB">
                <a:solidFill>
                  <a:schemeClr val="tx1">
                    <a:lumMod val="50000"/>
                    <a:lumOff val="50000"/>
                  </a:schemeClr>
                </a:solidFill>
              </a:rPr>
              <a:pPr>
                <a:spcAft>
                  <a:spcPts val="600"/>
                </a:spcAft>
              </a:pPr>
              <a:t>10</a:t>
            </a:fld>
            <a:endParaRPr lang="en-GB">
              <a:solidFill>
                <a:schemeClr val="tx1">
                  <a:lumMod val="50000"/>
                  <a:lumOff val="50000"/>
                </a:schemeClr>
              </a:solidFill>
            </a:endParaRPr>
          </a:p>
        </p:txBody>
      </p:sp>
    </p:spTree>
    <p:extLst>
      <p:ext uri="{BB962C8B-B14F-4D97-AF65-F5344CB8AC3E}">
        <p14:creationId xmlns:p14="http://schemas.microsoft.com/office/powerpoint/2010/main" val="2495712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94DFB-AE1C-E5A6-84C7-F42B0E6BABF8}"/>
            </a:ext>
          </a:extLst>
        </p:cNvPr>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2C1624F4-4C38-EC43-3338-DC83EF85CCBD}"/>
              </a:ext>
            </a:extLst>
          </p:cNvPr>
          <p:cNvPicPr>
            <a:picLocks noGrp="1" noChangeAspect="1"/>
          </p:cNvPicPr>
          <p:nvPr>
            <p:ph type="pic" sz="quarter" idx="10"/>
          </p:nvPr>
        </p:nvPicPr>
        <p:blipFill rotWithShape="1">
          <a:blip r:embed="rId3">
            <a:alphaModFix amt="52000"/>
            <a:extLst>
              <a:ext uri="{BEBA8EAE-BF5A-486C-A8C5-ECC9F3942E4B}">
                <a14:imgProps xmlns:a14="http://schemas.microsoft.com/office/drawing/2010/main">
                  <a14:imgLayer r:embed="rId4">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A27290C8-1CA8-37EF-51C5-9B72185E5EC8}"/>
              </a:ext>
            </a:extLst>
          </p:cNvPr>
          <p:cNvSpPr>
            <a:spLocks noGrp="1"/>
          </p:cNvSpPr>
          <p:nvPr>
            <p:ph type="title"/>
          </p:nvPr>
        </p:nvSpPr>
        <p:spPr>
          <a:xfrm>
            <a:off x="350836" y="2848231"/>
            <a:ext cx="11490325" cy="823913"/>
          </a:xfrm>
        </p:spPr>
        <p:txBody>
          <a:bodyPr rtlCol="0"/>
          <a:lstStyle/>
          <a:p>
            <a:pPr algn="ctr"/>
            <a:r>
              <a:rPr lang="en-GB"/>
              <a:t>Algorithms</a:t>
            </a:r>
            <a:endParaRPr lang="en-US"/>
          </a:p>
        </p:txBody>
      </p:sp>
      <p:sp>
        <p:nvSpPr>
          <p:cNvPr id="13" name="Text Placeholder 12">
            <a:extLst>
              <a:ext uri="{FF2B5EF4-FFF2-40B4-BE49-F238E27FC236}">
                <a16:creationId xmlns:a16="http://schemas.microsoft.com/office/drawing/2014/main" id="{AD2773DA-FBF9-88D4-DB7D-0DE9D857BB63}"/>
              </a:ext>
            </a:extLst>
          </p:cNvPr>
          <p:cNvSpPr>
            <a:spLocks noGrp="1"/>
          </p:cNvSpPr>
          <p:nvPr>
            <p:ph type="body" sz="quarter" idx="12"/>
          </p:nvPr>
        </p:nvSpPr>
        <p:spPr/>
        <p:txBody>
          <a:bodyPr/>
          <a:lstStyle/>
          <a:p>
            <a:endParaRPr lang="en-GB"/>
          </a:p>
        </p:txBody>
      </p:sp>
    </p:spTree>
    <p:extLst>
      <p:ext uri="{BB962C8B-B14F-4D97-AF65-F5344CB8AC3E}">
        <p14:creationId xmlns:p14="http://schemas.microsoft.com/office/powerpoint/2010/main" val="900198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09651A0-1B6E-0DED-2AE9-3A732C3BCD94}"/>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50DA0C6-AEC2-10A3-C897-D150C3FF28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09CC56-239A-0AFA-7C56-789CB2F14AEC}"/>
              </a:ext>
            </a:extLst>
          </p:cNvPr>
          <p:cNvSpPr>
            <a:spLocks noGrp="1"/>
          </p:cNvSpPr>
          <p:nvPr>
            <p:ph type="title"/>
          </p:nvPr>
        </p:nvSpPr>
        <p:spPr>
          <a:xfrm>
            <a:off x="1156851" y="637762"/>
            <a:ext cx="9888496" cy="900131"/>
          </a:xfrm>
        </p:spPr>
        <p:txBody>
          <a:bodyPr anchor="t">
            <a:normAutofit/>
          </a:bodyPr>
          <a:lstStyle/>
          <a:p>
            <a:r>
              <a:rPr lang="en-GB" sz="4000">
                <a:solidFill>
                  <a:schemeClr val="bg1"/>
                </a:solidFill>
              </a:rPr>
              <a:t>ML Algorithm 01 – Random Forest </a:t>
            </a:r>
          </a:p>
        </p:txBody>
      </p:sp>
      <p:sp>
        <p:nvSpPr>
          <p:cNvPr id="10" name="Rectangle 9">
            <a:extLst>
              <a:ext uri="{FF2B5EF4-FFF2-40B4-BE49-F238E27FC236}">
                <a16:creationId xmlns:a16="http://schemas.microsoft.com/office/drawing/2014/main" id="{6B9E7178-ABD5-B3FF-0306-253DBC2EE7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1816F06-5A4F-DB6E-78B4-140AC11226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1B241B1-63EF-62B7-6BE2-0C5DB13EC0CB}"/>
              </a:ext>
            </a:extLst>
          </p:cNvPr>
          <p:cNvSpPr>
            <a:spLocks noGrp="1"/>
          </p:cNvSpPr>
          <p:nvPr>
            <p:ph idx="1"/>
          </p:nvPr>
        </p:nvSpPr>
        <p:spPr>
          <a:xfrm>
            <a:off x="1155548" y="2217343"/>
            <a:ext cx="9880893" cy="3959619"/>
          </a:xfrm>
        </p:spPr>
        <p:txBody>
          <a:bodyPr vert="horz" lIns="91440" tIns="45720" rIns="91440" bIns="45720" rtlCol="0" anchor="t">
            <a:normAutofit/>
          </a:bodyPr>
          <a:lstStyle/>
          <a:p>
            <a:pPr marL="0" indent="0">
              <a:buNone/>
            </a:pPr>
            <a:r>
              <a:rPr lang="en-GB" sz="2400"/>
              <a:t>Performed prediction on labelled data based on a group of decision trees </a:t>
            </a:r>
          </a:p>
          <a:p>
            <a:pPr marL="0" indent="0">
              <a:buNone/>
            </a:pPr>
            <a:r>
              <a:rPr lang="en-GB" sz="2400" b="1"/>
              <a:t>Ideal scenarios: </a:t>
            </a:r>
            <a:endParaRPr lang="en-GB" sz="2400"/>
          </a:p>
          <a:p>
            <a:r>
              <a:rPr lang="en-GB" sz="2000"/>
              <a:t>Robust against large datasets </a:t>
            </a:r>
            <a:endParaRPr lang="en-GB"/>
          </a:p>
          <a:p>
            <a:r>
              <a:rPr lang="en-GB" sz="2000"/>
              <a:t>Resilient to noise when some fields are invalid or use </a:t>
            </a:r>
            <a:r>
              <a:rPr lang="en-GB" sz="2000" err="1"/>
              <a:t>NaN</a:t>
            </a:r>
            <a:r>
              <a:rPr lang="en-GB" sz="2000"/>
              <a:t> values</a:t>
            </a:r>
          </a:p>
          <a:p>
            <a:endParaRPr lang="en-GB" sz="2400"/>
          </a:p>
        </p:txBody>
      </p:sp>
      <p:sp>
        <p:nvSpPr>
          <p:cNvPr id="4" name="Slide Number Placeholder 3">
            <a:extLst>
              <a:ext uri="{FF2B5EF4-FFF2-40B4-BE49-F238E27FC236}">
                <a16:creationId xmlns:a16="http://schemas.microsoft.com/office/drawing/2014/main" id="{7F5FE686-1020-420A-6FFB-BDA5EF226E82}"/>
              </a:ext>
            </a:extLst>
          </p:cNvPr>
          <p:cNvSpPr>
            <a:spLocks noGrp="1"/>
          </p:cNvSpPr>
          <p:nvPr>
            <p:ph type="sldNum" sz="quarter" idx="12"/>
          </p:nvPr>
        </p:nvSpPr>
        <p:spPr/>
        <p:txBody>
          <a:bodyPr/>
          <a:lstStyle/>
          <a:p>
            <a:fld id="{BC06EAA3-687F-4743-ADBD-74613D0FCAFA}" type="slidenum">
              <a:rPr lang="en-GB" smtClean="0"/>
              <a:t>12</a:t>
            </a:fld>
            <a:endParaRPr lang="en-GB"/>
          </a:p>
        </p:txBody>
      </p:sp>
      <p:pic>
        <p:nvPicPr>
          <p:cNvPr id="5" name="Picture 4" descr="A black background with white text&#10;&#10;AI-generated content may be incorrect.">
            <a:extLst>
              <a:ext uri="{FF2B5EF4-FFF2-40B4-BE49-F238E27FC236}">
                <a16:creationId xmlns:a16="http://schemas.microsoft.com/office/drawing/2014/main" id="{37C8896A-C2CA-948B-8454-965513D2723B}"/>
              </a:ext>
            </a:extLst>
          </p:cNvPr>
          <p:cNvPicPr>
            <a:picLocks noChangeAspect="1"/>
          </p:cNvPicPr>
          <p:nvPr/>
        </p:nvPicPr>
        <p:blipFill>
          <a:blip r:embed="rId3"/>
          <a:stretch>
            <a:fillRect/>
          </a:stretch>
        </p:blipFill>
        <p:spPr>
          <a:xfrm>
            <a:off x="1604885" y="4269456"/>
            <a:ext cx="7895345" cy="571049"/>
          </a:xfrm>
          <a:prstGeom prst="rect">
            <a:avLst/>
          </a:prstGeom>
        </p:spPr>
      </p:pic>
      <p:sp>
        <p:nvSpPr>
          <p:cNvPr id="9" name="TextBox 8">
            <a:extLst>
              <a:ext uri="{FF2B5EF4-FFF2-40B4-BE49-F238E27FC236}">
                <a16:creationId xmlns:a16="http://schemas.microsoft.com/office/drawing/2014/main" id="{B6898410-73EA-1E67-8F5B-2660C2C72D4D}"/>
              </a:ext>
            </a:extLst>
          </p:cNvPr>
          <p:cNvSpPr txBox="1"/>
          <p:nvPr/>
        </p:nvSpPr>
        <p:spPr>
          <a:xfrm>
            <a:off x="1608483" y="5609223"/>
            <a:ext cx="295373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Number of trees in RF. '200' offers a stable amount of predictions</a:t>
            </a:r>
            <a:endParaRPr lang="en-US"/>
          </a:p>
        </p:txBody>
      </p:sp>
      <p:pic>
        <p:nvPicPr>
          <p:cNvPr id="11" name="Picture 10" descr="A red arrow pointing up&#10;&#10;AI-generated content may be incorrect.">
            <a:extLst>
              <a:ext uri="{FF2B5EF4-FFF2-40B4-BE49-F238E27FC236}">
                <a16:creationId xmlns:a16="http://schemas.microsoft.com/office/drawing/2014/main" id="{623F1F4F-2F77-F5A0-D0AD-573B27F603C3}"/>
              </a:ext>
            </a:extLst>
          </p:cNvPr>
          <p:cNvPicPr>
            <a:picLocks noChangeAspect="1"/>
          </p:cNvPicPr>
          <p:nvPr/>
        </p:nvPicPr>
        <p:blipFill>
          <a:blip r:embed="rId4"/>
          <a:stretch>
            <a:fillRect/>
          </a:stretch>
        </p:blipFill>
        <p:spPr>
          <a:xfrm rot="-720000">
            <a:off x="4436047" y="4784765"/>
            <a:ext cx="1032063" cy="893721"/>
          </a:xfrm>
          <a:prstGeom prst="rect">
            <a:avLst/>
          </a:prstGeom>
        </p:spPr>
      </p:pic>
      <p:sp>
        <p:nvSpPr>
          <p:cNvPr id="17" name="TextBox 16">
            <a:extLst>
              <a:ext uri="{FF2B5EF4-FFF2-40B4-BE49-F238E27FC236}">
                <a16:creationId xmlns:a16="http://schemas.microsoft.com/office/drawing/2014/main" id="{2A59E5E8-1986-EEC8-0E71-0C42C56050AC}"/>
              </a:ext>
            </a:extLst>
          </p:cNvPr>
          <p:cNvSpPr txBox="1"/>
          <p:nvPr/>
        </p:nvSpPr>
        <p:spPr>
          <a:xfrm>
            <a:off x="5555061" y="5615425"/>
            <a:ext cx="289088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Number of splits – 8 enables it to capturing more complex patterns</a:t>
            </a:r>
            <a:endParaRPr lang="en-US"/>
          </a:p>
        </p:txBody>
      </p:sp>
      <p:pic>
        <p:nvPicPr>
          <p:cNvPr id="18" name="Picture 17" descr="A red arrow pointing up&#10;&#10;AI-generated content may be incorrect.">
            <a:extLst>
              <a:ext uri="{FF2B5EF4-FFF2-40B4-BE49-F238E27FC236}">
                <a16:creationId xmlns:a16="http://schemas.microsoft.com/office/drawing/2014/main" id="{D4FDC760-D579-DF35-2C3C-30D533EE852C}"/>
              </a:ext>
            </a:extLst>
          </p:cNvPr>
          <p:cNvPicPr>
            <a:picLocks noChangeAspect="1"/>
          </p:cNvPicPr>
          <p:nvPr/>
        </p:nvPicPr>
        <p:blipFill>
          <a:blip r:embed="rId5"/>
          <a:stretch>
            <a:fillRect/>
          </a:stretch>
        </p:blipFill>
        <p:spPr>
          <a:xfrm rot="1560000">
            <a:off x="7183063" y="4699061"/>
            <a:ext cx="350854" cy="896529"/>
          </a:xfrm>
          <a:prstGeom prst="rect">
            <a:avLst/>
          </a:prstGeom>
        </p:spPr>
      </p:pic>
      <p:sp>
        <p:nvSpPr>
          <p:cNvPr id="7" name="TextBox 6">
            <a:extLst>
              <a:ext uri="{FF2B5EF4-FFF2-40B4-BE49-F238E27FC236}">
                <a16:creationId xmlns:a16="http://schemas.microsoft.com/office/drawing/2014/main" id="{1EA310B7-0FB3-3F5B-7A71-60A3C8158167}"/>
              </a:ext>
            </a:extLst>
          </p:cNvPr>
          <p:cNvSpPr txBox="1"/>
          <p:nvPr/>
        </p:nvSpPr>
        <p:spPr>
          <a:xfrm>
            <a:off x="8609263" y="5440945"/>
            <a:ext cx="3128210" cy="73866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b="1" i="1"/>
              <a:t>Note: </a:t>
            </a:r>
            <a:r>
              <a:rPr lang="en-GB" sz="1400" i="1"/>
              <a:t>could be further optimised with parameters '</a:t>
            </a:r>
            <a:r>
              <a:rPr lang="en-GB" sz="1400" i="1" err="1"/>
              <a:t>min_sample_split</a:t>
            </a:r>
            <a:r>
              <a:rPr lang="en-GB" sz="1400" i="1"/>
              <a:t>' and '</a:t>
            </a:r>
            <a:r>
              <a:rPr lang="en-GB" sz="1400" i="1" err="1"/>
              <a:t>class_weight</a:t>
            </a:r>
            <a:r>
              <a:rPr lang="en-GB" sz="1400" i="1"/>
              <a:t>' </a:t>
            </a:r>
            <a:endParaRPr lang="en-US" sz="1400"/>
          </a:p>
        </p:txBody>
      </p:sp>
    </p:spTree>
    <p:extLst>
      <p:ext uri="{BB962C8B-B14F-4D97-AF65-F5344CB8AC3E}">
        <p14:creationId xmlns:p14="http://schemas.microsoft.com/office/powerpoint/2010/main" val="27246360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10C8D9-96B8-5E4C-0233-57E73679F5FE}"/>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1E284E8E-1997-275B-CCFB-AE7A7E60C4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6F58F9-828D-977D-0C92-9B53B3A77E47}"/>
              </a:ext>
            </a:extLst>
          </p:cNvPr>
          <p:cNvSpPr>
            <a:spLocks noGrp="1"/>
          </p:cNvSpPr>
          <p:nvPr>
            <p:ph type="title"/>
          </p:nvPr>
        </p:nvSpPr>
        <p:spPr>
          <a:xfrm>
            <a:off x="1156851" y="637762"/>
            <a:ext cx="9888496" cy="900131"/>
          </a:xfrm>
        </p:spPr>
        <p:txBody>
          <a:bodyPr anchor="t">
            <a:normAutofit/>
          </a:bodyPr>
          <a:lstStyle/>
          <a:p>
            <a:r>
              <a:rPr lang="en-GB" sz="4000">
                <a:solidFill>
                  <a:schemeClr val="bg1"/>
                </a:solidFill>
              </a:rPr>
              <a:t>ML Algorithm 02 – SVM</a:t>
            </a:r>
          </a:p>
        </p:txBody>
      </p:sp>
      <p:sp>
        <p:nvSpPr>
          <p:cNvPr id="10" name="Rectangle 9">
            <a:extLst>
              <a:ext uri="{FF2B5EF4-FFF2-40B4-BE49-F238E27FC236}">
                <a16:creationId xmlns:a16="http://schemas.microsoft.com/office/drawing/2014/main" id="{EAB21665-5A61-7EB5-85EB-FF7BC5B22E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C4DE170-3DA2-B7C0-329F-B7229F1281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CE9191B-A616-5A77-F681-BC80EC4D50D6}"/>
              </a:ext>
            </a:extLst>
          </p:cNvPr>
          <p:cNvSpPr>
            <a:spLocks noGrp="1"/>
          </p:cNvSpPr>
          <p:nvPr>
            <p:ph idx="1"/>
          </p:nvPr>
        </p:nvSpPr>
        <p:spPr>
          <a:xfrm>
            <a:off x="1155548" y="2217343"/>
            <a:ext cx="9880893" cy="3959619"/>
          </a:xfrm>
        </p:spPr>
        <p:txBody>
          <a:bodyPr vert="horz" lIns="91440" tIns="45720" rIns="91440" bIns="45720" rtlCol="0" anchor="t">
            <a:normAutofit/>
          </a:bodyPr>
          <a:lstStyle/>
          <a:p>
            <a:pPr marL="0" indent="0">
              <a:buNone/>
            </a:pPr>
            <a:r>
              <a:rPr lang="en-GB" sz="2400"/>
              <a:t>SVM model finds the best possible boundary (or hyperplane) between different activities </a:t>
            </a:r>
            <a:endParaRPr lang="en-US"/>
          </a:p>
          <a:p>
            <a:r>
              <a:rPr lang="en-GB" sz="2400" b="1"/>
              <a:t>Ideal scenarios: </a:t>
            </a:r>
          </a:p>
          <a:p>
            <a:pPr lvl="1">
              <a:buFont typeface="Courier New" panose="020B0604020202020204" pitchFamily="34" charset="0"/>
              <a:buChar char="o"/>
            </a:pPr>
            <a:r>
              <a:rPr lang="en-GB" sz="2000"/>
              <a:t>For smaller datasets</a:t>
            </a:r>
          </a:p>
          <a:p>
            <a:pPr lvl="1">
              <a:buFont typeface="Courier New" panose="020B0604020202020204" pitchFamily="34" charset="0"/>
              <a:buChar char="o"/>
            </a:pPr>
            <a:endParaRPr lang="en-GB" sz="2000" b="1"/>
          </a:p>
          <a:p>
            <a:endParaRPr lang="en-GB" sz="2400"/>
          </a:p>
          <a:p>
            <a:endParaRPr lang="en-GB" sz="2400"/>
          </a:p>
        </p:txBody>
      </p:sp>
      <p:sp>
        <p:nvSpPr>
          <p:cNvPr id="4" name="Slide Number Placeholder 3">
            <a:extLst>
              <a:ext uri="{FF2B5EF4-FFF2-40B4-BE49-F238E27FC236}">
                <a16:creationId xmlns:a16="http://schemas.microsoft.com/office/drawing/2014/main" id="{A2B1914E-DFA7-598F-2998-0C83E96F5B26}"/>
              </a:ext>
            </a:extLst>
          </p:cNvPr>
          <p:cNvSpPr>
            <a:spLocks noGrp="1"/>
          </p:cNvSpPr>
          <p:nvPr>
            <p:ph type="sldNum" sz="quarter" idx="12"/>
          </p:nvPr>
        </p:nvSpPr>
        <p:spPr/>
        <p:txBody>
          <a:bodyPr/>
          <a:lstStyle/>
          <a:p>
            <a:fld id="{BC06EAA3-687F-4743-ADBD-74613D0FCAFA}" type="slidenum">
              <a:rPr lang="en-GB" smtClean="0"/>
              <a:t>13</a:t>
            </a:fld>
            <a:endParaRPr lang="en-GB"/>
          </a:p>
        </p:txBody>
      </p:sp>
      <p:sp>
        <p:nvSpPr>
          <p:cNvPr id="7" name="TextBox 6">
            <a:extLst>
              <a:ext uri="{FF2B5EF4-FFF2-40B4-BE49-F238E27FC236}">
                <a16:creationId xmlns:a16="http://schemas.microsoft.com/office/drawing/2014/main" id="{4D9A2D52-71BB-4DBF-CE9E-776A3A5AF545}"/>
              </a:ext>
            </a:extLst>
          </p:cNvPr>
          <p:cNvSpPr txBox="1"/>
          <p:nvPr/>
        </p:nvSpPr>
        <p:spPr>
          <a:xfrm>
            <a:off x="852834" y="5578582"/>
            <a:ext cx="439079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Uses a </a:t>
            </a:r>
            <a:r>
              <a:rPr lang="en-GB" b="1" err="1"/>
              <a:t>StandardScaler</a:t>
            </a:r>
            <a:r>
              <a:rPr lang="en-GB" b="1"/>
              <a:t> </a:t>
            </a:r>
            <a:r>
              <a:rPr lang="en-GB"/>
              <a:t>ensures speed values are on a consistent scale, helping SVM draw a boundary between walking and running classifications.</a:t>
            </a:r>
            <a:endParaRPr lang="en-US"/>
          </a:p>
        </p:txBody>
      </p:sp>
      <p:pic>
        <p:nvPicPr>
          <p:cNvPr id="5" name="Picture 4" descr="A black background with green and blue text&#10;&#10;AI-generated content may be incorrect.">
            <a:extLst>
              <a:ext uri="{FF2B5EF4-FFF2-40B4-BE49-F238E27FC236}">
                <a16:creationId xmlns:a16="http://schemas.microsoft.com/office/drawing/2014/main" id="{8772B611-B157-32EB-4323-3B966876EE78}"/>
              </a:ext>
            </a:extLst>
          </p:cNvPr>
          <p:cNvPicPr>
            <a:picLocks noChangeAspect="1"/>
          </p:cNvPicPr>
          <p:nvPr/>
        </p:nvPicPr>
        <p:blipFill>
          <a:blip r:embed="rId3"/>
          <a:stretch>
            <a:fillRect/>
          </a:stretch>
        </p:blipFill>
        <p:spPr>
          <a:xfrm>
            <a:off x="2369245" y="4199033"/>
            <a:ext cx="7466319" cy="874003"/>
          </a:xfrm>
          <a:prstGeom prst="rect">
            <a:avLst/>
          </a:prstGeom>
        </p:spPr>
      </p:pic>
      <p:pic>
        <p:nvPicPr>
          <p:cNvPr id="9" name="Picture 8" descr="A red arrow pointing up&#10;&#10;AI-generated content may be incorrect.">
            <a:extLst>
              <a:ext uri="{FF2B5EF4-FFF2-40B4-BE49-F238E27FC236}">
                <a16:creationId xmlns:a16="http://schemas.microsoft.com/office/drawing/2014/main" id="{BB84A28E-793C-66E7-4BD5-F4E7E0196001}"/>
              </a:ext>
            </a:extLst>
          </p:cNvPr>
          <p:cNvPicPr>
            <a:picLocks noChangeAspect="1"/>
          </p:cNvPicPr>
          <p:nvPr/>
        </p:nvPicPr>
        <p:blipFill>
          <a:blip r:embed="rId4"/>
          <a:stretch>
            <a:fillRect/>
          </a:stretch>
        </p:blipFill>
        <p:spPr>
          <a:xfrm rot="240000">
            <a:off x="5016919" y="4675573"/>
            <a:ext cx="1038385" cy="1126751"/>
          </a:xfrm>
          <a:prstGeom prst="rect">
            <a:avLst/>
          </a:prstGeom>
        </p:spPr>
      </p:pic>
      <p:sp>
        <p:nvSpPr>
          <p:cNvPr id="6" name="TextBox 5">
            <a:extLst>
              <a:ext uri="{FF2B5EF4-FFF2-40B4-BE49-F238E27FC236}">
                <a16:creationId xmlns:a16="http://schemas.microsoft.com/office/drawing/2014/main" id="{F22A1C89-4F1E-7E22-9587-7F3FF1A486C0}"/>
              </a:ext>
            </a:extLst>
          </p:cNvPr>
          <p:cNvSpPr txBox="1"/>
          <p:nvPr/>
        </p:nvSpPr>
        <p:spPr>
          <a:xfrm>
            <a:off x="8009370" y="5580248"/>
            <a:ext cx="3655307" cy="523220"/>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b="1" i="1"/>
              <a:t>Note </a:t>
            </a:r>
            <a:r>
              <a:rPr lang="en-GB" sz="1400" i="1"/>
              <a:t>could be further optimised with parameters 'C', '</a:t>
            </a:r>
            <a:r>
              <a:rPr lang="en-GB" sz="1400" i="1" err="1"/>
              <a:t>kernal</a:t>
            </a:r>
            <a:r>
              <a:rPr lang="en-GB" sz="1400" i="1"/>
              <a:t>' and 'gamma' </a:t>
            </a:r>
          </a:p>
        </p:txBody>
      </p:sp>
    </p:spTree>
    <p:extLst>
      <p:ext uri="{BB962C8B-B14F-4D97-AF65-F5344CB8AC3E}">
        <p14:creationId xmlns:p14="http://schemas.microsoft.com/office/powerpoint/2010/main" val="2409325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BC20C7-B56F-15AD-6934-F987BEF411BB}"/>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73C1FA60-18B3-B456-969F-D5D5F2DC78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A5A967-B798-1B1D-07DB-FDFBBAAA7DD1}"/>
              </a:ext>
            </a:extLst>
          </p:cNvPr>
          <p:cNvSpPr>
            <a:spLocks noGrp="1"/>
          </p:cNvSpPr>
          <p:nvPr>
            <p:ph type="title"/>
          </p:nvPr>
        </p:nvSpPr>
        <p:spPr>
          <a:xfrm>
            <a:off x="1156851" y="637762"/>
            <a:ext cx="9888496" cy="900131"/>
          </a:xfrm>
        </p:spPr>
        <p:txBody>
          <a:bodyPr anchor="t">
            <a:normAutofit/>
          </a:bodyPr>
          <a:lstStyle/>
          <a:p>
            <a:r>
              <a:rPr lang="en-GB" sz="4000">
                <a:solidFill>
                  <a:schemeClr val="bg1"/>
                </a:solidFill>
              </a:rPr>
              <a:t>Coding conventions to improve accuracy</a:t>
            </a:r>
          </a:p>
        </p:txBody>
      </p:sp>
      <p:sp>
        <p:nvSpPr>
          <p:cNvPr id="10" name="Rectangle 9">
            <a:extLst>
              <a:ext uri="{FF2B5EF4-FFF2-40B4-BE49-F238E27FC236}">
                <a16:creationId xmlns:a16="http://schemas.microsoft.com/office/drawing/2014/main" id="{48A4E8D9-C9A5-99A4-B717-F21B03DCE7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A9E2F80-F156-8819-C6C3-4072361D6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F3BE10F-979A-19AA-58FD-2A83BE7BD990}"/>
              </a:ext>
            </a:extLst>
          </p:cNvPr>
          <p:cNvSpPr>
            <a:spLocks noGrp="1"/>
          </p:cNvSpPr>
          <p:nvPr>
            <p:ph idx="1"/>
          </p:nvPr>
        </p:nvSpPr>
        <p:spPr>
          <a:xfrm>
            <a:off x="2311107" y="1960028"/>
            <a:ext cx="9880893" cy="1656490"/>
          </a:xfrm>
        </p:spPr>
        <p:txBody>
          <a:bodyPr vert="horz" lIns="91440" tIns="45720" rIns="91440" bIns="45720" rtlCol="0" anchor="t">
            <a:normAutofit lnSpcReduction="10000"/>
          </a:bodyPr>
          <a:lstStyle/>
          <a:p>
            <a:r>
              <a:rPr lang="en-GB" sz="2400"/>
              <a:t>Rolling average of speed calculated over 5-samples</a:t>
            </a:r>
            <a:endParaRPr lang="en-US"/>
          </a:p>
          <a:p>
            <a:r>
              <a:rPr lang="en-GB" sz="2400"/>
              <a:t>Uses reverse interaction on the dataset to correct travel transitions </a:t>
            </a:r>
            <a:endParaRPr lang="en-GB"/>
          </a:p>
          <a:p>
            <a:r>
              <a:rPr lang="en-GB" sz="2400"/>
              <a:t>Train travel detection using GPS nearest station proximity (Using Haversine distance formula).</a:t>
            </a:r>
            <a:endParaRPr lang="en-GB"/>
          </a:p>
          <a:p>
            <a:pPr marL="0" indent="0">
              <a:buNone/>
            </a:pPr>
            <a:endParaRPr lang="en-GB"/>
          </a:p>
          <a:p>
            <a:endParaRPr lang="en-GB" sz="2400"/>
          </a:p>
          <a:p>
            <a:endParaRPr lang="en-GB" sz="2400"/>
          </a:p>
        </p:txBody>
      </p:sp>
      <p:sp>
        <p:nvSpPr>
          <p:cNvPr id="4" name="Slide Number Placeholder 3">
            <a:extLst>
              <a:ext uri="{FF2B5EF4-FFF2-40B4-BE49-F238E27FC236}">
                <a16:creationId xmlns:a16="http://schemas.microsoft.com/office/drawing/2014/main" id="{1935BBD4-0114-8615-7F9D-46B01B8A65CB}"/>
              </a:ext>
            </a:extLst>
          </p:cNvPr>
          <p:cNvSpPr>
            <a:spLocks noGrp="1"/>
          </p:cNvSpPr>
          <p:nvPr>
            <p:ph type="sldNum" sz="quarter" idx="12"/>
          </p:nvPr>
        </p:nvSpPr>
        <p:spPr/>
        <p:txBody>
          <a:bodyPr/>
          <a:lstStyle/>
          <a:p>
            <a:fld id="{BC06EAA3-687F-4743-ADBD-74613D0FCAFA}" type="slidenum">
              <a:rPr lang="en-GB" smtClean="0"/>
              <a:t>14</a:t>
            </a:fld>
            <a:endParaRPr lang="en-GB"/>
          </a:p>
        </p:txBody>
      </p:sp>
      <p:pic>
        <p:nvPicPr>
          <p:cNvPr id="1026" name="Picture 2" descr="Running stick figure - Free sports icons">
            <a:extLst>
              <a:ext uri="{FF2B5EF4-FFF2-40B4-BE49-F238E27FC236}">
                <a16:creationId xmlns:a16="http://schemas.microsoft.com/office/drawing/2014/main" id="{1F53A85A-7C15-72BA-E6B9-726839985B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31" y="4811458"/>
            <a:ext cx="505997" cy="492950"/>
          </a:xfrm>
          <a:prstGeom prst="rect">
            <a:avLst/>
          </a:prstGeom>
          <a:noFill/>
          <a:extLst>
            <a:ext uri="{909E8E84-426E-40DD-AFC4-6F175D3DCCD1}">
              <a14:hiddenFill xmlns:a14="http://schemas.microsoft.com/office/drawing/2010/main">
                <a:solidFill>
                  <a:srgbClr val="FFFFFF"/>
                </a:solidFill>
              </a14:hiddenFill>
            </a:ext>
          </a:extLst>
        </p:spPr>
      </p:pic>
      <p:pic>
        <p:nvPicPr>
          <p:cNvPr id="6" name="Graphic 5" descr="Car outline">
            <a:extLst>
              <a:ext uri="{FF2B5EF4-FFF2-40B4-BE49-F238E27FC236}">
                <a16:creationId xmlns:a16="http://schemas.microsoft.com/office/drawing/2014/main" id="{707B700B-5B57-72A0-1015-D4CADA862B8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13331" y="5466641"/>
            <a:ext cx="597385" cy="597385"/>
          </a:xfrm>
          <a:prstGeom prst="rect">
            <a:avLst/>
          </a:prstGeom>
        </p:spPr>
      </p:pic>
      <p:pic>
        <p:nvPicPr>
          <p:cNvPr id="11" name="Graphic 10" descr="Walk with solid fill">
            <a:extLst>
              <a:ext uri="{FF2B5EF4-FFF2-40B4-BE49-F238E27FC236}">
                <a16:creationId xmlns:a16="http://schemas.microsoft.com/office/drawing/2014/main" id="{2255B2F5-2CB3-60CB-5766-1EEB027831E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30477" y="4032308"/>
            <a:ext cx="603462" cy="603462"/>
          </a:xfrm>
          <a:prstGeom prst="rect">
            <a:avLst/>
          </a:prstGeom>
        </p:spPr>
      </p:pic>
      <p:sp>
        <p:nvSpPr>
          <p:cNvPr id="14" name="TextBox 13">
            <a:extLst>
              <a:ext uri="{FF2B5EF4-FFF2-40B4-BE49-F238E27FC236}">
                <a16:creationId xmlns:a16="http://schemas.microsoft.com/office/drawing/2014/main" id="{FDC163EE-FC80-0E7A-B15D-CB2F6D23C9C3}"/>
              </a:ext>
            </a:extLst>
          </p:cNvPr>
          <p:cNvSpPr txBox="1"/>
          <p:nvPr/>
        </p:nvSpPr>
        <p:spPr>
          <a:xfrm>
            <a:off x="961826" y="4839125"/>
            <a:ext cx="709167" cy="369332"/>
          </a:xfrm>
          <a:prstGeom prst="rect">
            <a:avLst/>
          </a:prstGeom>
          <a:noFill/>
        </p:spPr>
        <p:txBody>
          <a:bodyPr wrap="square" lIns="91440" tIns="45720" rIns="91440" bIns="45720" rtlCol="0" anchor="t">
            <a:spAutoFit/>
          </a:bodyPr>
          <a:lstStyle/>
          <a:p>
            <a:r>
              <a:rPr lang="en-GB"/>
              <a:t> 8 -18</a:t>
            </a:r>
          </a:p>
        </p:txBody>
      </p:sp>
      <p:sp>
        <p:nvSpPr>
          <p:cNvPr id="15" name="TextBox 14">
            <a:extLst>
              <a:ext uri="{FF2B5EF4-FFF2-40B4-BE49-F238E27FC236}">
                <a16:creationId xmlns:a16="http://schemas.microsoft.com/office/drawing/2014/main" id="{CD11E0C7-5C80-E3D0-7375-1BC93E86F211}"/>
              </a:ext>
            </a:extLst>
          </p:cNvPr>
          <p:cNvSpPr txBox="1"/>
          <p:nvPr/>
        </p:nvSpPr>
        <p:spPr>
          <a:xfrm>
            <a:off x="1043079" y="4212833"/>
            <a:ext cx="700491" cy="369332"/>
          </a:xfrm>
          <a:prstGeom prst="rect">
            <a:avLst/>
          </a:prstGeom>
          <a:noFill/>
        </p:spPr>
        <p:txBody>
          <a:bodyPr wrap="square" lIns="91440" tIns="45720" rIns="91440" bIns="45720" rtlCol="0" anchor="t">
            <a:spAutoFit/>
          </a:bodyPr>
          <a:lstStyle/>
          <a:p>
            <a:r>
              <a:rPr lang="en-GB"/>
              <a:t>2 - 7</a:t>
            </a:r>
          </a:p>
        </p:txBody>
      </p:sp>
      <p:sp>
        <p:nvSpPr>
          <p:cNvPr id="16" name="TextBox 15">
            <a:extLst>
              <a:ext uri="{FF2B5EF4-FFF2-40B4-BE49-F238E27FC236}">
                <a16:creationId xmlns:a16="http://schemas.microsoft.com/office/drawing/2014/main" id="{29D2F031-0AC7-2E5A-CE40-4583C9F2EB7A}"/>
              </a:ext>
            </a:extLst>
          </p:cNvPr>
          <p:cNvSpPr txBox="1"/>
          <p:nvPr/>
        </p:nvSpPr>
        <p:spPr>
          <a:xfrm>
            <a:off x="948606" y="5497131"/>
            <a:ext cx="891089" cy="369332"/>
          </a:xfrm>
          <a:prstGeom prst="rect">
            <a:avLst/>
          </a:prstGeom>
          <a:noFill/>
        </p:spPr>
        <p:txBody>
          <a:bodyPr wrap="square" lIns="91440" tIns="45720" rIns="91440" bIns="45720" rtlCol="0" anchor="t">
            <a:spAutoFit/>
          </a:bodyPr>
          <a:lstStyle/>
          <a:p>
            <a:r>
              <a:rPr lang="en-GB"/>
              <a:t>19 - 72</a:t>
            </a:r>
          </a:p>
        </p:txBody>
      </p:sp>
      <p:pic>
        <p:nvPicPr>
          <p:cNvPr id="18" name="Graphic 17" descr="Toy Train with solid fill">
            <a:extLst>
              <a:ext uri="{FF2B5EF4-FFF2-40B4-BE49-F238E27FC236}">
                <a16:creationId xmlns:a16="http://schemas.microsoft.com/office/drawing/2014/main" id="{7AF17E7A-081A-2283-BBCC-A82ED99EC47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13341" y="6085951"/>
            <a:ext cx="597385" cy="597385"/>
          </a:xfrm>
          <a:prstGeom prst="rect">
            <a:avLst/>
          </a:prstGeom>
        </p:spPr>
      </p:pic>
      <p:pic>
        <p:nvPicPr>
          <p:cNvPr id="20" name="Graphic 19" descr="Man with solid fill">
            <a:extLst>
              <a:ext uri="{FF2B5EF4-FFF2-40B4-BE49-F238E27FC236}">
                <a16:creationId xmlns:a16="http://schemas.microsoft.com/office/drawing/2014/main" id="{2FD0DCC1-D0CC-AC10-2062-23CAB8A8DF3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43863" y="3317826"/>
            <a:ext cx="597385" cy="597385"/>
          </a:xfrm>
          <a:prstGeom prst="rect">
            <a:avLst/>
          </a:prstGeom>
        </p:spPr>
      </p:pic>
      <p:sp>
        <p:nvSpPr>
          <p:cNvPr id="21" name="TextBox 20">
            <a:extLst>
              <a:ext uri="{FF2B5EF4-FFF2-40B4-BE49-F238E27FC236}">
                <a16:creationId xmlns:a16="http://schemas.microsoft.com/office/drawing/2014/main" id="{9B034A86-1838-A99D-CA4B-BDF7ED308548}"/>
              </a:ext>
            </a:extLst>
          </p:cNvPr>
          <p:cNvSpPr txBox="1"/>
          <p:nvPr/>
        </p:nvSpPr>
        <p:spPr>
          <a:xfrm>
            <a:off x="1065957" y="3545879"/>
            <a:ext cx="668461" cy="369332"/>
          </a:xfrm>
          <a:prstGeom prst="rect">
            <a:avLst/>
          </a:prstGeom>
          <a:noFill/>
        </p:spPr>
        <p:txBody>
          <a:bodyPr wrap="square" rtlCol="0">
            <a:spAutoFit/>
          </a:bodyPr>
          <a:lstStyle/>
          <a:p>
            <a:r>
              <a:rPr lang="en-GB"/>
              <a:t>0 - 1</a:t>
            </a:r>
          </a:p>
        </p:txBody>
      </p:sp>
      <p:sp>
        <p:nvSpPr>
          <p:cNvPr id="22" name="TextBox 21">
            <a:extLst>
              <a:ext uri="{FF2B5EF4-FFF2-40B4-BE49-F238E27FC236}">
                <a16:creationId xmlns:a16="http://schemas.microsoft.com/office/drawing/2014/main" id="{78FCAD9F-C1CD-8E28-E1C9-69E8D1AE37B1}"/>
              </a:ext>
            </a:extLst>
          </p:cNvPr>
          <p:cNvSpPr txBox="1"/>
          <p:nvPr/>
        </p:nvSpPr>
        <p:spPr>
          <a:xfrm>
            <a:off x="961826" y="6143183"/>
            <a:ext cx="597386" cy="369332"/>
          </a:xfrm>
          <a:prstGeom prst="rect">
            <a:avLst/>
          </a:prstGeom>
          <a:noFill/>
        </p:spPr>
        <p:txBody>
          <a:bodyPr wrap="square" lIns="91440" tIns="45720" rIns="91440" bIns="45720" rtlCol="0" anchor="t">
            <a:spAutoFit/>
          </a:bodyPr>
          <a:lstStyle/>
          <a:p>
            <a:r>
              <a:rPr lang="en-GB"/>
              <a:t>73+</a:t>
            </a:r>
          </a:p>
        </p:txBody>
      </p:sp>
      <p:sp>
        <p:nvSpPr>
          <p:cNvPr id="23" name="Rectangle 22">
            <a:extLst>
              <a:ext uri="{FF2B5EF4-FFF2-40B4-BE49-F238E27FC236}">
                <a16:creationId xmlns:a16="http://schemas.microsoft.com/office/drawing/2014/main" id="{6E8A39C8-1FCD-489D-50E1-AD639350EC51}"/>
              </a:ext>
            </a:extLst>
          </p:cNvPr>
          <p:cNvSpPr/>
          <p:nvPr/>
        </p:nvSpPr>
        <p:spPr>
          <a:xfrm>
            <a:off x="109728" y="2788273"/>
            <a:ext cx="2063090" cy="402400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extBox 23">
            <a:extLst>
              <a:ext uri="{FF2B5EF4-FFF2-40B4-BE49-F238E27FC236}">
                <a16:creationId xmlns:a16="http://schemas.microsoft.com/office/drawing/2014/main" id="{2894581C-22F8-AC8E-0854-C896EE24B299}"/>
              </a:ext>
            </a:extLst>
          </p:cNvPr>
          <p:cNvSpPr txBox="1"/>
          <p:nvPr/>
        </p:nvSpPr>
        <p:spPr>
          <a:xfrm>
            <a:off x="832040" y="2835102"/>
            <a:ext cx="1267945" cy="369332"/>
          </a:xfrm>
          <a:prstGeom prst="rect">
            <a:avLst/>
          </a:prstGeom>
          <a:noFill/>
        </p:spPr>
        <p:txBody>
          <a:bodyPr wrap="square" rtlCol="0">
            <a:spAutoFit/>
          </a:bodyPr>
          <a:lstStyle/>
          <a:p>
            <a:r>
              <a:rPr lang="en-GB" b="1"/>
              <a:t>KEY</a:t>
            </a:r>
          </a:p>
        </p:txBody>
      </p:sp>
      <p:pic>
        <p:nvPicPr>
          <p:cNvPr id="25" name="Graphic 24" descr="Man with solid fill">
            <a:extLst>
              <a:ext uri="{FF2B5EF4-FFF2-40B4-BE49-F238E27FC236}">
                <a16:creationId xmlns:a16="http://schemas.microsoft.com/office/drawing/2014/main" id="{AA119E15-1E67-4FA7-4F9A-78CF5882357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192963" y="3743670"/>
            <a:ext cx="597385" cy="597385"/>
          </a:xfrm>
          <a:prstGeom prst="rect">
            <a:avLst/>
          </a:prstGeom>
        </p:spPr>
      </p:pic>
      <p:pic>
        <p:nvPicPr>
          <p:cNvPr id="26" name="Graphic 25" descr="Walk with solid fill">
            <a:extLst>
              <a:ext uri="{FF2B5EF4-FFF2-40B4-BE49-F238E27FC236}">
                <a16:creationId xmlns:a16="http://schemas.microsoft.com/office/drawing/2014/main" id="{87598C58-13D9-3053-1E4A-0F267C564A3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720768" y="3730577"/>
            <a:ext cx="603462" cy="603462"/>
          </a:xfrm>
          <a:prstGeom prst="rect">
            <a:avLst/>
          </a:prstGeom>
        </p:spPr>
      </p:pic>
      <p:pic>
        <p:nvPicPr>
          <p:cNvPr id="27" name="Graphic 26" descr="Walk with solid fill">
            <a:extLst>
              <a:ext uri="{FF2B5EF4-FFF2-40B4-BE49-F238E27FC236}">
                <a16:creationId xmlns:a16="http://schemas.microsoft.com/office/drawing/2014/main" id="{BAC32127-ED3E-87A6-2ED0-A0DDBFC2BEA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251788" y="3759091"/>
            <a:ext cx="603462" cy="603462"/>
          </a:xfrm>
          <a:prstGeom prst="rect">
            <a:avLst/>
          </a:prstGeom>
        </p:spPr>
      </p:pic>
      <p:pic>
        <p:nvPicPr>
          <p:cNvPr id="28" name="Graphic 27" descr="Walk with solid fill">
            <a:extLst>
              <a:ext uri="{FF2B5EF4-FFF2-40B4-BE49-F238E27FC236}">
                <a16:creationId xmlns:a16="http://schemas.microsoft.com/office/drawing/2014/main" id="{4B74E1AD-2FAC-8F53-F5BE-3EB9A8CBE11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728969" y="3748305"/>
            <a:ext cx="603462" cy="603462"/>
          </a:xfrm>
          <a:prstGeom prst="rect">
            <a:avLst/>
          </a:prstGeom>
        </p:spPr>
      </p:pic>
      <p:pic>
        <p:nvPicPr>
          <p:cNvPr id="29" name="Graphic 28" descr="Car outline">
            <a:extLst>
              <a:ext uri="{FF2B5EF4-FFF2-40B4-BE49-F238E27FC236}">
                <a16:creationId xmlns:a16="http://schemas.microsoft.com/office/drawing/2014/main" id="{2D2651B2-4FE9-5587-EA11-0BC811CD722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70790" y="3808027"/>
            <a:ext cx="597385" cy="597385"/>
          </a:xfrm>
          <a:prstGeom prst="rect">
            <a:avLst/>
          </a:prstGeom>
        </p:spPr>
      </p:pic>
      <p:pic>
        <p:nvPicPr>
          <p:cNvPr id="31" name="Graphic 30" descr="Man with solid fill">
            <a:extLst>
              <a:ext uri="{FF2B5EF4-FFF2-40B4-BE49-F238E27FC236}">
                <a16:creationId xmlns:a16="http://schemas.microsoft.com/office/drawing/2014/main" id="{7A478326-C083-15B2-32F8-1F98CE26B11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149406" y="3751735"/>
            <a:ext cx="597385" cy="597385"/>
          </a:xfrm>
          <a:prstGeom prst="rect">
            <a:avLst/>
          </a:prstGeom>
        </p:spPr>
      </p:pic>
      <p:pic>
        <p:nvPicPr>
          <p:cNvPr id="1025" name="Graphic 1024" descr="Toy Train with solid fill">
            <a:extLst>
              <a:ext uri="{FF2B5EF4-FFF2-40B4-BE49-F238E27FC236}">
                <a16:creationId xmlns:a16="http://schemas.microsoft.com/office/drawing/2014/main" id="{F94F2C51-6A81-9DC4-A073-351900B6C01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943556" y="3804455"/>
            <a:ext cx="597385" cy="597385"/>
          </a:xfrm>
          <a:prstGeom prst="rect">
            <a:avLst/>
          </a:prstGeom>
        </p:spPr>
      </p:pic>
      <p:pic>
        <p:nvPicPr>
          <p:cNvPr id="1029" name="Graphic 1028" descr="Man with solid fill">
            <a:extLst>
              <a:ext uri="{FF2B5EF4-FFF2-40B4-BE49-F238E27FC236}">
                <a16:creationId xmlns:a16="http://schemas.microsoft.com/office/drawing/2014/main" id="{3EDF0268-826F-90B8-8363-84F773CBD39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791444" y="3723949"/>
            <a:ext cx="597385" cy="597385"/>
          </a:xfrm>
          <a:prstGeom prst="rect">
            <a:avLst/>
          </a:prstGeom>
        </p:spPr>
      </p:pic>
      <p:pic>
        <p:nvPicPr>
          <p:cNvPr id="1030" name="Graphic 1029" descr="Walk with solid fill">
            <a:extLst>
              <a:ext uri="{FF2B5EF4-FFF2-40B4-BE49-F238E27FC236}">
                <a16:creationId xmlns:a16="http://schemas.microsoft.com/office/drawing/2014/main" id="{91DB4C96-8756-5E5E-3623-77F7DA09BA9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222597" y="3688060"/>
            <a:ext cx="603462" cy="603462"/>
          </a:xfrm>
          <a:prstGeom prst="rect">
            <a:avLst/>
          </a:prstGeom>
        </p:spPr>
      </p:pic>
      <p:pic>
        <p:nvPicPr>
          <p:cNvPr id="1031" name="Graphic 1030" descr="Walk with solid fill">
            <a:extLst>
              <a:ext uri="{FF2B5EF4-FFF2-40B4-BE49-F238E27FC236}">
                <a16:creationId xmlns:a16="http://schemas.microsoft.com/office/drawing/2014/main" id="{ECA0F21E-7092-1ADE-CBFC-574DBE0BEC5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683663" y="3696258"/>
            <a:ext cx="603462" cy="603462"/>
          </a:xfrm>
          <a:prstGeom prst="rect">
            <a:avLst/>
          </a:prstGeom>
        </p:spPr>
      </p:pic>
      <p:sp>
        <p:nvSpPr>
          <p:cNvPr id="1032" name="TextBox 1031">
            <a:extLst>
              <a:ext uri="{FF2B5EF4-FFF2-40B4-BE49-F238E27FC236}">
                <a16:creationId xmlns:a16="http://schemas.microsoft.com/office/drawing/2014/main" id="{F3CD2768-B8D1-C860-EDE4-EA232F260180}"/>
              </a:ext>
            </a:extLst>
          </p:cNvPr>
          <p:cNvSpPr txBox="1"/>
          <p:nvPr/>
        </p:nvSpPr>
        <p:spPr>
          <a:xfrm>
            <a:off x="2168962" y="3839381"/>
            <a:ext cx="838571" cy="369332"/>
          </a:xfrm>
          <a:prstGeom prst="rect">
            <a:avLst/>
          </a:prstGeom>
          <a:noFill/>
        </p:spPr>
        <p:txBody>
          <a:bodyPr wrap="square" rtlCol="0">
            <a:spAutoFit/>
          </a:bodyPr>
          <a:lstStyle/>
          <a:p>
            <a:r>
              <a:rPr lang="en-GB" b="1"/>
              <a:t>HOME</a:t>
            </a:r>
          </a:p>
        </p:txBody>
      </p:sp>
      <p:sp>
        <p:nvSpPr>
          <p:cNvPr id="1033" name="TextBox 1032">
            <a:extLst>
              <a:ext uri="{FF2B5EF4-FFF2-40B4-BE49-F238E27FC236}">
                <a16:creationId xmlns:a16="http://schemas.microsoft.com/office/drawing/2014/main" id="{213D9052-025C-5BC0-D28B-2A31338DD35D}"/>
              </a:ext>
            </a:extLst>
          </p:cNvPr>
          <p:cNvSpPr txBox="1"/>
          <p:nvPr/>
        </p:nvSpPr>
        <p:spPr>
          <a:xfrm>
            <a:off x="11272264" y="3776214"/>
            <a:ext cx="1267945" cy="369332"/>
          </a:xfrm>
          <a:prstGeom prst="rect">
            <a:avLst/>
          </a:prstGeom>
          <a:noFill/>
        </p:spPr>
        <p:txBody>
          <a:bodyPr wrap="square" rtlCol="0">
            <a:spAutoFit/>
          </a:bodyPr>
          <a:lstStyle/>
          <a:p>
            <a:r>
              <a:rPr lang="en-GB" b="1"/>
              <a:t>UNI</a:t>
            </a:r>
          </a:p>
        </p:txBody>
      </p:sp>
      <p:pic>
        <p:nvPicPr>
          <p:cNvPr id="1040" name="Graphic 1039" descr="Man with solid fill">
            <a:extLst>
              <a:ext uri="{FF2B5EF4-FFF2-40B4-BE49-F238E27FC236}">
                <a16:creationId xmlns:a16="http://schemas.microsoft.com/office/drawing/2014/main" id="{876C0C9E-4F6D-5C51-9FBA-7B2D49041AC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160159" y="5437509"/>
            <a:ext cx="597385" cy="597385"/>
          </a:xfrm>
          <a:prstGeom prst="rect">
            <a:avLst/>
          </a:prstGeom>
        </p:spPr>
      </p:pic>
      <p:pic>
        <p:nvPicPr>
          <p:cNvPr id="1041" name="Graphic 1040" descr="Walk with solid fill">
            <a:extLst>
              <a:ext uri="{FF2B5EF4-FFF2-40B4-BE49-F238E27FC236}">
                <a16:creationId xmlns:a16="http://schemas.microsoft.com/office/drawing/2014/main" id="{A148A998-6ADC-B0D6-8209-BA0D00BDB7C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718261" y="5430887"/>
            <a:ext cx="603462" cy="603462"/>
          </a:xfrm>
          <a:prstGeom prst="rect">
            <a:avLst/>
          </a:prstGeom>
        </p:spPr>
      </p:pic>
      <p:pic>
        <p:nvPicPr>
          <p:cNvPr id="1042" name="Graphic 1041" descr="Walk with solid fill">
            <a:extLst>
              <a:ext uri="{FF2B5EF4-FFF2-40B4-BE49-F238E27FC236}">
                <a16:creationId xmlns:a16="http://schemas.microsoft.com/office/drawing/2014/main" id="{78909490-88F4-D8CB-522F-BD7252A3EFD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189642" y="5443310"/>
            <a:ext cx="603462" cy="603462"/>
          </a:xfrm>
          <a:prstGeom prst="rect">
            <a:avLst/>
          </a:prstGeom>
        </p:spPr>
      </p:pic>
      <p:pic>
        <p:nvPicPr>
          <p:cNvPr id="1043" name="Graphic 1042" descr="Walk with solid fill">
            <a:extLst>
              <a:ext uri="{FF2B5EF4-FFF2-40B4-BE49-F238E27FC236}">
                <a16:creationId xmlns:a16="http://schemas.microsoft.com/office/drawing/2014/main" id="{B4A5BC89-9344-E2CF-590E-3B6AC08C94A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659206" y="5431432"/>
            <a:ext cx="603462" cy="603462"/>
          </a:xfrm>
          <a:prstGeom prst="rect">
            <a:avLst/>
          </a:prstGeom>
        </p:spPr>
      </p:pic>
      <p:pic>
        <p:nvPicPr>
          <p:cNvPr id="1046" name="Graphic 1045" descr="Man with solid fill">
            <a:extLst>
              <a:ext uri="{FF2B5EF4-FFF2-40B4-BE49-F238E27FC236}">
                <a16:creationId xmlns:a16="http://schemas.microsoft.com/office/drawing/2014/main" id="{342B5EA6-78D6-A6A8-331E-5F0CE80A5EB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240182" y="5437509"/>
            <a:ext cx="597385" cy="597385"/>
          </a:xfrm>
          <a:prstGeom prst="rect">
            <a:avLst/>
          </a:prstGeom>
        </p:spPr>
      </p:pic>
      <p:pic>
        <p:nvPicPr>
          <p:cNvPr id="1047" name="Graphic 1046" descr="Toy Train with solid fill">
            <a:extLst>
              <a:ext uri="{FF2B5EF4-FFF2-40B4-BE49-F238E27FC236}">
                <a16:creationId xmlns:a16="http://schemas.microsoft.com/office/drawing/2014/main" id="{2332A46C-7D19-71D4-45A9-1D01C5F6577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77949" y="5449402"/>
            <a:ext cx="597385" cy="597385"/>
          </a:xfrm>
          <a:prstGeom prst="rect">
            <a:avLst/>
          </a:prstGeom>
        </p:spPr>
      </p:pic>
      <p:pic>
        <p:nvPicPr>
          <p:cNvPr id="1048" name="Graphic 1047" descr="Toy Train with solid fill">
            <a:extLst>
              <a:ext uri="{FF2B5EF4-FFF2-40B4-BE49-F238E27FC236}">
                <a16:creationId xmlns:a16="http://schemas.microsoft.com/office/drawing/2014/main" id="{968481F2-FE0A-F5D9-A13B-3CB9EB539E5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861870" y="5437509"/>
            <a:ext cx="597385" cy="597385"/>
          </a:xfrm>
          <a:prstGeom prst="rect">
            <a:avLst/>
          </a:prstGeom>
        </p:spPr>
      </p:pic>
      <p:pic>
        <p:nvPicPr>
          <p:cNvPr id="1049" name="Graphic 1048" descr="Toy Train with solid fill">
            <a:extLst>
              <a:ext uri="{FF2B5EF4-FFF2-40B4-BE49-F238E27FC236}">
                <a16:creationId xmlns:a16="http://schemas.microsoft.com/office/drawing/2014/main" id="{0926BD30-6E4B-6527-A574-8E2751744FC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631136" y="5432000"/>
            <a:ext cx="597385" cy="597385"/>
          </a:xfrm>
          <a:prstGeom prst="rect">
            <a:avLst/>
          </a:prstGeom>
        </p:spPr>
      </p:pic>
      <p:pic>
        <p:nvPicPr>
          <p:cNvPr id="1050" name="Graphic 1049" descr="Toy Train with solid fill">
            <a:extLst>
              <a:ext uri="{FF2B5EF4-FFF2-40B4-BE49-F238E27FC236}">
                <a16:creationId xmlns:a16="http://schemas.microsoft.com/office/drawing/2014/main" id="{46735311-487D-8C43-3883-FFBBB0854ED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312857" y="5427964"/>
            <a:ext cx="597385" cy="597385"/>
          </a:xfrm>
          <a:prstGeom prst="rect">
            <a:avLst/>
          </a:prstGeom>
        </p:spPr>
      </p:pic>
      <p:pic>
        <p:nvPicPr>
          <p:cNvPr id="1051" name="Graphic 1050" descr="Man with solid fill">
            <a:extLst>
              <a:ext uri="{FF2B5EF4-FFF2-40B4-BE49-F238E27FC236}">
                <a16:creationId xmlns:a16="http://schemas.microsoft.com/office/drawing/2014/main" id="{A2EC2642-92C2-036F-7CC2-C7C25D3071A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844000" y="5352377"/>
            <a:ext cx="597385" cy="597385"/>
          </a:xfrm>
          <a:prstGeom prst="rect">
            <a:avLst/>
          </a:prstGeom>
        </p:spPr>
      </p:pic>
      <p:pic>
        <p:nvPicPr>
          <p:cNvPr id="1052" name="Graphic 1051" descr="Walk with solid fill">
            <a:extLst>
              <a:ext uri="{FF2B5EF4-FFF2-40B4-BE49-F238E27FC236}">
                <a16:creationId xmlns:a16="http://schemas.microsoft.com/office/drawing/2014/main" id="{651EA760-0989-0930-A8C4-CD6B1C2C4B3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296501" y="5355155"/>
            <a:ext cx="603462" cy="603462"/>
          </a:xfrm>
          <a:prstGeom prst="rect">
            <a:avLst/>
          </a:prstGeom>
        </p:spPr>
      </p:pic>
      <p:pic>
        <p:nvPicPr>
          <p:cNvPr id="1053" name="Graphic 1052" descr="Walk with solid fill">
            <a:extLst>
              <a:ext uri="{FF2B5EF4-FFF2-40B4-BE49-F238E27FC236}">
                <a16:creationId xmlns:a16="http://schemas.microsoft.com/office/drawing/2014/main" id="{19FA3DC9-F4EF-5419-5100-10DC441E4A8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763844" y="5372673"/>
            <a:ext cx="603462" cy="603462"/>
          </a:xfrm>
          <a:prstGeom prst="rect">
            <a:avLst/>
          </a:prstGeom>
        </p:spPr>
      </p:pic>
      <p:sp>
        <p:nvSpPr>
          <p:cNvPr id="1054" name="TextBox 1053">
            <a:extLst>
              <a:ext uri="{FF2B5EF4-FFF2-40B4-BE49-F238E27FC236}">
                <a16:creationId xmlns:a16="http://schemas.microsoft.com/office/drawing/2014/main" id="{08CD6698-8713-57CA-0B71-2946661EB4C2}"/>
              </a:ext>
            </a:extLst>
          </p:cNvPr>
          <p:cNvSpPr txBox="1"/>
          <p:nvPr/>
        </p:nvSpPr>
        <p:spPr>
          <a:xfrm>
            <a:off x="2172992" y="5618411"/>
            <a:ext cx="891167" cy="369332"/>
          </a:xfrm>
          <a:prstGeom prst="rect">
            <a:avLst/>
          </a:prstGeom>
          <a:noFill/>
        </p:spPr>
        <p:txBody>
          <a:bodyPr wrap="square" rtlCol="0">
            <a:spAutoFit/>
          </a:bodyPr>
          <a:lstStyle/>
          <a:p>
            <a:r>
              <a:rPr lang="en-GB" b="1"/>
              <a:t>HOME</a:t>
            </a:r>
          </a:p>
        </p:txBody>
      </p:sp>
      <p:cxnSp>
        <p:nvCxnSpPr>
          <p:cNvPr id="1055" name="Straight Arrow Connector 1054">
            <a:extLst>
              <a:ext uri="{FF2B5EF4-FFF2-40B4-BE49-F238E27FC236}">
                <a16:creationId xmlns:a16="http://schemas.microsoft.com/office/drawing/2014/main" id="{56C34EAF-2480-9D86-85E0-07B32D4E091C}"/>
              </a:ext>
            </a:extLst>
          </p:cNvPr>
          <p:cNvCxnSpPr>
            <a:cxnSpLocks/>
          </p:cNvCxnSpPr>
          <p:nvPr/>
        </p:nvCxnSpPr>
        <p:spPr>
          <a:xfrm>
            <a:off x="3120849" y="6257212"/>
            <a:ext cx="8151308" cy="16449"/>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sp>
        <p:nvSpPr>
          <p:cNvPr id="1058" name="TextBox 1057">
            <a:extLst>
              <a:ext uri="{FF2B5EF4-FFF2-40B4-BE49-F238E27FC236}">
                <a16:creationId xmlns:a16="http://schemas.microsoft.com/office/drawing/2014/main" id="{80A6A457-9F10-4344-858A-0430CC5F71C3}"/>
              </a:ext>
            </a:extLst>
          </p:cNvPr>
          <p:cNvSpPr txBox="1"/>
          <p:nvPr/>
        </p:nvSpPr>
        <p:spPr>
          <a:xfrm>
            <a:off x="11327865" y="5464653"/>
            <a:ext cx="1267945" cy="369332"/>
          </a:xfrm>
          <a:prstGeom prst="rect">
            <a:avLst/>
          </a:prstGeom>
          <a:noFill/>
        </p:spPr>
        <p:txBody>
          <a:bodyPr wrap="square" rtlCol="0">
            <a:spAutoFit/>
          </a:bodyPr>
          <a:lstStyle/>
          <a:p>
            <a:r>
              <a:rPr lang="en-GB" b="1"/>
              <a:t>UNI</a:t>
            </a:r>
          </a:p>
        </p:txBody>
      </p:sp>
      <p:pic>
        <p:nvPicPr>
          <p:cNvPr id="1059" name="Graphic 1058" descr="Toy Train with solid fill">
            <a:extLst>
              <a:ext uri="{FF2B5EF4-FFF2-40B4-BE49-F238E27FC236}">
                <a16:creationId xmlns:a16="http://schemas.microsoft.com/office/drawing/2014/main" id="{F62B26DD-C351-E7D4-7CCB-9513AA56915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460071" y="5449387"/>
            <a:ext cx="597385" cy="597385"/>
          </a:xfrm>
          <a:prstGeom prst="rect">
            <a:avLst/>
          </a:prstGeom>
        </p:spPr>
      </p:pic>
      <p:pic>
        <p:nvPicPr>
          <p:cNvPr id="1060" name="Graphic 1059" descr="Toy Train with solid fill">
            <a:extLst>
              <a:ext uri="{FF2B5EF4-FFF2-40B4-BE49-F238E27FC236}">
                <a16:creationId xmlns:a16="http://schemas.microsoft.com/office/drawing/2014/main" id="{C8F5AA20-1C32-E463-C332-0537702CBEE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778350" y="5439841"/>
            <a:ext cx="597385" cy="597385"/>
          </a:xfrm>
          <a:prstGeom prst="rect">
            <a:avLst/>
          </a:prstGeom>
        </p:spPr>
      </p:pic>
      <p:sp>
        <p:nvSpPr>
          <p:cNvPr id="1061" name="TextBox 1060">
            <a:extLst>
              <a:ext uri="{FF2B5EF4-FFF2-40B4-BE49-F238E27FC236}">
                <a16:creationId xmlns:a16="http://schemas.microsoft.com/office/drawing/2014/main" id="{8D7B31CD-576B-065D-C7F6-D7061F943CB1}"/>
              </a:ext>
            </a:extLst>
          </p:cNvPr>
          <p:cNvSpPr txBox="1"/>
          <p:nvPr/>
        </p:nvSpPr>
        <p:spPr>
          <a:xfrm>
            <a:off x="6176709" y="4554484"/>
            <a:ext cx="3736455" cy="369332"/>
          </a:xfrm>
          <a:prstGeom prst="rect">
            <a:avLst/>
          </a:prstGeom>
          <a:noFill/>
        </p:spPr>
        <p:txBody>
          <a:bodyPr wrap="square" rtlCol="0">
            <a:spAutoFit/>
          </a:bodyPr>
          <a:lstStyle/>
          <a:p>
            <a:r>
              <a:rPr lang="en-GB" b="1"/>
              <a:t>Without reverse iteration</a:t>
            </a:r>
          </a:p>
        </p:txBody>
      </p:sp>
      <p:sp>
        <p:nvSpPr>
          <p:cNvPr id="1062" name="TextBox 1061">
            <a:extLst>
              <a:ext uri="{FF2B5EF4-FFF2-40B4-BE49-F238E27FC236}">
                <a16:creationId xmlns:a16="http://schemas.microsoft.com/office/drawing/2014/main" id="{0C5F40F2-2B5B-C5CB-274A-7099DA399CF5}"/>
              </a:ext>
            </a:extLst>
          </p:cNvPr>
          <p:cNvSpPr txBox="1"/>
          <p:nvPr/>
        </p:nvSpPr>
        <p:spPr>
          <a:xfrm>
            <a:off x="3718261" y="6381209"/>
            <a:ext cx="6908451" cy="369332"/>
          </a:xfrm>
          <a:prstGeom prst="rect">
            <a:avLst/>
          </a:prstGeom>
          <a:noFill/>
        </p:spPr>
        <p:txBody>
          <a:bodyPr wrap="square" rtlCol="0">
            <a:spAutoFit/>
          </a:bodyPr>
          <a:lstStyle/>
          <a:p>
            <a:r>
              <a:rPr lang="en-GB" b="1"/>
              <a:t>With reverse iteration – between GPS coords for railway stations</a:t>
            </a:r>
          </a:p>
        </p:txBody>
      </p:sp>
      <p:pic>
        <p:nvPicPr>
          <p:cNvPr id="1063" name="Graphic 1062" descr="Car outline">
            <a:extLst>
              <a:ext uri="{FF2B5EF4-FFF2-40B4-BE49-F238E27FC236}">
                <a16:creationId xmlns:a16="http://schemas.microsoft.com/office/drawing/2014/main" id="{E4357B72-2F03-3FBE-7625-E69781D65EE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08744" y="3800114"/>
            <a:ext cx="597385" cy="597385"/>
          </a:xfrm>
          <a:prstGeom prst="rect">
            <a:avLst/>
          </a:prstGeom>
        </p:spPr>
      </p:pic>
      <p:sp>
        <p:nvSpPr>
          <p:cNvPr id="1064" name="TextBox 1063">
            <a:extLst>
              <a:ext uri="{FF2B5EF4-FFF2-40B4-BE49-F238E27FC236}">
                <a16:creationId xmlns:a16="http://schemas.microsoft.com/office/drawing/2014/main" id="{2A34B196-C820-5276-2892-3F3D57474355}"/>
              </a:ext>
            </a:extLst>
          </p:cNvPr>
          <p:cNvSpPr txBox="1"/>
          <p:nvPr/>
        </p:nvSpPr>
        <p:spPr>
          <a:xfrm>
            <a:off x="9854792" y="4813990"/>
            <a:ext cx="644523" cy="415498"/>
          </a:xfrm>
          <a:prstGeom prst="rect">
            <a:avLst/>
          </a:prstGeom>
          <a:noFill/>
        </p:spPr>
        <p:txBody>
          <a:bodyPr wrap="square" rtlCol="0">
            <a:spAutoFit/>
          </a:bodyPr>
          <a:lstStyle/>
          <a:p>
            <a:r>
              <a:rPr lang="en-GB" sz="1050" b="1"/>
              <a:t>Bath</a:t>
            </a:r>
          </a:p>
          <a:p>
            <a:r>
              <a:rPr lang="en-GB" sz="1050" b="1"/>
              <a:t>station</a:t>
            </a:r>
          </a:p>
        </p:txBody>
      </p:sp>
      <p:sp>
        <p:nvSpPr>
          <p:cNvPr id="1066" name="TextBox 1065">
            <a:extLst>
              <a:ext uri="{FF2B5EF4-FFF2-40B4-BE49-F238E27FC236}">
                <a16:creationId xmlns:a16="http://schemas.microsoft.com/office/drawing/2014/main" id="{8A1FD21C-D2FA-B0EB-2997-37D45D8D4C26}"/>
              </a:ext>
            </a:extLst>
          </p:cNvPr>
          <p:cNvSpPr txBox="1"/>
          <p:nvPr/>
        </p:nvSpPr>
        <p:spPr>
          <a:xfrm>
            <a:off x="1014601" y="3217927"/>
            <a:ext cx="1267945" cy="369332"/>
          </a:xfrm>
          <a:prstGeom prst="rect">
            <a:avLst/>
          </a:prstGeom>
          <a:noFill/>
        </p:spPr>
        <p:txBody>
          <a:bodyPr wrap="square" rtlCol="0">
            <a:spAutoFit/>
          </a:bodyPr>
          <a:lstStyle/>
          <a:p>
            <a:r>
              <a:rPr lang="en-GB"/>
              <a:t>km/h</a:t>
            </a:r>
          </a:p>
        </p:txBody>
      </p:sp>
      <p:pic>
        <p:nvPicPr>
          <p:cNvPr id="1067" name="Picture 2" descr="Running stick figure - Free sports icons">
            <a:extLst>
              <a:ext uri="{FF2B5EF4-FFF2-40B4-BE49-F238E27FC236}">
                <a16:creationId xmlns:a16="http://schemas.microsoft.com/office/drawing/2014/main" id="{1CCC49A8-718E-6FD3-4258-9526B95F0B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73933" y="3798343"/>
            <a:ext cx="505997" cy="492950"/>
          </a:xfrm>
          <a:prstGeom prst="rect">
            <a:avLst/>
          </a:prstGeom>
          <a:noFill/>
          <a:extLst>
            <a:ext uri="{909E8E84-426E-40DD-AFC4-6F175D3DCCD1}">
              <a14:hiddenFill xmlns:a14="http://schemas.microsoft.com/office/drawing/2010/main">
                <a:solidFill>
                  <a:srgbClr val="FFFFFF"/>
                </a:solidFill>
              </a14:hiddenFill>
            </a:ext>
          </a:extLst>
        </p:spPr>
      </p:pic>
      <p:pic>
        <p:nvPicPr>
          <p:cNvPr id="1068" name="Picture 2" descr="Running stick figure - Free sports icons">
            <a:extLst>
              <a:ext uri="{FF2B5EF4-FFF2-40B4-BE49-F238E27FC236}">
                <a16:creationId xmlns:a16="http://schemas.microsoft.com/office/drawing/2014/main" id="{D13125EB-8042-D762-646E-97D7E4BE80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6425" y="3843957"/>
            <a:ext cx="505997" cy="492950"/>
          </a:xfrm>
          <a:prstGeom prst="rect">
            <a:avLst/>
          </a:prstGeom>
          <a:noFill/>
          <a:extLst>
            <a:ext uri="{909E8E84-426E-40DD-AFC4-6F175D3DCCD1}">
              <a14:hiddenFill xmlns:a14="http://schemas.microsoft.com/office/drawing/2010/main">
                <a:solidFill>
                  <a:srgbClr val="FFFFFF"/>
                </a:solidFill>
              </a14:hiddenFill>
            </a:ext>
          </a:extLst>
        </p:spPr>
      </p:pic>
      <p:pic>
        <p:nvPicPr>
          <p:cNvPr id="1069" name="Graphic 1068" descr="Car outline">
            <a:extLst>
              <a:ext uri="{FF2B5EF4-FFF2-40B4-BE49-F238E27FC236}">
                <a16:creationId xmlns:a16="http://schemas.microsoft.com/office/drawing/2014/main" id="{16F82E31-6F55-54D3-3E99-B8520B3AB87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202979" y="3816052"/>
            <a:ext cx="597385" cy="597385"/>
          </a:xfrm>
          <a:prstGeom prst="rect">
            <a:avLst/>
          </a:prstGeom>
        </p:spPr>
      </p:pic>
      <p:sp>
        <p:nvSpPr>
          <p:cNvPr id="1056" name="TextBox 1055">
            <a:extLst>
              <a:ext uri="{FF2B5EF4-FFF2-40B4-BE49-F238E27FC236}">
                <a16:creationId xmlns:a16="http://schemas.microsoft.com/office/drawing/2014/main" id="{FBDA66AA-1BEF-6889-A57A-10999E30F2EA}"/>
              </a:ext>
            </a:extLst>
          </p:cNvPr>
          <p:cNvSpPr txBox="1"/>
          <p:nvPr/>
        </p:nvSpPr>
        <p:spPr>
          <a:xfrm>
            <a:off x="5044893" y="4911085"/>
            <a:ext cx="1004530" cy="415498"/>
          </a:xfrm>
          <a:prstGeom prst="rect">
            <a:avLst/>
          </a:prstGeom>
          <a:noFill/>
        </p:spPr>
        <p:txBody>
          <a:bodyPr wrap="square" rtlCol="0">
            <a:spAutoFit/>
          </a:bodyPr>
          <a:lstStyle/>
          <a:p>
            <a:r>
              <a:rPr lang="en-GB" sz="1050" b="1"/>
              <a:t>Chippenham</a:t>
            </a:r>
            <a:br>
              <a:rPr lang="en-GB" sz="1050" b="1"/>
            </a:br>
            <a:r>
              <a:rPr lang="en-GB" sz="1050" b="1"/>
              <a:t>station </a:t>
            </a:r>
          </a:p>
        </p:txBody>
      </p:sp>
      <p:cxnSp>
        <p:nvCxnSpPr>
          <p:cNvPr id="1035" name="Straight Arrow Connector 1034">
            <a:extLst>
              <a:ext uri="{FF2B5EF4-FFF2-40B4-BE49-F238E27FC236}">
                <a16:creationId xmlns:a16="http://schemas.microsoft.com/office/drawing/2014/main" id="{BF49C3D7-8737-CBD1-BB2C-A7D26062074A}"/>
              </a:ext>
            </a:extLst>
          </p:cNvPr>
          <p:cNvCxnSpPr>
            <a:cxnSpLocks/>
          </p:cNvCxnSpPr>
          <p:nvPr/>
        </p:nvCxnSpPr>
        <p:spPr>
          <a:xfrm>
            <a:off x="3019612" y="4559825"/>
            <a:ext cx="8151308" cy="16449"/>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pic>
        <p:nvPicPr>
          <p:cNvPr id="1073" name="Picture 4" descr="The Rail Industry | Scouts">
            <a:extLst>
              <a:ext uri="{FF2B5EF4-FFF2-40B4-BE49-F238E27FC236}">
                <a16:creationId xmlns:a16="http://schemas.microsoft.com/office/drawing/2014/main" id="{6FC5637F-C7AD-D068-428C-6E9FD982A5D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76501" y="4362344"/>
            <a:ext cx="437933" cy="437933"/>
          </a:xfrm>
          <a:prstGeom prst="rect">
            <a:avLst/>
          </a:prstGeom>
          <a:noFill/>
          <a:extLst>
            <a:ext uri="{909E8E84-426E-40DD-AFC4-6F175D3DCCD1}">
              <a14:hiddenFill xmlns:a14="http://schemas.microsoft.com/office/drawing/2010/main">
                <a:solidFill>
                  <a:srgbClr val="FFFFFF"/>
                </a:solidFill>
              </a14:hiddenFill>
            </a:ext>
          </a:extLst>
        </p:spPr>
      </p:pic>
      <p:pic>
        <p:nvPicPr>
          <p:cNvPr id="1074" name="Picture 4" descr="The Rail Industry | Scouts">
            <a:extLst>
              <a:ext uri="{FF2B5EF4-FFF2-40B4-BE49-F238E27FC236}">
                <a16:creationId xmlns:a16="http://schemas.microsoft.com/office/drawing/2014/main" id="{B3DBE9A4-9166-86E9-1729-C13E6BFD09A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45612" y="6033394"/>
            <a:ext cx="437933" cy="437933"/>
          </a:xfrm>
          <a:prstGeom prst="rect">
            <a:avLst/>
          </a:prstGeom>
          <a:noFill/>
          <a:extLst>
            <a:ext uri="{909E8E84-426E-40DD-AFC4-6F175D3DCCD1}">
              <a14:hiddenFill xmlns:a14="http://schemas.microsoft.com/office/drawing/2010/main">
                <a:solidFill>
                  <a:srgbClr val="FFFFFF"/>
                </a:solidFill>
              </a14:hiddenFill>
            </a:ext>
          </a:extLst>
        </p:spPr>
      </p:pic>
      <p:pic>
        <p:nvPicPr>
          <p:cNvPr id="1075" name="Picture 4" descr="The Rail Industry | Scouts">
            <a:extLst>
              <a:ext uri="{FF2B5EF4-FFF2-40B4-BE49-F238E27FC236}">
                <a16:creationId xmlns:a16="http://schemas.microsoft.com/office/drawing/2014/main" id="{093ACD9D-B34B-F22F-01CF-B0912DACFF6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879420" y="4355149"/>
            <a:ext cx="437933" cy="437933"/>
          </a:xfrm>
          <a:prstGeom prst="rect">
            <a:avLst/>
          </a:prstGeom>
          <a:noFill/>
          <a:extLst>
            <a:ext uri="{909E8E84-426E-40DD-AFC4-6F175D3DCCD1}">
              <a14:hiddenFill xmlns:a14="http://schemas.microsoft.com/office/drawing/2010/main">
                <a:solidFill>
                  <a:srgbClr val="FFFFFF"/>
                </a:solidFill>
              </a14:hiddenFill>
            </a:ext>
          </a:extLst>
        </p:spPr>
      </p:pic>
      <p:pic>
        <p:nvPicPr>
          <p:cNvPr id="1076" name="Picture 4" descr="The Rail Industry | Scouts">
            <a:extLst>
              <a:ext uri="{FF2B5EF4-FFF2-40B4-BE49-F238E27FC236}">
                <a16:creationId xmlns:a16="http://schemas.microsoft.com/office/drawing/2014/main" id="{711FB0DA-4EF2-8869-7979-F5BC98BE154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923725" y="6049495"/>
            <a:ext cx="437933" cy="4379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11693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C609103-0733-8117-4470-8032F53ACD4B}"/>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A68362EE-1234-13D2-A2C1-87D20CF5D8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AFD019-02F9-1517-C1FD-BA44EAA7E6DF}"/>
              </a:ext>
            </a:extLst>
          </p:cNvPr>
          <p:cNvSpPr>
            <a:spLocks noGrp="1"/>
          </p:cNvSpPr>
          <p:nvPr>
            <p:ph type="title"/>
          </p:nvPr>
        </p:nvSpPr>
        <p:spPr>
          <a:xfrm>
            <a:off x="1156851" y="637762"/>
            <a:ext cx="9888496" cy="900131"/>
          </a:xfrm>
        </p:spPr>
        <p:txBody>
          <a:bodyPr anchor="t">
            <a:normAutofit/>
          </a:bodyPr>
          <a:lstStyle/>
          <a:p>
            <a:r>
              <a:rPr lang="en-GB">
                <a:solidFill>
                  <a:schemeClr val="bg1"/>
                </a:solidFill>
              </a:rPr>
              <a:t>DL Algorithms – LSTM and CNN</a:t>
            </a:r>
          </a:p>
          <a:p>
            <a:endParaRPr lang="en-GB" sz="4000">
              <a:solidFill>
                <a:schemeClr val="bg1"/>
              </a:solidFill>
            </a:endParaRPr>
          </a:p>
        </p:txBody>
      </p:sp>
      <p:sp>
        <p:nvSpPr>
          <p:cNvPr id="10" name="Rectangle 9">
            <a:extLst>
              <a:ext uri="{FF2B5EF4-FFF2-40B4-BE49-F238E27FC236}">
                <a16:creationId xmlns:a16="http://schemas.microsoft.com/office/drawing/2014/main" id="{0BA571FD-27F3-0F03-B520-D32BA56858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3242958-B79B-FACD-6501-D940A992DC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6C5E875-B427-6276-6F99-C5A9FB513A6C}"/>
              </a:ext>
            </a:extLst>
          </p:cNvPr>
          <p:cNvSpPr>
            <a:spLocks noGrp="1"/>
          </p:cNvSpPr>
          <p:nvPr>
            <p:ph idx="1"/>
          </p:nvPr>
        </p:nvSpPr>
        <p:spPr>
          <a:xfrm>
            <a:off x="1155548" y="2217343"/>
            <a:ext cx="9880893" cy="3959619"/>
          </a:xfrm>
        </p:spPr>
        <p:txBody>
          <a:bodyPr vert="horz" lIns="91440" tIns="45720" rIns="91440" bIns="45720" rtlCol="0" anchor="t">
            <a:normAutofit lnSpcReduction="10000"/>
          </a:bodyPr>
          <a:lstStyle/>
          <a:p>
            <a:r>
              <a:rPr lang="en-GB" sz="2400" b="1"/>
              <a:t>LSTM </a:t>
            </a:r>
            <a:r>
              <a:rPr lang="en-GB" sz="2400"/>
              <a:t>model learns </a:t>
            </a:r>
            <a:r>
              <a:rPr lang="en-GB" sz="2400" b="1"/>
              <a:t>sequential patterns </a:t>
            </a:r>
            <a:r>
              <a:rPr lang="en-GB" sz="2400"/>
              <a:t>and </a:t>
            </a:r>
            <a:r>
              <a:rPr lang="en-GB" sz="2400" b="1"/>
              <a:t>remembers</a:t>
            </a:r>
            <a:r>
              <a:rPr lang="en-GB" sz="2400"/>
              <a:t> previous steps (like past speed changes) to identify trends such as speeding up or slowing down.  Typically used in text prediction </a:t>
            </a:r>
          </a:p>
          <a:p>
            <a:r>
              <a:rPr lang="en-GB" sz="2400" b="1"/>
              <a:t>CNN </a:t>
            </a:r>
            <a:r>
              <a:rPr lang="en-GB" sz="2400"/>
              <a:t>model uses layers to looks for patterns in short windows typically used in image recognition</a:t>
            </a:r>
          </a:p>
          <a:p>
            <a:r>
              <a:rPr lang="en-GB" sz="2400" b="1"/>
              <a:t>PyTorch</a:t>
            </a:r>
            <a:r>
              <a:rPr lang="en-GB" sz="2400"/>
              <a:t> handles all the AI calculations and feeds the data in batches which allows the model to process multiple sequences at once - training it faster and efficiently </a:t>
            </a:r>
            <a:endParaRPr lang="en-GB"/>
          </a:p>
          <a:p>
            <a:r>
              <a:rPr lang="en-GB" sz="2400" b="1"/>
              <a:t>Epochs</a:t>
            </a:r>
            <a:r>
              <a:rPr lang="en-GB" sz="2400"/>
              <a:t> allows the model look at the data multiple times improving its learning and accuracy</a:t>
            </a:r>
          </a:p>
          <a:p>
            <a:r>
              <a:rPr lang="en-GB" sz="2400"/>
              <a:t>Uses Standard Scaler to rescale features such as speed</a:t>
            </a:r>
          </a:p>
          <a:p>
            <a:endParaRPr lang="en-GB"/>
          </a:p>
          <a:p>
            <a:endParaRPr lang="en-GB" sz="2400"/>
          </a:p>
          <a:p>
            <a:endParaRPr lang="en-GB" sz="2400"/>
          </a:p>
        </p:txBody>
      </p:sp>
      <p:sp>
        <p:nvSpPr>
          <p:cNvPr id="4" name="Slide Number Placeholder 3">
            <a:extLst>
              <a:ext uri="{FF2B5EF4-FFF2-40B4-BE49-F238E27FC236}">
                <a16:creationId xmlns:a16="http://schemas.microsoft.com/office/drawing/2014/main" id="{E3A54801-AD5E-F3DD-D3D4-4D0D473100CC}"/>
              </a:ext>
            </a:extLst>
          </p:cNvPr>
          <p:cNvSpPr>
            <a:spLocks noGrp="1"/>
          </p:cNvSpPr>
          <p:nvPr>
            <p:ph type="sldNum" sz="quarter" idx="12"/>
          </p:nvPr>
        </p:nvSpPr>
        <p:spPr/>
        <p:txBody>
          <a:bodyPr/>
          <a:lstStyle/>
          <a:p>
            <a:fld id="{BC06EAA3-687F-4743-ADBD-74613D0FCAFA}" type="slidenum">
              <a:rPr lang="en-GB" smtClean="0"/>
              <a:t>15</a:t>
            </a:fld>
            <a:endParaRPr lang="en-GB"/>
          </a:p>
        </p:txBody>
      </p:sp>
    </p:spTree>
    <p:extLst>
      <p:ext uri="{BB962C8B-B14F-4D97-AF65-F5344CB8AC3E}">
        <p14:creationId xmlns:p14="http://schemas.microsoft.com/office/powerpoint/2010/main" val="21547973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FA940-8177-F094-F0E7-2486EB1A6232}"/>
            </a:ext>
          </a:extLst>
        </p:cNvPr>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1211F6F1-BBD3-7F8D-FAD5-85ABFD68C6D2}"/>
              </a:ext>
            </a:extLst>
          </p:cNvPr>
          <p:cNvPicPr>
            <a:picLocks noGrp="1" noChangeAspect="1"/>
          </p:cNvPicPr>
          <p:nvPr>
            <p:ph type="pic" sz="quarter" idx="10"/>
          </p:nvPr>
        </p:nvPicPr>
        <p:blipFill rotWithShape="1">
          <a:blip r:embed="rId3">
            <a:alphaModFix amt="52000"/>
            <a:extLst>
              <a:ext uri="{BEBA8EAE-BF5A-486C-A8C5-ECC9F3942E4B}">
                <a14:imgProps xmlns:a14="http://schemas.microsoft.com/office/drawing/2010/main">
                  <a14:imgLayer r:embed="rId4">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3BF68A5E-B89F-0749-5B50-039935C357D8}"/>
              </a:ext>
            </a:extLst>
          </p:cNvPr>
          <p:cNvSpPr>
            <a:spLocks noGrp="1"/>
          </p:cNvSpPr>
          <p:nvPr>
            <p:ph type="title"/>
          </p:nvPr>
        </p:nvSpPr>
        <p:spPr>
          <a:xfrm>
            <a:off x="350836" y="2848231"/>
            <a:ext cx="11490325" cy="823913"/>
          </a:xfrm>
        </p:spPr>
        <p:txBody>
          <a:bodyPr rtlCol="0"/>
          <a:lstStyle/>
          <a:p>
            <a:pPr algn="ctr"/>
            <a:r>
              <a:rPr lang="en-GB"/>
              <a:t>Results </a:t>
            </a:r>
            <a:br>
              <a:rPr lang="en-GB"/>
            </a:br>
            <a:r>
              <a:rPr lang="en-GB"/>
              <a:t>Visualisations</a:t>
            </a:r>
            <a:endParaRPr lang="en-US" err="1"/>
          </a:p>
        </p:txBody>
      </p:sp>
      <p:sp>
        <p:nvSpPr>
          <p:cNvPr id="13" name="Text Placeholder 12">
            <a:extLst>
              <a:ext uri="{FF2B5EF4-FFF2-40B4-BE49-F238E27FC236}">
                <a16:creationId xmlns:a16="http://schemas.microsoft.com/office/drawing/2014/main" id="{489671CE-C67F-2B1F-7400-7F5358DCA5D5}"/>
              </a:ext>
            </a:extLst>
          </p:cNvPr>
          <p:cNvSpPr>
            <a:spLocks noGrp="1"/>
          </p:cNvSpPr>
          <p:nvPr>
            <p:ph type="body" sz="quarter" idx="12"/>
          </p:nvPr>
        </p:nvSpPr>
        <p:spPr/>
        <p:txBody>
          <a:bodyPr/>
          <a:lstStyle/>
          <a:p>
            <a:endParaRPr lang="en-GB"/>
          </a:p>
        </p:txBody>
      </p:sp>
    </p:spTree>
    <p:extLst>
      <p:ext uri="{BB962C8B-B14F-4D97-AF65-F5344CB8AC3E}">
        <p14:creationId xmlns:p14="http://schemas.microsoft.com/office/powerpoint/2010/main" val="34470716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C20057E-87B6-5D79-373B-83D004B3B04B}"/>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36CA379-B315-3651-60CC-8059D4BB5D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78219F-7074-3189-7708-1D0000B6E766}"/>
              </a:ext>
            </a:extLst>
          </p:cNvPr>
          <p:cNvSpPr>
            <a:spLocks noGrp="1"/>
          </p:cNvSpPr>
          <p:nvPr>
            <p:ph type="title"/>
          </p:nvPr>
        </p:nvSpPr>
        <p:spPr>
          <a:xfrm>
            <a:off x="1156851" y="637762"/>
            <a:ext cx="9888496" cy="900131"/>
          </a:xfrm>
        </p:spPr>
        <p:txBody>
          <a:bodyPr anchor="t">
            <a:normAutofit/>
          </a:bodyPr>
          <a:lstStyle/>
          <a:p>
            <a:r>
              <a:rPr lang="en-GB" sz="4000">
                <a:solidFill>
                  <a:schemeClr val="bg1"/>
                </a:solidFill>
              </a:rPr>
              <a:t>Train / Test Split</a:t>
            </a:r>
            <a:endParaRPr lang="en-US"/>
          </a:p>
        </p:txBody>
      </p:sp>
      <p:sp>
        <p:nvSpPr>
          <p:cNvPr id="10" name="Rectangle 9">
            <a:extLst>
              <a:ext uri="{FF2B5EF4-FFF2-40B4-BE49-F238E27FC236}">
                <a16:creationId xmlns:a16="http://schemas.microsoft.com/office/drawing/2014/main" id="{D7C5EF41-685B-6FC5-BE0D-99867E6A26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A1398C4-3E61-9C50-1298-76CA963114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6BA2FD0-109B-346B-0FD0-3D7ADCC839B6}"/>
              </a:ext>
            </a:extLst>
          </p:cNvPr>
          <p:cNvSpPr>
            <a:spLocks noGrp="1"/>
          </p:cNvSpPr>
          <p:nvPr>
            <p:ph idx="1"/>
          </p:nvPr>
        </p:nvSpPr>
        <p:spPr>
          <a:xfrm>
            <a:off x="590120" y="1740987"/>
            <a:ext cx="5809935" cy="3959619"/>
          </a:xfrm>
        </p:spPr>
        <p:txBody>
          <a:bodyPr vert="horz" lIns="91440" tIns="45720" rIns="91440" bIns="45720" rtlCol="0" anchor="t">
            <a:noAutofit/>
          </a:bodyPr>
          <a:lstStyle/>
          <a:p>
            <a:pPr marL="0" indent="0">
              <a:buNone/>
            </a:pPr>
            <a:endParaRPr lang="en-GB" sz="2400"/>
          </a:p>
          <a:p>
            <a:r>
              <a:rPr lang="en-GB" sz="2000"/>
              <a:t>80/20 split across all algorithms</a:t>
            </a:r>
          </a:p>
          <a:p>
            <a:pPr lvl="1"/>
            <a:r>
              <a:rPr lang="en-GB" sz="1800"/>
              <a:t>Standard 80/20 split to help with overfitting</a:t>
            </a:r>
          </a:p>
          <a:p>
            <a:pPr lvl="1"/>
            <a:r>
              <a:rPr lang="en-GB" sz="1800"/>
              <a:t>gives an unbiased estimate of model performance</a:t>
            </a:r>
            <a:endParaRPr lang="en-GB"/>
          </a:p>
          <a:p>
            <a:r>
              <a:rPr lang="en-GB" sz="2000"/>
              <a:t>80% towards training</a:t>
            </a:r>
          </a:p>
          <a:p>
            <a:pPr lvl="1"/>
            <a:r>
              <a:rPr lang="en-GB" sz="1800"/>
              <a:t>Used to teach each algorithm the patterns and relationships in the data</a:t>
            </a:r>
          </a:p>
          <a:p>
            <a:r>
              <a:rPr lang="en-GB" sz="2000"/>
              <a:t>20% towards testing</a:t>
            </a:r>
          </a:p>
          <a:p>
            <a:pPr lvl="1"/>
            <a:r>
              <a:rPr lang="en-GB" sz="1800"/>
              <a:t>Used to evaluate how well the model generalizes to unseen data.</a:t>
            </a:r>
          </a:p>
          <a:p>
            <a:r>
              <a:rPr lang="en-GB" sz="2000"/>
              <a:t>The same split was applied so that results remain comparable across all learning approaches giving a fair comparison</a:t>
            </a:r>
          </a:p>
          <a:p>
            <a:pPr marL="457200" lvl="1" indent="0">
              <a:buNone/>
            </a:pPr>
            <a:endParaRPr lang="en-GB" sz="2000"/>
          </a:p>
        </p:txBody>
      </p:sp>
      <p:pic>
        <p:nvPicPr>
          <p:cNvPr id="5" name="Picture 4" descr="A blue pie chart with a few black text&#10;&#10;AI-generated content may be incorrect.">
            <a:extLst>
              <a:ext uri="{FF2B5EF4-FFF2-40B4-BE49-F238E27FC236}">
                <a16:creationId xmlns:a16="http://schemas.microsoft.com/office/drawing/2014/main" id="{3EB8FEEB-0706-FA6F-6FE6-422EDF38834E}"/>
              </a:ext>
            </a:extLst>
          </p:cNvPr>
          <p:cNvPicPr>
            <a:picLocks noChangeAspect="1"/>
          </p:cNvPicPr>
          <p:nvPr/>
        </p:nvPicPr>
        <p:blipFill>
          <a:blip r:embed="rId3"/>
          <a:stretch>
            <a:fillRect/>
          </a:stretch>
        </p:blipFill>
        <p:spPr>
          <a:xfrm>
            <a:off x="6990175" y="1745021"/>
            <a:ext cx="5084877" cy="5056597"/>
          </a:xfrm>
          <a:prstGeom prst="rect">
            <a:avLst/>
          </a:prstGeom>
        </p:spPr>
      </p:pic>
    </p:spTree>
    <p:extLst>
      <p:ext uri="{BB962C8B-B14F-4D97-AF65-F5344CB8AC3E}">
        <p14:creationId xmlns:p14="http://schemas.microsoft.com/office/powerpoint/2010/main" val="2689226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ED3519A-F083-DDCD-9FB9-3D71E04FDB79}"/>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DCCB260B-9578-D3F3-35FA-CA8C1CBD84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9B4CB4-DE96-86FA-41CC-D85B181C9462}"/>
              </a:ext>
            </a:extLst>
          </p:cNvPr>
          <p:cNvSpPr>
            <a:spLocks noGrp="1"/>
          </p:cNvSpPr>
          <p:nvPr>
            <p:ph type="title"/>
          </p:nvPr>
        </p:nvSpPr>
        <p:spPr>
          <a:xfrm>
            <a:off x="1156851" y="637762"/>
            <a:ext cx="9888496" cy="900131"/>
          </a:xfrm>
        </p:spPr>
        <p:txBody>
          <a:bodyPr anchor="t">
            <a:normAutofit/>
          </a:bodyPr>
          <a:lstStyle/>
          <a:p>
            <a:r>
              <a:rPr lang="en-GB">
                <a:solidFill>
                  <a:schemeClr val="bg1"/>
                </a:solidFill>
              </a:rPr>
              <a:t>Performance metrics</a:t>
            </a:r>
            <a:endParaRPr lang="en-US"/>
          </a:p>
          <a:p>
            <a:endParaRPr lang="en-GB" sz="4000">
              <a:solidFill>
                <a:schemeClr val="bg1"/>
              </a:solidFill>
            </a:endParaRPr>
          </a:p>
        </p:txBody>
      </p:sp>
      <p:sp>
        <p:nvSpPr>
          <p:cNvPr id="10" name="Rectangle 9">
            <a:extLst>
              <a:ext uri="{FF2B5EF4-FFF2-40B4-BE49-F238E27FC236}">
                <a16:creationId xmlns:a16="http://schemas.microsoft.com/office/drawing/2014/main" id="{9CB8980F-3D2C-8962-CECB-A06A65FD1B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9F78699-597C-C640-A15A-E5E2EAD15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DDB6774-D684-0174-A9D6-84CF99D42C3D}"/>
              </a:ext>
            </a:extLst>
          </p:cNvPr>
          <p:cNvSpPr>
            <a:spLocks noGrp="1"/>
          </p:cNvSpPr>
          <p:nvPr>
            <p:ph idx="1"/>
          </p:nvPr>
        </p:nvSpPr>
        <p:spPr>
          <a:xfrm>
            <a:off x="1155548" y="2217343"/>
            <a:ext cx="9880893" cy="3959619"/>
          </a:xfrm>
        </p:spPr>
        <p:txBody>
          <a:bodyPr vert="horz" lIns="91440" tIns="45720" rIns="91440" bIns="45720" rtlCol="0" anchor="t">
            <a:normAutofit/>
          </a:bodyPr>
          <a:lstStyle/>
          <a:p>
            <a:endParaRPr lang="en-GB" sz="2400"/>
          </a:p>
          <a:p>
            <a:endParaRPr lang="en-GB" sz="2400"/>
          </a:p>
        </p:txBody>
      </p:sp>
      <p:sp>
        <p:nvSpPr>
          <p:cNvPr id="4" name="Slide Number Placeholder 3">
            <a:extLst>
              <a:ext uri="{FF2B5EF4-FFF2-40B4-BE49-F238E27FC236}">
                <a16:creationId xmlns:a16="http://schemas.microsoft.com/office/drawing/2014/main" id="{9954D572-2D9C-7DC9-1390-BABDA85BBDC1}"/>
              </a:ext>
            </a:extLst>
          </p:cNvPr>
          <p:cNvSpPr>
            <a:spLocks noGrp="1"/>
          </p:cNvSpPr>
          <p:nvPr>
            <p:ph type="sldNum" sz="quarter" idx="12"/>
          </p:nvPr>
        </p:nvSpPr>
        <p:spPr/>
        <p:txBody>
          <a:bodyPr/>
          <a:lstStyle/>
          <a:p>
            <a:fld id="{BC06EAA3-687F-4743-ADBD-74613D0FCAFA}" type="slidenum">
              <a:rPr lang="en-GB" smtClean="0"/>
              <a:t>18</a:t>
            </a:fld>
            <a:endParaRPr lang="en-GB"/>
          </a:p>
        </p:txBody>
      </p:sp>
      <p:sp>
        <p:nvSpPr>
          <p:cNvPr id="5" name="TextBox 4">
            <a:extLst>
              <a:ext uri="{FF2B5EF4-FFF2-40B4-BE49-F238E27FC236}">
                <a16:creationId xmlns:a16="http://schemas.microsoft.com/office/drawing/2014/main" id="{BD0FDFFA-0A49-C53D-9C20-512E25F9D90E}"/>
              </a:ext>
            </a:extLst>
          </p:cNvPr>
          <p:cNvSpPr txBox="1"/>
          <p:nvPr/>
        </p:nvSpPr>
        <p:spPr>
          <a:xfrm>
            <a:off x="234583" y="2311102"/>
            <a:ext cx="5216854"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ea typeface="+mn-lt"/>
                <a:cs typeface="+mn-lt"/>
              </a:rPr>
              <a:t>To evaluate the performance of our models, we used the following metrics:</a:t>
            </a:r>
            <a:endParaRPr lang="en-US" sz="1600">
              <a:ea typeface="+mn-lt"/>
              <a:cs typeface="+mn-lt"/>
            </a:endParaRPr>
          </a:p>
          <a:p>
            <a:endParaRPr lang="en-GB" sz="1600"/>
          </a:p>
          <a:p>
            <a:r>
              <a:rPr lang="en-GB" sz="1600">
                <a:ea typeface="+mn-lt"/>
                <a:cs typeface="+mn-lt"/>
              </a:rPr>
              <a:t>Accuracy: A fundamental metric that shows you the overall proportion of correct predictions made by the model.</a:t>
            </a:r>
          </a:p>
          <a:p>
            <a:endParaRPr lang="en-GB" sz="1600"/>
          </a:p>
          <a:p>
            <a:r>
              <a:rPr lang="en-GB" sz="1600">
                <a:ea typeface="+mn-lt"/>
                <a:cs typeface="+mn-lt"/>
              </a:rPr>
              <a:t>Precision: This measures how many positive predictions made by the model were correctly classified.</a:t>
            </a:r>
          </a:p>
          <a:p>
            <a:endParaRPr lang="en-GB" sz="1600"/>
          </a:p>
          <a:p>
            <a:r>
              <a:rPr lang="en-GB" sz="1600">
                <a:ea typeface="+mn-lt"/>
                <a:cs typeface="+mn-lt"/>
              </a:rPr>
              <a:t>Recall: From all actual positives, this measures how many were correctly predicted.</a:t>
            </a:r>
          </a:p>
          <a:p>
            <a:endParaRPr lang="en-GB" sz="1600"/>
          </a:p>
          <a:p>
            <a:r>
              <a:rPr lang="en-GB" sz="1600">
                <a:ea typeface="+mn-lt"/>
                <a:cs typeface="+mn-lt"/>
              </a:rPr>
              <a:t>F1-Score: This is the mean of Precision and Recall - giving a balanced view of the models effectiveness.</a:t>
            </a:r>
            <a:endParaRPr lang="en-GB" sz="1600"/>
          </a:p>
        </p:txBody>
      </p:sp>
      <p:pic>
        <p:nvPicPr>
          <p:cNvPr id="6" name="Picture 5" descr="A diagram of a function&#10;&#10;AI-generated content may be incorrect.">
            <a:extLst>
              <a:ext uri="{FF2B5EF4-FFF2-40B4-BE49-F238E27FC236}">
                <a16:creationId xmlns:a16="http://schemas.microsoft.com/office/drawing/2014/main" id="{F648BCFA-16E2-B87B-8F5B-5A8D45CB684C}"/>
              </a:ext>
            </a:extLst>
          </p:cNvPr>
          <p:cNvPicPr>
            <a:picLocks noChangeAspect="1"/>
          </p:cNvPicPr>
          <p:nvPr/>
        </p:nvPicPr>
        <p:blipFill>
          <a:blip r:embed="rId3"/>
          <a:stretch>
            <a:fillRect/>
          </a:stretch>
        </p:blipFill>
        <p:spPr>
          <a:xfrm>
            <a:off x="5450909" y="2313336"/>
            <a:ext cx="6551113" cy="3400425"/>
          </a:xfrm>
          <a:prstGeom prst="rect">
            <a:avLst/>
          </a:prstGeom>
        </p:spPr>
      </p:pic>
    </p:spTree>
    <p:extLst>
      <p:ext uri="{BB962C8B-B14F-4D97-AF65-F5344CB8AC3E}">
        <p14:creationId xmlns:p14="http://schemas.microsoft.com/office/powerpoint/2010/main" val="42850415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F438D2-CB23-DA7C-1192-A1A07D977C91}"/>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02DEE436-52B7-D522-1533-B7FA7D633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228017-B193-EB5E-C33A-0183964DD5E3}"/>
              </a:ext>
            </a:extLst>
          </p:cNvPr>
          <p:cNvSpPr>
            <a:spLocks noGrp="1"/>
          </p:cNvSpPr>
          <p:nvPr>
            <p:ph type="title"/>
          </p:nvPr>
        </p:nvSpPr>
        <p:spPr>
          <a:xfrm>
            <a:off x="1156851" y="637762"/>
            <a:ext cx="9888496" cy="900131"/>
          </a:xfrm>
        </p:spPr>
        <p:txBody>
          <a:bodyPr anchor="t">
            <a:normAutofit/>
          </a:bodyPr>
          <a:lstStyle/>
          <a:p>
            <a:r>
              <a:rPr lang="en-GB" sz="4000">
                <a:solidFill>
                  <a:schemeClr val="bg1"/>
                </a:solidFill>
              </a:rPr>
              <a:t>ML Algorithms – Confusion Matrix</a:t>
            </a:r>
            <a:endParaRPr lang="en-US"/>
          </a:p>
        </p:txBody>
      </p:sp>
      <p:sp>
        <p:nvSpPr>
          <p:cNvPr id="10" name="Rectangle 9">
            <a:extLst>
              <a:ext uri="{FF2B5EF4-FFF2-40B4-BE49-F238E27FC236}">
                <a16:creationId xmlns:a16="http://schemas.microsoft.com/office/drawing/2014/main" id="{E7CCA0E5-B2F9-2A3D-198C-5F7B747F63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B0FA307-FB2D-4E95-7A97-AD6CBEB1F8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FC354144-58C7-6443-B1F0-7125E6D815F7}"/>
              </a:ext>
            </a:extLst>
          </p:cNvPr>
          <p:cNvSpPr>
            <a:spLocks noGrp="1"/>
          </p:cNvSpPr>
          <p:nvPr>
            <p:ph type="sldNum" sz="quarter" idx="12"/>
          </p:nvPr>
        </p:nvSpPr>
        <p:spPr/>
        <p:txBody>
          <a:bodyPr/>
          <a:lstStyle/>
          <a:p>
            <a:fld id="{BC06EAA3-687F-4743-ADBD-74613D0FCAFA}" type="slidenum">
              <a:rPr lang="en-GB" smtClean="0"/>
              <a:t>19</a:t>
            </a:fld>
            <a:endParaRPr lang="en-GB"/>
          </a:p>
        </p:txBody>
      </p:sp>
      <p:sp>
        <p:nvSpPr>
          <p:cNvPr id="7" name="TextBox 6">
            <a:extLst>
              <a:ext uri="{FF2B5EF4-FFF2-40B4-BE49-F238E27FC236}">
                <a16:creationId xmlns:a16="http://schemas.microsoft.com/office/drawing/2014/main" id="{1C20DCBA-B059-E1C8-762B-84B449E8AD7B}"/>
              </a:ext>
            </a:extLst>
          </p:cNvPr>
          <p:cNvSpPr txBox="1"/>
          <p:nvPr/>
        </p:nvSpPr>
        <p:spPr>
          <a:xfrm>
            <a:off x="6402643" y="1818514"/>
            <a:ext cx="259623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a:t>SVM</a:t>
            </a:r>
          </a:p>
        </p:txBody>
      </p:sp>
      <p:sp>
        <p:nvSpPr>
          <p:cNvPr id="9" name="TextBox 8">
            <a:extLst>
              <a:ext uri="{FF2B5EF4-FFF2-40B4-BE49-F238E27FC236}">
                <a16:creationId xmlns:a16="http://schemas.microsoft.com/office/drawing/2014/main" id="{0FC49C43-0547-0017-A863-F7C23B98B02B}"/>
              </a:ext>
            </a:extLst>
          </p:cNvPr>
          <p:cNvSpPr txBox="1"/>
          <p:nvPr/>
        </p:nvSpPr>
        <p:spPr>
          <a:xfrm>
            <a:off x="1642999" y="1813893"/>
            <a:ext cx="259623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Random Forest</a:t>
            </a:r>
          </a:p>
        </p:txBody>
      </p:sp>
      <p:pic>
        <p:nvPicPr>
          <p:cNvPr id="13" name="Picture 12">
            <a:extLst>
              <a:ext uri="{FF2B5EF4-FFF2-40B4-BE49-F238E27FC236}">
                <a16:creationId xmlns:a16="http://schemas.microsoft.com/office/drawing/2014/main" id="{FD2649EE-72C8-D256-8323-C1356812E87B}"/>
              </a:ext>
            </a:extLst>
          </p:cNvPr>
          <p:cNvPicPr>
            <a:picLocks noChangeAspect="1"/>
          </p:cNvPicPr>
          <p:nvPr/>
        </p:nvPicPr>
        <p:blipFill>
          <a:blip r:embed="rId3"/>
          <a:stretch>
            <a:fillRect/>
          </a:stretch>
        </p:blipFill>
        <p:spPr>
          <a:xfrm>
            <a:off x="6402643" y="2196914"/>
            <a:ext cx="4777660" cy="3970262"/>
          </a:xfrm>
          <a:prstGeom prst="rect">
            <a:avLst/>
          </a:prstGeom>
        </p:spPr>
      </p:pic>
      <p:pic>
        <p:nvPicPr>
          <p:cNvPr id="15" name="Picture 14">
            <a:extLst>
              <a:ext uri="{FF2B5EF4-FFF2-40B4-BE49-F238E27FC236}">
                <a16:creationId xmlns:a16="http://schemas.microsoft.com/office/drawing/2014/main" id="{9C0EF6E7-2C1B-24BF-4B41-D96D6B3D1739}"/>
              </a:ext>
            </a:extLst>
          </p:cNvPr>
          <p:cNvPicPr>
            <a:picLocks noChangeAspect="1"/>
          </p:cNvPicPr>
          <p:nvPr/>
        </p:nvPicPr>
        <p:blipFill>
          <a:blip r:embed="rId4"/>
          <a:stretch>
            <a:fillRect/>
          </a:stretch>
        </p:blipFill>
        <p:spPr>
          <a:xfrm>
            <a:off x="294932" y="2181360"/>
            <a:ext cx="5494416" cy="3997187"/>
          </a:xfrm>
          <a:prstGeom prst="rect">
            <a:avLst/>
          </a:prstGeom>
        </p:spPr>
      </p:pic>
    </p:spTree>
    <p:extLst>
      <p:ext uri="{BB962C8B-B14F-4D97-AF65-F5344CB8AC3E}">
        <p14:creationId xmlns:p14="http://schemas.microsoft.com/office/powerpoint/2010/main" val="28641440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AFF798D-B27C-3D49-D73D-6F8217412AEB}"/>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82C385AC-4E85-91CF-71A8-3DCA30061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F64997-9768-41C6-3260-715E67511BC9}"/>
              </a:ext>
            </a:extLst>
          </p:cNvPr>
          <p:cNvSpPr>
            <a:spLocks noGrp="1"/>
          </p:cNvSpPr>
          <p:nvPr>
            <p:ph type="title"/>
          </p:nvPr>
        </p:nvSpPr>
        <p:spPr>
          <a:xfrm>
            <a:off x="1156851" y="637762"/>
            <a:ext cx="9888496" cy="900131"/>
          </a:xfrm>
        </p:spPr>
        <p:txBody>
          <a:bodyPr anchor="t">
            <a:normAutofit/>
          </a:bodyPr>
          <a:lstStyle/>
          <a:p>
            <a:r>
              <a:rPr lang="en-GB" sz="4000">
                <a:solidFill>
                  <a:schemeClr val="bg1"/>
                </a:solidFill>
              </a:rPr>
              <a:t>DL Algorithms – Confusion Matrix</a:t>
            </a:r>
            <a:endParaRPr lang="en-US">
              <a:solidFill>
                <a:schemeClr val="bg1"/>
              </a:solidFill>
            </a:endParaRPr>
          </a:p>
        </p:txBody>
      </p:sp>
      <p:sp>
        <p:nvSpPr>
          <p:cNvPr id="10" name="Rectangle 9">
            <a:extLst>
              <a:ext uri="{FF2B5EF4-FFF2-40B4-BE49-F238E27FC236}">
                <a16:creationId xmlns:a16="http://schemas.microsoft.com/office/drawing/2014/main" id="{5A94078D-EB98-4A18-3C78-9C42FA603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EC91B4F-F5C4-DD19-9E40-546B6B565D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6BD311DE-4B64-498E-6F0F-A24D642E7279}"/>
              </a:ext>
            </a:extLst>
          </p:cNvPr>
          <p:cNvSpPr>
            <a:spLocks noGrp="1"/>
          </p:cNvSpPr>
          <p:nvPr>
            <p:ph type="sldNum" sz="quarter" idx="12"/>
          </p:nvPr>
        </p:nvSpPr>
        <p:spPr/>
        <p:txBody>
          <a:bodyPr/>
          <a:lstStyle/>
          <a:p>
            <a:fld id="{BC06EAA3-687F-4743-ADBD-74613D0FCAFA}" type="slidenum">
              <a:rPr lang="en-GB" smtClean="0"/>
              <a:t>20</a:t>
            </a:fld>
            <a:endParaRPr lang="en-GB"/>
          </a:p>
        </p:txBody>
      </p:sp>
      <p:sp>
        <p:nvSpPr>
          <p:cNvPr id="6" name="TextBox 5">
            <a:extLst>
              <a:ext uri="{FF2B5EF4-FFF2-40B4-BE49-F238E27FC236}">
                <a16:creationId xmlns:a16="http://schemas.microsoft.com/office/drawing/2014/main" id="{77625986-6433-78E0-1DA2-950FB0A7F889}"/>
              </a:ext>
            </a:extLst>
          </p:cNvPr>
          <p:cNvSpPr txBox="1"/>
          <p:nvPr/>
        </p:nvSpPr>
        <p:spPr>
          <a:xfrm>
            <a:off x="317818" y="1821694"/>
            <a:ext cx="259623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LSTM</a:t>
            </a:r>
            <a:endParaRPr lang="en-US"/>
          </a:p>
        </p:txBody>
      </p:sp>
      <p:pic>
        <p:nvPicPr>
          <p:cNvPr id="9" name="Picture 8" descr="A screenshot of a graph&#10;&#10;AI-generated content may be incorrect.">
            <a:extLst>
              <a:ext uri="{FF2B5EF4-FFF2-40B4-BE49-F238E27FC236}">
                <a16:creationId xmlns:a16="http://schemas.microsoft.com/office/drawing/2014/main" id="{BD16E212-497E-B212-D897-C18457F024AB}"/>
              </a:ext>
            </a:extLst>
          </p:cNvPr>
          <p:cNvPicPr>
            <a:picLocks noChangeAspect="1"/>
          </p:cNvPicPr>
          <p:nvPr/>
        </p:nvPicPr>
        <p:blipFill>
          <a:blip r:embed="rId3"/>
          <a:srcRect l="-2080" t="4809" r="2224" b="3512"/>
          <a:stretch>
            <a:fillRect/>
          </a:stretch>
        </p:blipFill>
        <p:spPr>
          <a:xfrm>
            <a:off x="5926393" y="2223418"/>
            <a:ext cx="6090522" cy="4129254"/>
          </a:xfrm>
          <a:prstGeom prst="rect">
            <a:avLst/>
          </a:prstGeom>
        </p:spPr>
      </p:pic>
      <p:sp>
        <p:nvSpPr>
          <p:cNvPr id="3" name="TextBox 2">
            <a:extLst>
              <a:ext uri="{FF2B5EF4-FFF2-40B4-BE49-F238E27FC236}">
                <a16:creationId xmlns:a16="http://schemas.microsoft.com/office/drawing/2014/main" id="{5D9B4AB2-0E3A-2921-474F-174AF62383A2}"/>
              </a:ext>
            </a:extLst>
          </p:cNvPr>
          <p:cNvSpPr txBox="1"/>
          <p:nvPr/>
        </p:nvSpPr>
        <p:spPr>
          <a:xfrm>
            <a:off x="6218671" y="1821694"/>
            <a:ext cx="259623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CNN</a:t>
            </a:r>
            <a:endParaRPr lang="en-US"/>
          </a:p>
        </p:txBody>
      </p:sp>
      <p:pic>
        <p:nvPicPr>
          <p:cNvPr id="5" name="Picture 4" descr="A graph with numbers and squares&#10;&#10;AI-generated content may be incorrect.">
            <a:extLst>
              <a:ext uri="{FF2B5EF4-FFF2-40B4-BE49-F238E27FC236}">
                <a16:creationId xmlns:a16="http://schemas.microsoft.com/office/drawing/2014/main" id="{2BDEEE60-ACA4-2171-1025-82DF2C880F0E}"/>
              </a:ext>
            </a:extLst>
          </p:cNvPr>
          <p:cNvPicPr>
            <a:picLocks noChangeAspect="1"/>
          </p:cNvPicPr>
          <p:nvPr/>
        </p:nvPicPr>
        <p:blipFill>
          <a:blip r:embed="rId4"/>
          <a:stretch>
            <a:fillRect/>
          </a:stretch>
        </p:blipFill>
        <p:spPr>
          <a:xfrm>
            <a:off x="178271" y="2247488"/>
            <a:ext cx="5748867" cy="4291543"/>
          </a:xfrm>
          <a:prstGeom prst="rect">
            <a:avLst/>
          </a:prstGeom>
        </p:spPr>
      </p:pic>
    </p:spTree>
    <p:extLst>
      <p:ext uri="{BB962C8B-B14F-4D97-AF65-F5344CB8AC3E}">
        <p14:creationId xmlns:p14="http://schemas.microsoft.com/office/powerpoint/2010/main" val="21541854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C5CE6E-74FA-40DC-E561-6FEABA376EC1}"/>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71A1FF73-F2B2-9D45-17E7-27CC5F080A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9924E1-1044-5ACE-27F0-B0135DF7C276}"/>
              </a:ext>
            </a:extLst>
          </p:cNvPr>
          <p:cNvSpPr>
            <a:spLocks noGrp="1"/>
          </p:cNvSpPr>
          <p:nvPr>
            <p:ph type="title"/>
          </p:nvPr>
        </p:nvSpPr>
        <p:spPr>
          <a:xfrm>
            <a:off x="1156851" y="637762"/>
            <a:ext cx="9888496" cy="900131"/>
          </a:xfrm>
        </p:spPr>
        <p:txBody>
          <a:bodyPr anchor="t">
            <a:normAutofit/>
          </a:bodyPr>
          <a:lstStyle/>
          <a:p>
            <a:r>
              <a:rPr lang="en-GB">
                <a:solidFill>
                  <a:schemeClr val="bg1"/>
                </a:solidFill>
              </a:rPr>
              <a:t>ML vs DL Algorithms</a:t>
            </a:r>
            <a:endParaRPr lang="en-US">
              <a:solidFill>
                <a:schemeClr val="bg1"/>
              </a:solidFill>
            </a:endParaRPr>
          </a:p>
          <a:p>
            <a:endParaRPr lang="en-GB" sz="4000">
              <a:solidFill>
                <a:schemeClr val="bg1"/>
              </a:solidFill>
            </a:endParaRPr>
          </a:p>
        </p:txBody>
      </p:sp>
      <p:sp>
        <p:nvSpPr>
          <p:cNvPr id="10" name="Rectangle 9">
            <a:extLst>
              <a:ext uri="{FF2B5EF4-FFF2-40B4-BE49-F238E27FC236}">
                <a16:creationId xmlns:a16="http://schemas.microsoft.com/office/drawing/2014/main" id="{611CC3F6-8A35-0B20-FA10-F37BF1CF09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F5A8037-6CFF-3F13-652E-452E4CBA9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884A9F0-EB04-5CA6-6299-8895106FBD9A}"/>
              </a:ext>
            </a:extLst>
          </p:cNvPr>
          <p:cNvSpPr>
            <a:spLocks noGrp="1"/>
          </p:cNvSpPr>
          <p:nvPr>
            <p:ph idx="1"/>
          </p:nvPr>
        </p:nvSpPr>
        <p:spPr>
          <a:xfrm>
            <a:off x="1155548" y="2217343"/>
            <a:ext cx="9880893" cy="3959619"/>
          </a:xfrm>
        </p:spPr>
        <p:txBody>
          <a:bodyPr vert="horz" lIns="91440" tIns="45720" rIns="91440" bIns="45720" rtlCol="0" anchor="t">
            <a:normAutofit/>
          </a:bodyPr>
          <a:lstStyle/>
          <a:p>
            <a:endParaRPr lang="en-GB" sz="2400"/>
          </a:p>
          <a:p>
            <a:endParaRPr lang="en-GB" sz="2400"/>
          </a:p>
        </p:txBody>
      </p:sp>
      <p:sp>
        <p:nvSpPr>
          <p:cNvPr id="4" name="Slide Number Placeholder 3">
            <a:extLst>
              <a:ext uri="{FF2B5EF4-FFF2-40B4-BE49-F238E27FC236}">
                <a16:creationId xmlns:a16="http://schemas.microsoft.com/office/drawing/2014/main" id="{D5844D38-A9FA-36B1-BA0E-7F729FF7408A}"/>
              </a:ext>
            </a:extLst>
          </p:cNvPr>
          <p:cNvSpPr>
            <a:spLocks noGrp="1"/>
          </p:cNvSpPr>
          <p:nvPr>
            <p:ph type="sldNum" sz="quarter" idx="12"/>
          </p:nvPr>
        </p:nvSpPr>
        <p:spPr/>
        <p:txBody>
          <a:bodyPr/>
          <a:lstStyle/>
          <a:p>
            <a:fld id="{BC06EAA3-687F-4743-ADBD-74613D0FCAFA}" type="slidenum">
              <a:rPr lang="en-GB" smtClean="0"/>
              <a:t>21</a:t>
            </a:fld>
            <a:endParaRPr lang="en-GB"/>
          </a:p>
        </p:txBody>
      </p:sp>
      <p:sp>
        <p:nvSpPr>
          <p:cNvPr id="7" name="TextBox 6">
            <a:extLst>
              <a:ext uri="{FF2B5EF4-FFF2-40B4-BE49-F238E27FC236}">
                <a16:creationId xmlns:a16="http://schemas.microsoft.com/office/drawing/2014/main" id="{7E60603E-7C8B-2E4A-DCB0-66C056DAC6CF}"/>
              </a:ext>
            </a:extLst>
          </p:cNvPr>
          <p:cNvSpPr txBox="1"/>
          <p:nvPr/>
        </p:nvSpPr>
        <p:spPr>
          <a:xfrm>
            <a:off x="1159766" y="2264984"/>
            <a:ext cx="9874058" cy="80483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sz="1900">
                <a:ea typeface="+mn-lt"/>
                <a:cs typeface="+mn-lt"/>
              </a:rPr>
              <a:t>Machine Learning: Random Forest had higher accuracy (0.9010 vs 0.7324), precision (0.8941 vs 0.7298), recall (0.9010 vs 0.7324) and F1-score (0.8972 vs 0.7256) compared to SVM</a:t>
            </a:r>
            <a:endParaRPr lang="en-GB" sz="1900"/>
          </a:p>
          <a:p>
            <a:pPr marL="285750" indent="-285750">
              <a:buFont typeface="Arial"/>
              <a:buChar char="•"/>
            </a:pPr>
            <a:endParaRPr lang="en-GB" sz="1900">
              <a:ea typeface="+mn-lt"/>
              <a:cs typeface="+mn-lt"/>
            </a:endParaRPr>
          </a:p>
          <a:p>
            <a:pPr marL="285750" indent="-285750">
              <a:buFont typeface="Arial"/>
              <a:buChar char="•"/>
            </a:pPr>
            <a:r>
              <a:rPr lang="en-GB" sz="1900">
                <a:ea typeface="+mn-lt"/>
                <a:cs typeface="+mn-lt"/>
              </a:rPr>
              <a:t>Deep Learning: LSTM had higher accuracy (0.9579 vs 0.8016), precision (0.9583 vs 0.7976), recall (0.9617 vs 0.8016) and F1-score (0.9645 vs 0.7982) compared to CNN</a:t>
            </a:r>
          </a:p>
          <a:p>
            <a:pPr marL="285750" indent="-285750">
              <a:buFont typeface="Arial"/>
              <a:buChar char="•"/>
            </a:pPr>
            <a:endParaRPr lang="en-GB" sz="1900"/>
          </a:p>
          <a:p>
            <a:pPr marL="285750" indent="-285750">
              <a:buFont typeface="Arial"/>
              <a:buChar char="•"/>
            </a:pPr>
            <a:r>
              <a:rPr lang="en-GB" sz="1900">
                <a:ea typeface="+mn-lt"/>
                <a:cs typeface="+mn-lt"/>
              </a:rPr>
              <a:t>Comparison: LSTM had higher accuracy (0.9579 vs 0.9010), precision (0.9583 vs 0.8941), recall (0.9617 vs 0.9010) and F1-score (0.9645 vs 0.8972) compared to Random Forest</a:t>
            </a:r>
            <a:endParaRPr lang="en-GB" sz="1900"/>
          </a:p>
          <a:p>
            <a:pPr marL="285750" indent="-285750">
              <a:buFont typeface="Arial"/>
              <a:buChar char="•"/>
            </a:pPr>
            <a:endParaRPr lang="en-GB" sz="1900"/>
          </a:p>
          <a:p>
            <a:pPr marL="285750" indent="-285750">
              <a:buFont typeface="Arial"/>
              <a:buChar char="•"/>
            </a:pPr>
            <a:r>
              <a:rPr lang="en-GB" sz="1900">
                <a:ea typeface="+mn-lt"/>
                <a:cs typeface="+mn-lt"/>
              </a:rPr>
              <a:t>Comparison: SVM and CNN were the lowest-performing models, with SVM showing lower accuracy (0.7324 vs 0.8016), precision (0.7298 vs 0.7976), recall (0.7324 vs 0.8016) and F1-score (0.7256 vs 0.7982) compared to CNN</a:t>
            </a:r>
            <a:endParaRPr lang="en-GB" sz="1900"/>
          </a:p>
          <a:p>
            <a:pPr marL="285750" indent="-285750">
              <a:buFont typeface="Arial"/>
              <a:buChar char="•"/>
            </a:pPr>
            <a:endParaRPr lang="en-GB"/>
          </a:p>
          <a:p>
            <a:pPr marL="285750" indent="-285750">
              <a:buFont typeface="Arial"/>
              <a:buChar char="•"/>
            </a:pPr>
            <a:endParaRPr lang="en-GB"/>
          </a:p>
          <a:p>
            <a:pPr marL="285750" indent="-285750">
              <a:buFont typeface="Arial"/>
              <a:buChar char="•"/>
            </a:pPr>
            <a:endParaRPr lang="en-GB"/>
          </a:p>
          <a:p>
            <a:pPr marL="285750" indent="-285750">
              <a:buFont typeface="Arial"/>
              <a:buChar char="•"/>
            </a:pPr>
            <a:endParaRPr lang="en-GB"/>
          </a:p>
          <a:p>
            <a:pPr marL="285750" indent="-285750">
              <a:buFont typeface="Arial"/>
              <a:buChar char="•"/>
            </a:pPr>
            <a:endParaRPr lang="en-GB"/>
          </a:p>
          <a:p>
            <a:pPr marL="285750" indent="-285750">
              <a:buFont typeface="Arial"/>
              <a:buChar char="•"/>
            </a:pPr>
            <a:endParaRPr lang="en-GB"/>
          </a:p>
          <a:p>
            <a:pPr marL="285750" indent="-285750">
              <a:buFont typeface="Arial"/>
              <a:buChar char="•"/>
            </a:pPr>
            <a:endParaRPr lang="en-GB"/>
          </a:p>
          <a:p>
            <a:pPr marL="285750" indent="-285750">
              <a:buFont typeface="Arial"/>
              <a:buChar char="•"/>
            </a:pPr>
            <a:endParaRPr lang="en-GB"/>
          </a:p>
          <a:p>
            <a:pPr marL="285750" indent="-285750">
              <a:buFont typeface="Arial"/>
              <a:buChar char="•"/>
            </a:pPr>
            <a:endParaRPr lang="en-GB"/>
          </a:p>
          <a:p>
            <a:pPr marL="285750" indent="-285750">
              <a:buFont typeface="Arial"/>
              <a:buChar char="•"/>
            </a:pPr>
            <a:endParaRPr lang="en-GB"/>
          </a:p>
          <a:p>
            <a:pPr marL="285750" indent="-285750">
              <a:buFont typeface="Arial"/>
              <a:buChar char="•"/>
            </a:pPr>
            <a:endParaRPr lang="en-GB"/>
          </a:p>
          <a:p>
            <a:pPr marL="285750" indent="-285750">
              <a:buFont typeface="Arial"/>
              <a:buChar char="•"/>
            </a:pPr>
            <a:endParaRPr lang="en-GB"/>
          </a:p>
          <a:p>
            <a:pPr marL="285750" indent="-285750">
              <a:buFont typeface="Arial"/>
              <a:buChar char="•"/>
            </a:pPr>
            <a:endParaRPr lang="en-GB"/>
          </a:p>
          <a:p>
            <a:pPr marL="285750" indent="-285750">
              <a:buFont typeface="Arial"/>
              <a:buChar char="•"/>
            </a:pPr>
            <a:endParaRPr lang="en-GB"/>
          </a:p>
          <a:p>
            <a:pPr marL="285750" indent="-285750">
              <a:buFont typeface="Arial"/>
              <a:buChar char="•"/>
            </a:pPr>
            <a:endParaRPr lang="en-GB"/>
          </a:p>
        </p:txBody>
      </p:sp>
    </p:spTree>
    <p:extLst>
      <p:ext uri="{BB962C8B-B14F-4D97-AF65-F5344CB8AC3E}">
        <p14:creationId xmlns:p14="http://schemas.microsoft.com/office/powerpoint/2010/main" val="26723965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0C591C-665E-EA5C-846C-45FE9EA5FB99}"/>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F19808A5-4D08-9942-5DF6-ADEEFD2BFA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AB7E6A8-8155-EB36-ED7D-BD6705B650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C52B3A-5625-5FC3-C54E-4A266304B546}"/>
              </a:ext>
            </a:extLst>
          </p:cNvPr>
          <p:cNvSpPr>
            <a:spLocks noGrp="1"/>
          </p:cNvSpPr>
          <p:nvPr>
            <p:ph type="title"/>
          </p:nvPr>
        </p:nvSpPr>
        <p:spPr>
          <a:xfrm>
            <a:off x="1156851" y="637762"/>
            <a:ext cx="9888496" cy="900131"/>
          </a:xfrm>
        </p:spPr>
        <p:txBody>
          <a:bodyPr anchor="t">
            <a:normAutofit/>
          </a:bodyPr>
          <a:lstStyle/>
          <a:p>
            <a:r>
              <a:rPr lang="en-GB">
                <a:solidFill>
                  <a:schemeClr val="bg1"/>
                </a:solidFill>
              </a:rPr>
              <a:t>Results Overview</a:t>
            </a:r>
            <a:endParaRPr lang="en-US"/>
          </a:p>
          <a:p>
            <a:endParaRPr lang="en-GB" sz="4000">
              <a:solidFill>
                <a:schemeClr val="bg1"/>
              </a:solidFill>
            </a:endParaRPr>
          </a:p>
        </p:txBody>
      </p:sp>
      <p:sp>
        <p:nvSpPr>
          <p:cNvPr id="12" name="Rectangle 11">
            <a:extLst>
              <a:ext uri="{FF2B5EF4-FFF2-40B4-BE49-F238E27FC236}">
                <a16:creationId xmlns:a16="http://schemas.microsoft.com/office/drawing/2014/main" id="{63B59DE4-607D-B7BA-2A14-5C18C4B817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8C4B0BE-8CEB-0CCA-2EB3-58408894532E}"/>
              </a:ext>
            </a:extLst>
          </p:cNvPr>
          <p:cNvSpPr>
            <a:spLocks noGrp="1"/>
          </p:cNvSpPr>
          <p:nvPr>
            <p:ph idx="1"/>
          </p:nvPr>
        </p:nvSpPr>
        <p:spPr>
          <a:xfrm>
            <a:off x="1155548" y="2217343"/>
            <a:ext cx="9880893" cy="3959619"/>
          </a:xfrm>
        </p:spPr>
        <p:txBody>
          <a:bodyPr vert="horz" lIns="91440" tIns="45720" rIns="91440" bIns="45720" rtlCol="0" anchor="t">
            <a:normAutofit/>
          </a:bodyPr>
          <a:lstStyle/>
          <a:p>
            <a:endParaRPr lang="en-GB" sz="2400"/>
          </a:p>
          <a:p>
            <a:endParaRPr lang="en-GB" sz="2400"/>
          </a:p>
        </p:txBody>
      </p:sp>
      <p:sp>
        <p:nvSpPr>
          <p:cNvPr id="4" name="Slide Number Placeholder 3">
            <a:extLst>
              <a:ext uri="{FF2B5EF4-FFF2-40B4-BE49-F238E27FC236}">
                <a16:creationId xmlns:a16="http://schemas.microsoft.com/office/drawing/2014/main" id="{4E0771F0-E23D-CBC9-EA7C-DD33B9AFEB22}"/>
              </a:ext>
            </a:extLst>
          </p:cNvPr>
          <p:cNvSpPr>
            <a:spLocks noGrp="1"/>
          </p:cNvSpPr>
          <p:nvPr>
            <p:ph type="sldNum" sz="quarter" idx="12"/>
          </p:nvPr>
        </p:nvSpPr>
        <p:spPr/>
        <p:txBody>
          <a:bodyPr/>
          <a:lstStyle/>
          <a:p>
            <a:fld id="{BC06EAA3-687F-4743-ADBD-74613D0FCAFA}" type="slidenum">
              <a:rPr lang="en-GB" smtClean="0"/>
              <a:t>22</a:t>
            </a:fld>
            <a:endParaRPr lang="en-GB"/>
          </a:p>
        </p:txBody>
      </p:sp>
      <p:sp>
        <p:nvSpPr>
          <p:cNvPr id="6" name="TextBox 5">
            <a:extLst>
              <a:ext uri="{FF2B5EF4-FFF2-40B4-BE49-F238E27FC236}">
                <a16:creationId xmlns:a16="http://schemas.microsoft.com/office/drawing/2014/main" id="{BEB14B2F-61E8-7EB5-9DF6-91AC145777A3}"/>
              </a:ext>
            </a:extLst>
          </p:cNvPr>
          <p:cNvSpPr txBox="1"/>
          <p:nvPr/>
        </p:nvSpPr>
        <p:spPr>
          <a:xfrm>
            <a:off x="887597" y="2214471"/>
            <a:ext cx="10407588" cy="461664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GB"/>
          </a:p>
          <a:p>
            <a:pPr marL="285750" indent="-285750">
              <a:buFont typeface="Arial"/>
              <a:buChar char="•"/>
            </a:pPr>
            <a:r>
              <a:rPr lang="en-GB" sz="2400"/>
              <a:t>Random Forest was the best ML algorithm, LSTM was the best DL algorithm</a:t>
            </a:r>
          </a:p>
          <a:p>
            <a:pPr marL="285750" indent="-285750">
              <a:buFont typeface="Arial"/>
              <a:buChar char="•"/>
            </a:pPr>
            <a:endParaRPr lang="en-GB" sz="2400"/>
          </a:p>
          <a:p>
            <a:pPr marL="285750" indent="-285750">
              <a:buFont typeface="Arial"/>
              <a:buChar char="•"/>
            </a:pPr>
            <a:r>
              <a:rPr lang="en-GB" sz="2400"/>
              <a:t>However, LSTM had a much higher execution time, whilst also being much more resource-intensive</a:t>
            </a:r>
          </a:p>
          <a:p>
            <a:pPr marL="285750" indent="-285750">
              <a:buFont typeface="Arial"/>
              <a:buChar char="•"/>
            </a:pPr>
            <a:endParaRPr lang="en-GB" sz="2400"/>
          </a:p>
          <a:p>
            <a:pPr marL="285750" indent="-285750">
              <a:buFont typeface="Arial"/>
              <a:buChar char="•"/>
            </a:pPr>
            <a:r>
              <a:rPr lang="en-GB" sz="2400"/>
              <a:t>Random Forest provides a good balance of being quick to run and higher metric scores</a:t>
            </a:r>
          </a:p>
          <a:p>
            <a:pPr marL="285750" indent="-285750">
              <a:buFont typeface="Arial"/>
              <a:buChar char="•"/>
            </a:pPr>
            <a:endParaRPr lang="en-GB" sz="2400"/>
          </a:p>
          <a:p>
            <a:pPr marL="285750" indent="-285750">
              <a:buFont typeface="Arial"/>
              <a:buChar char="•"/>
            </a:pPr>
            <a:r>
              <a:rPr lang="en-GB" sz="2400"/>
              <a:t>Therefore, Random Forest might be the best algorithm for production. Slower execution could mean slower response times!</a:t>
            </a:r>
          </a:p>
          <a:p>
            <a:endParaRPr lang="en-GB"/>
          </a:p>
          <a:p>
            <a:endParaRPr lang="en-GB"/>
          </a:p>
        </p:txBody>
      </p:sp>
    </p:spTree>
    <p:extLst>
      <p:ext uri="{BB962C8B-B14F-4D97-AF65-F5344CB8AC3E}">
        <p14:creationId xmlns:p14="http://schemas.microsoft.com/office/powerpoint/2010/main" val="35710870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4A349-1B71-6802-C68A-7F5926CAB7A7}"/>
            </a:ext>
          </a:extLst>
        </p:cNvPr>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E338522D-B55B-FF83-95EC-0D3405D67EDE}"/>
              </a:ext>
            </a:extLst>
          </p:cNvPr>
          <p:cNvPicPr>
            <a:picLocks noGrp="1" noChangeAspect="1"/>
          </p:cNvPicPr>
          <p:nvPr>
            <p:ph type="pic" sz="quarter" idx="10"/>
          </p:nvPr>
        </p:nvPicPr>
        <p:blipFill rotWithShape="1">
          <a:blip r:embed="rId3">
            <a:alphaModFix amt="52000"/>
            <a:extLst>
              <a:ext uri="{BEBA8EAE-BF5A-486C-A8C5-ECC9F3942E4B}">
                <a14:imgProps xmlns:a14="http://schemas.microsoft.com/office/drawing/2010/main">
                  <a14:imgLayer r:embed="rId4">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BC805FC7-5542-2EC8-DACE-E945D5FF3647}"/>
              </a:ext>
            </a:extLst>
          </p:cNvPr>
          <p:cNvSpPr>
            <a:spLocks noGrp="1"/>
          </p:cNvSpPr>
          <p:nvPr>
            <p:ph type="title"/>
          </p:nvPr>
        </p:nvSpPr>
        <p:spPr>
          <a:xfrm>
            <a:off x="350836" y="2848231"/>
            <a:ext cx="11490325" cy="823913"/>
          </a:xfrm>
        </p:spPr>
        <p:txBody>
          <a:bodyPr rtlCol="0"/>
          <a:lstStyle/>
          <a:p>
            <a:pPr algn="ctr"/>
            <a:r>
              <a:rPr lang="en-GB"/>
              <a:t>Ethics &amp;  future </a:t>
            </a:r>
            <a:br>
              <a:rPr lang="en-GB"/>
            </a:br>
            <a:r>
              <a:rPr lang="en-GB"/>
              <a:t>implications</a:t>
            </a:r>
          </a:p>
        </p:txBody>
      </p:sp>
      <p:sp>
        <p:nvSpPr>
          <p:cNvPr id="13" name="Text Placeholder 12">
            <a:extLst>
              <a:ext uri="{FF2B5EF4-FFF2-40B4-BE49-F238E27FC236}">
                <a16:creationId xmlns:a16="http://schemas.microsoft.com/office/drawing/2014/main" id="{D46EFBBA-D2D9-6AF0-ED17-C114CF0A7ABC}"/>
              </a:ext>
            </a:extLst>
          </p:cNvPr>
          <p:cNvSpPr>
            <a:spLocks noGrp="1"/>
          </p:cNvSpPr>
          <p:nvPr>
            <p:ph type="body" sz="quarter" idx="12"/>
          </p:nvPr>
        </p:nvSpPr>
        <p:spPr/>
        <p:txBody>
          <a:bodyPr/>
          <a:lstStyle/>
          <a:p>
            <a:endParaRPr lang="en-GB"/>
          </a:p>
        </p:txBody>
      </p:sp>
    </p:spTree>
    <p:extLst>
      <p:ext uri="{BB962C8B-B14F-4D97-AF65-F5344CB8AC3E}">
        <p14:creationId xmlns:p14="http://schemas.microsoft.com/office/powerpoint/2010/main" val="15408318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DEA5E17-92F6-C37E-AB2B-237C895D77BC}"/>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C364A21E-DDB3-BA25-1289-CBD0798DB7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4A941F-7004-590E-C6FF-57D07116E9D2}"/>
              </a:ext>
            </a:extLst>
          </p:cNvPr>
          <p:cNvSpPr>
            <a:spLocks noGrp="1"/>
          </p:cNvSpPr>
          <p:nvPr>
            <p:ph type="title"/>
          </p:nvPr>
        </p:nvSpPr>
        <p:spPr>
          <a:xfrm>
            <a:off x="1156851" y="637762"/>
            <a:ext cx="9888496" cy="900131"/>
          </a:xfrm>
        </p:spPr>
        <p:txBody>
          <a:bodyPr anchor="t">
            <a:normAutofit/>
          </a:bodyPr>
          <a:lstStyle/>
          <a:p>
            <a:r>
              <a:rPr lang="en-GB">
                <a:solidFill>
                  <a:schemeClr val="bg1"/>
                </a:solidFill>
              </a:rPr>
              <a:t>Future Developments</a:t>
            </a:r>
          </a:p>
          <a:p>
            <a:endParaRPr lang="en-GB" sz="3600">
              <a:solidFill>
                <a:schemeClr val="bg1"/>
              </a:solidFill>
            </a:endParaRPr>
          </a:p>
        </p:txBody>
      </p:sp>
      <p:sp>
        <p:nvSpPr>
          <p:cNvPr id="10" name="Rectangle 9">
            <a:extLst>
              <a:ext uri="{FF2B5EF4-FFF2-40B4-BE49-F238E27FC236}">
                <a16:creationId xmlns:a16="http://schemas.microsoft.com/office/drawing/2014/main" id="{F88CC803-7416-17C0-5654-295763E5B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0B7708E-D712-C0D3-CFE8-0BC89E1775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B35E065-2EBD-AA63-D4D2-35D36C7E6D1F}"/>
              </a:ext>
            </a:extLst>
          </p:cNvPr>
          <p:cNvSpPr>
            <a:spLocks noGrp="1"/>
          </p:cNvSpPr>
          <p:nvPr>
            <p:ph idx="1"/>
          </p:nvPr>
        </p:nvSpPr>
        <p:spPr>
          <a:xfrm>
            <a:off x="1155548" y="2217343"/>
            <a:ext cx="9880893" cy="3959619"/>
          </a:xfrm>
        </p:spPr>
        <p:txBody>
          <a:bodyPr vert="horz" lIns="91440" tIns="45720" rIns="91440" bIns="45720" rtlCol="0" anchor="t">
            <a:normAutofit/>
          </a:bodyPr>
          <a:lstStyle/>
          <a:p>
            <a:r>
              <a:rPr lang="en-GB"/>
              <a:t>Real-Time Predictions</a:t>
            </a:r>
            <a:endParaRPr lang="en-US"/>
          </a:p>
          <a:p>
            <a:endParaRPr lang="en-GB"/>
          </a:p>
          <a:p>
            <a:r>
              <a:rPr lang="en-GB"/>
              <a:t>GPS Mapping (to see the hotspots of times)</a:t>
            </a:r>
            <a:endParaRPr lang="en-US"/>
          </a:p>
          <a:p>
            <a:endParaRPr lang="en-GB"/>
          </a:p>
          <a:p>
            <a:r>
              <a:rPr lang="en-GB"/>
              <a:t>Mobile-Phone-Based Background Service App</a:t>
            </a:r>
            <a:endParaRPr lang="en-US"/>
          </a:p>
          <a:p>
            <a:endParaRPr lang="en-GB"/>
          </a:p>
          <a:p>
            <a:r>
              <a:rPr lang="en-GB"/>
              <a:t>Azure Cloud to Achieve Future Developments</a:t>
            </a:r>
          </a:p>
          <a:p>
            <a:endParaRPr lang="en-GB"/>
          </a:p>
          <a:p>
            <a:endParaRPr lang="en-US"/>
          </a:p>
          <a:p>
            <a:endParaRPr lang="en-GB"/>
          </a:p>
          <a:p>
            <a:endParaRPr lang="en-GB"/>
          </a:p>
          <a:p>
            <a:endParaRPr lang="en-GB"/>
          </a:p>
        </p:txBody>
      </p:sp>
      <p:sp>
        <p:nvSpPr>
          <p:cNvPr id="4" name="Slide Number Placeholder 3">
            <a:extLst>
              <a:ext uri="{FF2B5EF4-FFF2-40B4-BE49-F238E27FC236}">
                <a16:creationId xmlns:a16="http://schemas.microsoft.com/office/drawing/2014/main" id="{13D8DC8A-661B-E90F-31D3-AF299F38654B}"/>
              </a:ext>
            </a:extLst>
          </p:cNvPr>
          <p:cNvSpPr>
            <a:spLocks noGrp="1"/>
          </p:cNvSpPr>
          <p:nvPr>
            <p:ph type="sldNum" sz="quarter" idx="12"/>
          </p:nvPr>
        </p:nvSpPr>
        <p:spPr/>
        <p:txBody>
          <a:bodyPr/>
          <a:lstStyle/>
          <a:p>
            <a:fld id="{BC06EAA3-687F-4743-ADBD-74613D0FCAFA}" type="slidenum">
              <a:rPr lang="en-GB" smtClean="0"/>
              <a:t>24</a:t>
            </a:fld>
            <a:endParaRPr lang="en-GB"/>
          </a:p>
        </p:txBody>
      </p:sp>
    </p:spTree>
    <p:extLst>
      <p:ext uri="{BB962C8B-B14F-4D97-AF65-F5344CB8AC3E}">
        <p14:creationId xmlns:p14="http://schemas.microsoft.com/office/powerpoint/2010/main" val="6383717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What's new in Grafana 8.1: Geomap panel | Grafana Labs">
            <a:extLst>
              <a:ext uri="{FF2B5EF4-FFF2-40B4-BE49-F238E27FC236}">
                <a16:creationId xmlns:a16="http://schemas.microsoft.com/office/drawing/2014/main" id="{261194A9-8DDF-80EF-5D09-8C2921578264}"/>
              </a:ext>
            </a:extLst>
          </p:cNvPr>
          <p:cNvPicPr>
            <a:picLocks noGrp="1" noChangeAspect="1"/>
          </p:cNvPicPr>
          <p:nvPr>
            <p:ph idx="1"/>
          </p:nvPr>
        </p:nvPicPr>
        <p:blipFill>
          <a:blip r:embed="rId3"/>
          <a:srcRect l="48" r="-127" b="9615"/>
          <a:stretch>
            <a:fillRect/>
          </a:stretch>
        </p:blipFill>
        <p:spPr>
          <a:xfrm>
            <a:off x="-979" y="7516"/>
            <a:ext cx="13380290" cy="6853220"/>
          </a:xfrm>
          <a:prstGeom prst="rect">
            <a:avLst/>
          </a:prstGeom>
        </p:spPr>
      </p:pic>
      <p:sp>
        <p:nvSpPr>
          <p:cNvPr id="8" name="Title 1">
            <a:extLst>
              <a:ext uri="{FF2B5EF4-FFF2-40B4-BE49-F238E27FC236}">
                <a16:creationId xmlns:a16="http://schemas.microsoft.com/office/drawing/2014/main" id="{8C11764F-0D05-664F-570A-BC64CA4FB720}"/>
              </a:ext>
            </a:extLst>
          </p:cNvPr>
          <p:cNvSpPr txBox="1">
            <a:spLocks/>
          </p:cNvSpPr>
          <p:nvPr/>
        </p:nvSpPr>
        <p:spPr>
          <a:xfrm>
            <a:off x="226693" y="-15535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600">
                <a:solidFill>
                  <a:schemeClr val="bg1"/>
                </a:solidFill>
              </a:rPr>
              <a:t>Example of Azure Managed </a:t>
            </a:r>
            <a:r>
              <a:rPr lang="en-GB" sz="3600" err="1">
                <a:solidFill>
                  <a:schemeClr val="bg1"/>
                </a:solidFill>
              </a:rPr>
              <a:t>Grafarna</a:t>
            </a:r>
            <a:r>
              <a:rPr lang="en-GB" sz="3600">
                <a:solidFill>
                  <a:schemeClr val="bg1"/>
                </a:solidFill>
              </a:rPr>
              <a:t> Capability</a:t>
            </a:r>
          </a:p>
        </p:txBody>
      </p:sp>
      <p:sp>
        <p:nvSpPr>
          <p:cNvPr id="11" name="Rectangle 10">
            <a:extLst>
              <a:ext uri="{FF2B5EF4-FFF2-40B4-BE49-F238E27FC236}">
                <a16:creationId xmlns:a16="http://schemas.microsoft.com/office/drawing/2014/main" id="{003CF5B2-83A5-854F-490A-C4D9E2B87623}"/>
              </a:ext>
            </a:extLst>
          </p:cNvPr>
          <p:cNvSpPr/>
          <p:nvPr/>
        </p:nvSpPr>
        <p:spPr>
          <a:xfrm>
            <a:off x="10243300" y="5292656"/>
            <a:ext cx="3095221" cy="156471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EA72BE40-BE32-4087-B0BB-A58F16695ACF}"/>
              </a:ext>
            </a:extLst>
          </p:cNvPr>
          <p:cNvSpPr txBox="1"/>
          <p:nvPr/>
        </p:nvSpPr>
        <p:spPr>
          <a:xfrm>
            <a:off x="10248570" y="5377440"/>
            <a:ext cx="3129422"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chemeClr val="bg1"/>
                </a:solidFill>
              </a:rPr>
              <a:t>Grafana Labs. 2021. </a:t>
            </a:r>
            <a:r>
              <a:rPr lang="en-US" sz="1200" i="1">
                <a:solidFill>
                  <a:schemeClr val="bg1"/>
                </a:solidFill>
              </a:rPr>
              <a:t>“What’s New in Grafana 8.1: </a:t>
            </a:r>
            <a:r>
              <a:rPr lang="en-US" sz="1200" i="1" err="1">
                <a:solidFill>
                  <a:schemeClr val="bg1"/>
                </a:solidFill>
              </a:rPr>
              <a:t>Geomap</a:t>
            </a:r>
            <a:r>
              <a:rPr lang="en-US" sz="1200" i="1">
                <a:solidFill>
                  <a:schemeClr val="bg1"/>
                </a:solidFill>
              </a:rPr>
              <a:t> Panel”</a:t>
            </a:r>
            <a:r>
              <a:rPr lang="en-US" sz="1200">
                <a:solidFill>
                  <a:schemeClr val="bg1"/>
                </a:solidFill>
              </a:rPr>
              <a:t>. [online] 17 August. Available at: </a:t>
            </a:r>
            <a:r>
              <a:rPr lang="en-US" sz="1200">
                <a:solidFill>
                  <a:schemeClr val="bg1"/>
                </a:solidFill>
                <a:hlinkClick r:id="rId4">
                  <a:extLst>
                    <a:ext uri="{A12FA001-AC4F-418D-AE19-62706E023703}">
                      <ahyp:hlinkClr xmlns:ahyp="http://schemas.microsoft.com/office/drawing/2018/hyperlinkcolor" val="tx"/>
                    </a:ext>
                  </a:extLst>
                </a:hlinkClick>
              </a:rPr>
              <a:t>https://grafana.com/blog/2021/08/17/whats-new-in-grafana-8.1-geomap-panel/</a:t>
            </a:r>
            <a:r>
              <a:rPr lang="en-US" sz="1200">
                <a:solidFill>
                  <a:schemeClr val="bg1"/>
                </a:solidFill>
              </a:rPr>
              <a:t> [Accessed 2 November 2025].</a:t>
            </a:r>
            <a:endParaRPr lang="en-GB" sz="1200">
              <a:solidFill>
                <a:schemeClr val="bg1"/>
              </a:solidFill>
            </a:endParaRPr>
          </a:p>
          <a:p>
            <a:pPr algn="l"/>
            <a:endParaRPr lang="en-GB">
              <a:solidFill>
                <a:schemeClr val="bg1"/>
              </a:solidFill>
            </a:endParaRPr>
          </a:p>
        </p:txBody>
      </p:sp>
      <p:cxnSp>
        <p:nvCxnSpPr>
          <p:cNvPr id="2" name="Straight Arrow Connector 1">
            <a:extLst>
              <a:ext uri="{FF2B5EF4-FFF2-40B4-BE49-F238E27FC236}">
                <a16:creationId xmlns:a16="http://schemas.microsoft.com/office/drawing/2014/main" id="{AE70B6AB-2215-F0E0-8A44-0AF8CC34B341}"/>
              </a:ext>
            </a:extLst>
          </p:cNvPr>
          <p:cNvCxnSpPr/>
          <p:nvPr/>
        </p:nvCxnSpPr>
        <p:spPr>
          <a:xfrm flipH="1">
            <a:off x="4231515" y="2389748"/>
            <a:ext cx="1584834" cy="627950"/>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sp>
        <p:nvSpPr>
          <p:cNvPr id="3" name="TextBox 2">
            <a:extLst>
              <a:ext uri="{FF2B5EF4-FFF2-40B4-BE49-F238E27FC236}">
                <a16:creationId xmlns:a16="http://schemas.microsoft.com/office/drawing/2014/main" id="{15792D2D-CEA2-AA85-4C14-5DF1A1224268}"/>
              </a:ext>
            </a:extLst>
          </p:cNvPr>
          <p:cNvSpPr txBox="1"/>
          <p:nvPr/>
        </p:nvSpPr>
        <p:spPr>
          <a:xfrm>
            <a:off x="5829552" y="2060375"/>
            <a:ext cx="212191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solidFill>
                  <a:schemeClr val="bg1"/>
                </a:solidFill>
              </a:rPr>
              <a:t> High probability area highlighted in red</a:t>
            </a:r>
          </a:p>
        </p:txBody>
      </p:sp>
      <p:sp>
        <p:nvSpPr>
          <p:cNvPr id="5" name="Slide Number Placeholder 4">
            <a:extLst>
              <a:ext uri="{FF2B5EF4-FFF2-40B4-BE49-F238E27FC236}">
                <a16:creationId xmlns:a16="http://schemas.microsoft.com/office/drawing/2014/main" id="{71DFA645-7CBA-F2A6-B143-479A8D48AC22}"/>
              </a:ext>
            </a:extLst>
          </p:cNvPr>
          <p:cNvSpPr>
            <a:spLocks noGrp="1"/>
          </p:cNvSpPr>
          <p:nvPr>
            <p:ph type="sldNum" sz="quarter" idx="12"/>
          </p:nvPr>
        </p:nvSpPr>
        <p:spPr/>
        <p:txBody>
          <a:bodyPr/>
          <a:lstStyle/>
          <a:p>
            <a:fld id="{BC06EAA3-687F-4743-ADBD-74613D0FCAFA}" type="slidenum">
              <a:rPr lang="en-GB" smtClean="0"/>
              <a:t>25</a:t>
            </a:fld>
            <a:endParaRPr lang="en-GB"/>
          </a:p>
        </p:txBody>
      </p:sp>
    </p:spTree>
    <p:extLst>
      <p:ext uri="{BB962C8B-B14F-4D97-AF65-F5344CB8AC3E}">
        <p14:creationId xmlns:p14="http://schemas.microsoft.com/office/powerpoint/2010/main" val="12280486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2" name="TextBox 21">
            <a:extLst>
              <a:ext uri="{FF2B5EF4-FFF2-40B4-BE49-F238E27FC236}">
                <a16:creationId xmlns:a16="http://schemas.microsoft.com/office/drawing/2014/main" id="{A9F525DA-72EB-B8C4-B9FA-935F2D9C67E8}"/>
              </a:ext>
            </a:extLst>
          </p:cNvPr>
          <p:cNvSpPr txBox="1"/>
          <p:nvPr/>
        </p:nvSpPr>
        <p:spPr>
          <a:xfrm>
            <a:off x="6851073" y="3609802"/>
            <a:ext cx="219871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latin typeface="Aptos Display"/>
              </a:rPr>
              <a:t>Hidden Background Application</a:t>
            </a:r>
          </a:p>
          <a:p>
            <a:endParaRPr lang="en-GB"/>
          </a:p>
        </p:txBody>
      </p:sp>
      <p:cxnSp>
        <p:nvCxnSpPr>
          <p:cNvPr id="23" name="Straight Arrow Connector 22">
            <a:extLst>
              <a:ext uri="{FF2B5EF4-FFF2-40B4-BE49-F238E27FC236}">
                <a16:creationId xmlns:a16="http://schemas.microsoft.com/office/drawing/2014/main" id="{C5C26028-8036-F5BA-94C3-9941CB4BB4C9}"/>
              </a:ext>
            </a:extLst>
          </p:cNvPr>
          <p:cNvCxnSpPr/>
          <p:nvPr/>
        </p:nvCxnSpPr>
        <p:spPr>
          <a:xfrm flipH="1" flipV="1">
            <a:off x="7161415" y="2545081"/>
            <a:ext cx="465512" cy="11014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8" name="Content Placeholder 7" descr="A diagram of a diagram&#10;&#10;AI-generated content may be incorrect.">
            <a:extLst>
              <a:ext uri="{FF2B5EF4-FFF2-40B4-BE49-F238E27FC236}">
                <a16:creationId xmlns:a16="http://schemas.microsoft.com/office/drawing/2014/main" id="{638ECA42-97B2-944D-662D-4C5B29D53342}"/>
              </a:ext>
            </a:extLst>
          </p:cNvPr>
          <p:cNvPicPr>
            <a:picLocks noGrp="1" noChangeAspect="1"/>
          </p:cNvPicPr>
          <p:nvPr>
            <p:ph idx="1"/>
          </p:nvPr>
        </p:nvPicPr>
        <p:blipFill>
          <a:blip r:embed="rId3"/>
          <a:stretch>
            <a:fillRect/>
          </a:stretch>
        </p:blipFill>
        <p:spPr>
          <a:xfrm>
            <a:off x="-2008" y="587"/>
            <a:ext cx="12196017" cy="7474596"/>
          </a:xfrm>
          <a:prstGeom prst="rect">
            <a:avLst/>
          </a:prstGeom>
        </p:spPr>
      </p:pic>
      <p:sp>
        <p:nvSpPr>
          <p:cNvPr id="9" name="Title 1">
            <a:extLst>
              <a:ext uri="{FF2B5EF4-FFF2-40B4-BE49-F238E27FC236}">
                <a16:creationId xmlns:a16="http://schemas.microsoft.com/office/drawing/2014/main" id="{19A428EA-D6EE-1F61-D9FB-4D91353A985D}"/>
              </a:ext>
            </a:extLst>
          </p:cNvPr>
          <p:cNvSpPr txBox="1">
            <a:spLocks/>
          </p:cNvSpPr>
          <p:nvPr/>
        </p:nvSpPr>
        <p:spPr>
          <a:xfrm>
            <a:off x="915" y="456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600"/>
              <a:t>Threat Model – Cloud Visualisation</a:t>
            </a:r>
          </a:p>
        </p:txBody>
      </p:sp>
      <p:pic>
        <p:nvPicPr>
          <p:cNvPr id="10" name="Picture 9" descr="A white background with black text&#10;&#10;AI-generated content may be incorrect.">
            <a:extLst>
              <a:ext uri="{FF2B5EF4-FFF2-40B4-BE49-F238E27FC236}">
                <a16:creationId xmlns:a16="http://schemas.microsoft.com/office/drawing/2014/main" id="{1638FDC1-8C00-8790-2EB0-5BA90BC93300}"/>
              </a:ext>
            </a:extLst>
          </p:cNvPr>
          <p:cNvPicPr>
            <a:picLocks noChangeAspect="1"/>
          </p:cNvPicPr>
          <p:nvPr/>
        </p:nvPicPr>
        <p:blipFill>
          <a:blip r:embed="rId4"/>
          <a:stretch>
            <a:fillRect/>
          </a:stretch>
        </p:blipFill>
        <p:spPr>
          <a:xfrm>
            <a:off x="866" y="5385521"/>
            <a:ext cx="2533650" cy="2085975"/>
          </a:xfrm>
          <a:prstGeom prst="rect">
            <a:avLst/>
          </a:prstGeom>
        </p:spPr>
      </p:pic>
      <p:sp>
        <p:nvSpPr>
          <p:cNvPr id="11" name="TextBox 10">
            <a:extLst>
              <a:ext uri="{FF2B5EF4-FFF2-40B4-BE49-F238E27FC236}">
                <a16:creationId xmlns:a16="http://schemas.microsoft.com/office/drawing/2014/main" id="{AD008942-2B55-546E-EC55-81F3EF03B10D}"/>
              </a:ext>
            </a:extLst>
          </p:cNvPr>
          <p:cNvSpPr txBox="1"/>
          <p:nvPr/>
        </p:nvSpPr>
        <p:spPr>
          <a:xfrm>
            <a:off x="326898" y="1424940"/>
            <a:ext cx="5330952" cy="64633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a:t>Device uses a background service app</a:t>
            </a:r>
          </a:p>
          <a:p>
            <a:endParaRPr lang="en-GB"/>
          </a:p>
          <a:p>
            <a:pPr marL="285750" indent="-285750">
              <a:buFont typeface="Arial"/>
              <a:buChar char="•"/>
            </a:pPr>
            <a:r>
              <a:rPr lang="en-GB"/>
              <a:t>This sends HTTP JSON data to a public Azure Function</a:t>
            </a:r>
          </a:p>
          <a:p>
            <a:pPr marL="285750" indent="-285750">
              <a:buFont typeface="Arial"/>
              <a:buChar char="•"/>
            </a:pPr>
            <a:endParaRPr lang="en-GB"/>
          </a:p>
          <a:p>
            <a:pPr marL="285750" indent="-285750">
              <a:buFont typeface="Arial"/>
              <a:buChar char="•"/>
            </a:pPr>
            <a:r>
              <a:rPr lang="en-GB"/>
              <a:t>The Azure Function will forward non-malformed requests to the Event Hub for ingestion into an 'ADX Cluster'</a:t>
            </a:r>
          </a:p>
          <a:p>
            <a:pPr marL="285750" indent="-285750">
              <a:buFont typeface="Arial"/>
              <a:buChar char="•"/>
            </a:pPr>
            <a:endParaRPr lang="en-GB"/>
          </a:p>
          <a:p>
            <a:pPr marL="285750" indent="-285750">
              <a:buFont typeface="Arial"/>
              <a:buChar char="•"/>
            </a:pPr>
            <a:r>
              <a:rPr lang="en-GB"/>
              <a:t>Think of ADX as a massive central database</a:t>
            </a:r>
          </a:p>
          <a:p>
            <a:pPr marL="285750" indent="-285750">
              <a:buFont typeface="Arial"/>
              <a:buChar char="•"/>
            </a:pPr>
            <a:endParaRPr lang="en-GB"/>
          </a:p>
          <a:p>
            <a:pPr marL="285750" indent="-285750">
              <a:buFont typeface="Arial"/>
              <a:buChar char="•"/>
            </a:pPr>
            <a:r>
              <a:rPr lang="en-GB"/>
              <a:t>This is accessed by ML or DL to ingest predictions before visualising to </a:t>
            </a:r>
            <a:r>
              <a:rPr lang="en-GB" err="1"/>
              <a:t>Grafarna</a:t>
            </a:r>
            <a:r>
              <a:rPr lang="en-GB"/>
              <a:t> on a large map</a:t>
            </a:r>
          </a:p>
          <a:p>
            <a:pPr marL="285750" indent="-285750">
              <a:buFont typeface="Arial"/>
              <a:buChar char="•"/>
            </a:pPr>
            <a:endParaRPr lang="en-GB"/>
          </a:p>
          <a:p>
            <a:pPr marL="285750" indent="-285750">
              <a:buFont typeface="Arial"/>
              <a:buChar char="•"/>
            </a:pPr>
            <a:endParaRPr lang="en-GB"/>
          </a:p>
          <a:p>
            <a:pPr marL="285750" indent="-285750">
              <a:buFont typeface="Arial"/>
              <a:buChar char="•"/>
            </a:pPr>
            <a:endParaRPr lang="en-GB"/>
          </a:p>
          <a:p>
            <a:pPr marL="285750" indent="-285750">
              <a:buFont typeface="Arial"/>
              <a:buChar char="•"/>
            </a:pPr>
            <a:endParaRPr lang="en-GB"/>
          </a:p>
          <a:p>
            <a:pPr marL="285750" indent="-285750">
              <a:buFont typeface="Arial"/>
              <a:buChar char="•"/>
            </a:pPr>
            <a:endParaRPr lang="en-GB"/>
          </a:p>
          <a:p>
            <a:pPr marL="285750" indent="-285750">
              <a:buFont typeface="Arial"/>
              <a:buChar char="•"/>
            </a:pPr>
            <a:endParaRPr lang="en-GB"/>
          </a:p>
          <a:p>
            <a:pPr marL="285750" indent="-285750">
              <a:buFont typeface="Arial"/>
              <a:buChar char="•"/>
            </a:pPr>
            <a:endParaRPr lang="en-GB"/>
          </a:p>
          <a:p>
            <a:pPr marL="285750" indent="-285750">
              <a:buFont typeface="Arial"/>
              <a:buChar char="•"/>
            </a:pPr>
            <a:endParaRPr lang="en-GB"/>
          </a:p>
          <a:p>
            <a:pPr marL="285750" indent="-285750">
              <a:buFont typeface="Arial"/>
              <a:buChar char="•"/>
            </a:pPr>
            <a:endParaRPr lang="en-GB" b="1"/>
          </a:p>
          <a:p>
            <a:pPr marL="285750" indent="-285750">
              <a:buFont typeface="Arial"/>
              <a:buChar char="•"/>
            </a:pPr>
            <a:endParaRPr lang="en-GB"/>
          </a:p>
        </p:txBody>
      </p:sp>
      <p:sp>
        <p:nvSpPr>
          <p:cNvPr id="12" name="TextBox 11">
            <a:extLst>
              <a:ext uri="{FF2B5EF4-FFF2-40B4-BE49-F238E27FC236}">
                <a16:creationId xmlns:a16="http://schemas.microsoft.com/office/drawing/2014/main" id="{EB986176-AB9C-4747-E967-CF2BD9C7EFC8}"/>
              </a:ext>
            </a:extLst>
          </p:cNvPr>
          <p:cNvSpPr txBox="1"/>
          <p:nvPr/>
        </p:nvSpPr>
        <p:spPr>
          <a:xfrm>
            <a:off x="2848079" y="5450032"/>
            <a:ext cx="4283202"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GB" b="1"/>
              <a:t>The key part about this is Azure Managed Grafarna</a:t>
            </a:r>
            <a:endParaRPr lang="en-GB"/>
          </a:p>
          <a:p>
            <a:pPr marL="285750" indent="-285750">
              <a:buFont typeface="Arial,Sans-Serif"/>
              <a:buChar char="•"/>
            </a:pPr>
            <a:r>
              <a:rPr lang="en-GB"/>
              <a:t>This is monitored by dispatchers and law enforcement</a:t>
            </a:r>
          </a:p>
          <a:p>
            <a:pPr marL="285750" indent="-285750">
              <a:buFont typeface="Arial,Sans-Serif"/>
              <a:buChar char="•"/>
            </a:pPr>
            <a:r>
              <a:rPr lang="en-GB"/>
              <a:t>Via Internal VPN and Entra ID Role-Based Access</a:t>
            </a:r>
          </a:p>
        </p:txBody>
      </p:sp>
      <p:sp>
        <p:nvSpPr>
          <p:cNvPr id="2" name="Slide Number Placeholder 1">
            <a:extLst>
              <a:ext uri="{FF2B5EF4-FFF2-40B4-BE49-F238E27FC236}">
                <a16:creationId xmlns:a16="http://schemas.microsoft.com/office/drawing/2014/main" id="{10E0B7E3-6270-89B2-36CA-3E03267242E6}"/>
              </a:ext>
            </a:extLst>
          </p:cNvPr>
          <p:cNvSpPr>
            <a:spLocks noGrp="1"/>
          </p:cNvSpPr>
          <p:nvPr>
            <p:ph type="sldNum" sz="quarter" idx="12"/>
          </p:nvPr>
        </p:nvSpPr>
        <p:spPr/>
        <p:txBody>
          <a:bodyPr/>
          <a:lstStyle/>
          <a:p>
            <a:fld id="{BC06EAA3-687F-4743-ADBD-74613D0FCAFA}" type="slidenum">
              <a:rPr lang="en-GB" smtClean="0"/>
              <a:t>26</a:t>
            </a:fld>
            <a:endParaRPr lang="en-GB"/>
          </a:p>
        </p:txBody>
      </p:sp>
    </p:spTree>
    <p:extLst>
      <p:ext uri="{BB962C8B-B14F-4D97-AF65-F5344CB8AC3E}">
        <p14:creationId xmlns:p14="http://schemas.microsoft.com/office/powerpoint/2010/main" val="14571135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screenshot of a computer&#10;&#10;AI-generated content may be incorrect.">
            <a:extLst>
              <a:ext uri="{FF2B5EF4-FFF2-40B4-BE49-F238E27FC236}">
                <a16:creationId xmlns:a16="http://schemas.microsoft.com/office/drawing/2014/main" id="{8D9F560F-B4CE-4766-41F0-41654EFF6DC8}"/>
              </a:ext>
            </a:extLst>
          </p:cNvPr>
          <p:cNvPicPr>
            <a:picLocks noGrp="1" noChangeAspect="1"/>
          </p:cNvPicPr>
          <p:nvPr>
            <p:ph idx="1"/>
          </p:nvPr>
        </p:nvPicPr>
        <p:blipFill>
          <a:blip r:embed="rId3"/>
          <a:stretch>
            <a:fillRect/>
          </a:stretch>
        </p:blipFill>
        <p:spPr>
          <a:xfrm>
            <a:off x="-1" y="1264543"/>
            <a:ext cx="13515109" cy="5591264"/>
          </a:xfrm>
          <a:prstGeom prst="rect">
            <a:avLst/>
          </a:prstGeom>
        </p:spPr>
      </p:pic>
      <p:sp>
        <p:nvSpPr>
          <p:cNvPr id="12" name="Title 1">
            <a:extLst>
              <a:ext uri="{FF2B5EF4-FFF2-40B4-BE49-F238E27FC236}">
                <a16:creationId xmlns:a16="http://schemas.microsoft.com/office/drawing/2014/main" id="{1294F1BE-6940-4B5B-CE98-1057CC28D602}"/>
              </a:ext>
            </a:extLst>
          </p:cNvPr>
          <p:cNvSpPr txBox="1">
            <a:spLocks/>
          </p:cNvSpPr>
          <p:nvPr/>
        </p:nvSpPr>
        <p:spPr>
          <a:xfrm>
            <a:off x="915" y="456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600"/>
              <a:t>Threat Report Examples</a:t>
            </a:r>
          </a:p>
        </p:txBody>
      </p:sp>
      <p:cxnSp>
        <p:nvCxnSpPr>
          <p:cNvPr id="13" name="Straight Arrow Connector 12">
            <a:extLst>
              <a:ext uri="{FF2B5EF4-FFF2-40B4-BE49-F238E27FC236}">
                <a16:creationId xmlns:a16="http://schemas.microsoft.com/office/drawing/2014/main" id="{D3D18795-9585-EA3B-4E7F-1BECCCC831B3}"/>
              </a:ext>
            </a:extLst>
          </p:cNvPr>
          <p:cNvCxnSpPr/>
          <p:nvPr/>
        </p:nvCxnSpPr>
        <p:spPr>
          <a:xfrm>
            <a:off x="8926830" y="2615184"/>
            <a:ext cx="1223772" cy="6454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79D7E475-1A9E-1384-74AA-8E0C1B6E82C4}"/>
              </a:ext>
            </a:extLst>
          </p:cNvPr>
          <p:cNvSpPr>
            <a:spLocks noGrp="1"/>
          </p:cNvSpPr>
          <p:nvPr>
            <p:ph type="sldNum" sz="quarter" idx="12"/>
          </p:nvPr>
        </p:nvSpPr>
        <p:spPr/>
        <p:txBody>
          <a:bodyPr/>
          <a:lstStyle/>
          <a:p>
            <a:fld id="{BC06EAA3-687F-4743-ADBD-74613D0FCAFA}" type="slidenum">
              <a:rPr lang="en-GB" smtClean="0"/>
              <a:t>27</a:t>
            </a:fld>
            <a:endParaRPr lang="en-GB"/>
          </a:p>
        </p:txBody>
      </p:sp>
    </p:spTree>
    <p:extLst>
      <p:ext uri="{BB962C8B-B14F-4D97-AF65-F5344CB8AC3E}">
        <p14:creationId xmlns:p14="http://schemas.microsoft.com/office/powerpoint/2010/main" val="10313106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BA0C97-D6D2-E133-01BD-6197A99F6CB0}"/>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F8619A0E-5556-64E1-9710-F64A90F0AB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50D375-E13B-E160-1678-7925CA045901}"/>
              </a:ext>
            </a:extLst>
          </p:cNvPr>
          <p:cNvSpPr>
            <a:spLocks noGrp="1"/>
          </p:cNvSpPr>
          <p:nvPr>
            <p:ph type="title"/>
          </p:nvPr>
        </p:nvSpPr>
        <p:spPr>
          <a:xfrm>
            <a:off x="1156851" y="637762"/>
            <a:ext cx="9888496" cy="900131"/>
          </a:xfrm>
        </p:spPr>
        <p:txBody>
          <a:bodyPr anchor="t">
            <a:normAutofit/>
          </a:bodyPr>
          <a:lstStyle/>
          <a:p>
            <a:r>
              <a:rPr lang="en-GB">
                <a:solidFill>
                  <a:schemeClr val="bg1"/>
                </a:solidFill>
              </a:rPr>
              <a:t>Data handling concerns </a:t>
            </a:r>
          </a:p>
        </p:txBody>
      </p:sp>
      <p:sp>
        <p:nvSpPr>
          <p:cNvPr id="10" name="Rectangle 9">
            <a:extLst>
              <a:ext uri="{FF2B5EF4-FFF2-40B4-BE49-F238E27FC236}">
                <a16:creationId xmlns:a16="http://schemas.microsoft.com/office/drawing/2014/main" id="{2A64D725-19A8-03C0-80FB-31027B7420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E3F4A54-B953-932D-1E2A-DF5ECB1F5F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9E00376-48B2-9130-8D76-C1DEE9B2D2C6}"/>
              </a:ext>
            </a:extLst>
          </p:cNvPr>
          <p:cNvSpPr>
            <a:spLocks noGrp="1"/>
          </p:cNvSpPr>
          <p:nvPr>
            <p:ph idx="1"/>
          </p:nvPr>
        </p:nvSpPr>
        <p:spPr>
          <a:xfrm>
            <a:off x="1155548" y="2217343"/>
            <a:ext cx="9880893" cy="3959619"/>
          </a:xfrm>
        </p:spPr>
        <p:txBody>
          <a:bodyPr vert="horz" lIns="91440" tIns="45720" rIns="91440" bIns="45720" rtlCol="0" anchor="t">
            <a:normAutofit/>
          </a:bodyPr>
          <a:lstStyle/>
          <a:p>
            <a:pPr marL="0" indent="0">
              <a:buNone/>
            </a:pPr>
            <a:r>
              <a:rPr lang="en-GB" sz="2400"/>
              <a:t>CIA Triad used for guidance:</a:t>
            </a:r>
          </a:p>
          <a:p>
            <a:pPr marL="0" indent="0">
              <a:buNone/>
            </a:pPr>
            <a:endParaRPr lang="en-GB" sz="2400"/>
          </a:p>
          <a:p>
            <a:pPr marL="0" indent="0">
              <a:buNone/>
            </a:pPr>
            <a:r>
              <a:rPr lang="en-GB" sz="2400"/>
              <a:t>C - Personal GPS data kept private on GitHub</a:t>
            </a:r>
          </a:p>
          <a:p>
            <a:pPr marL="0" indent="0">
              <a:buNone/>
            </a:pPr>
            <a:r>
              <a:rPr lang="en-GB" sz="2400"/>
              <a:t>I – Verified data integrity after preprocessing </a:t>
            </a:r>
          </a:p>
          <a:p>
            <a:pPr marL="0" indent="0">
              <a:buNone/>
            </a:pPr>
            <a:r>
              <a:rPr lang="en-GB" sz="2400"/>
              <a:t>A - GitHub primarily used, with shared backups via OneDrive</a:t>
            </a:r>
          </a:p>
          <a:p>
            <a:endParaRPr lang="en-GB" sz="2400"/>
          </a:p>
          <a:p>
            <a:endParaRPr lang="en-GB" sz="2400"/>
          </a:p>
        </p:txBody>
      </p:sp>
      <p:sp>
        <p:nvSpPr>
          <p:cNvPr id="4" name="Slide Number Placeholder 3">
            <a:extLst>
              <a:ext uri="{FF2B5EF4-FFF2-40B4-BE49-F238E27FC236}">
                <a16:creationId xmlns:a16="http://schemas.microsoft.com/office/drawing/2014/main" id="{04D731F8-FD65-7B17-DF8C-45B581CFC770}"/>
              </a:ext>
            </a:extLst>
          </p:cNvPr>
          <p:cNvSpPr>
            <a:spLocks noGrp="1"/>
          </p:cNvSpPr>
          <p:nvPr>
            <p:ph type="sldNum" sz="quarter" idx="12"/>
          </p:nvPr>
        </p:nvSpPr>
        <p:spPr/>
        <p:txBody>
          <a:bodyPr/>
          <a:lstStyle/>
          <a:p>
            <a:fld id="{BC06EAA3-687F-4743-ADBD-74613D0FCAFA}" type="slidenum">
              <a:rPr lang="en-GB" smtClean="0"/>
              <a:t>28</a:t>
            </a:fld>
            <a:endParaRPr lang="en-GB"/>
          </a:p>
        </p:txBody>
      </p:sp>
      <p:pic>
        <p:nvPicPr>
          <p:cNvPr id="5" name="Picture 4">
            <a:extLst>
              <a:ext uri="{FF2B5EF4-FFF2-40B4-BE49-F238E27FC236}">
                <a16:creationId xmlns:a16="http://schemas.microsoft.com/office/drawing/2014/main" id="{4E2156F1-5199-97F6-FC4B-DD867CF2FD40}"/>
              </a:ext>
            </a:extLst>
          </p:cNvPr>
          <p:cNvPicPr>
            <a:picLocks noChangeAspect="1"/>
          </p:cNvPicPr>
          <p:nvPr/>
        </p:nvPicPr>
        <p:blipFill>
          <a:blip r:embed="rId3"/>
          <a:stretch>
            <a:fillRect/>
          </a:stretch>
        </p:blipFill>
        <p:spPr>
          <a:xfrm>
            <a:off x="4285805" y="4428848"/>
            <a:ext cx="3169246" cy="2292627"/>
          </a:xfrm>
          <a:prstGeom prst="rect">
            <a:avLst/>
          </a:prstGeom>
        </p:spPr>
      </p:pic>
    </p:spTree>
    <p:extLst>
      <p:ext uri="{BB962C8B-B14F-4D97-AF65-F5344CB8AC3E}">
        <p14:creationId xmlns:p14="http://schemas.microsoft.com/office/powerpoint/2010/main" val="20315231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3670479-89FA-8B43-8D20-BFA81AC0BCF2}"/>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439CBEE-0C8E-0609-3C37-43DB40125E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2C08DE-2922-7D3A-CA24-C514B3723B48}"/>
              </a:ext>
            </a:extLst>
          </p:cNvPr>
          <p:cNvSpPr>
            <a:spLocks noGrp="1"/>
          </p:cNvSpPr>
          <p:nvPr>
            <p:ph type="title"/>
          </p:nvPr>
        </p:nvSpPr>
        <p:spPr>
          <a:xfrm>
            <a:off x="1156851" y="637762"/>
            <a:ext cx="9888496" cy="900131"/>
          </a:xfrm>
        </p:spPr>
        <p:txBody>
          <a:bodyPr anchor="t">
            <a:normAutofit fontScale="90000"/>
          </a:bodyPr>
          <a:lstStyle/>
          <a:p>
            <a:r>
              <a:rPr lang="en-GB" sz="4000">
                <a:solidFill>
                  <a:schemeClr val="bg1"/>
                </a:solidFill>
              </a:rPr>
              <a:t>Ethical Concerns - Individuals</a:t>
            </a:r>
            <a:br>
              <a:rPr lang="en-GB" sz="4000">
                <a:solidFill>
                  <a:schemeClr val="bg1"/>
                </a:solidFill>
              </a:rPr>
            </a:br>
            <a:endParaRPr lang="en-US"/>
          </a:p>
        </p:txBody>
      </p:sp>
      <p:sp>
        <p:nvSpPr>
          <p:cNvPr id="10" name="Rectangle 9">
            <a:extLst>
              <a:ext uri="{FF2B5EF4-FFF2-40B4-BE49-F238E27FC236}">
                <a16:creationId xmlns:a16="http://schemas.microsoft.com/office/drawing/2014/main" id="{3EA3EFC2-E7F0-06CA-1402-D7A494CD6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03EF1BB-F834-A0F0-223F-EB45425AE1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FAFA06A-56FE-01E3-1C4F-E8C1500638CC}"/>
              </a:ext>
            </a:extLst>
          </p:cNvPr>
          <p:cNvSpPr>
            <a:spLocks noGrp="1"/>
          </p:cNvSpPr>
          <p:nvPr>
            <p:ph idx="1"/>
          </p:nvPr>
        </p:nvSpPr>
        <p:spPr>
          <a:xfrm>
            <a:off x="1155548" y="2217343"/>
            <a:ext cx="9880893" cy="3959619"/>
          </a:xfrm>
        </p:spPr>
        <p:txBody>
          <a:bodyPr vert="horz" lIns="91440" tIns="45720" rIns="91440" bIns="45720" rtlCol="0" anchor="t">
            <a:normAutofit/>
          </a:bodyPr>
          <a:lstStyle/>
          <a:p>
            <a:r>
              <a:rPr lang="en-GB" sz="2400"/>
              <a:t>For many users, rollout of our project may be too privacy invasive.</a:t>
            </a:r>
            <a:endParaRPr lang="en-US" sz="2400"/>
          </a:p>
          <a:p>
            <a:endParaRPr lang="en-GB" sz="2400"/>
          </a:p>
          <a:p>
            <a:r>
              <a:rPr lang="en-GB" sz="2400"/>
              <a:t>False alarms may waste the time of Law Enforcement</a:t>
            </a:r>
            <a:endParaRPr lang="en-US" sz="2400"/>
          </a:p>
          <a:p>
            <a:endParaRPr lang="en-GB" sz="2400"/>
          </a:p>
          <a:p>
            <a:r>
              <a:rPr lang="en-GB" sz="2400"/>
              <a:t>False data can be created deliberately by forging requests</a:t>
            </a:r>
            <a:endParaRPr lang="en-GB"/>
          </a:p>
          <a:p>
            <a:endParaRPr lang="en-GB" sz="2400"/>
          </a:p>
          <a:p>
            <a:r>
              <a:rPr lang="en-GB" sz="2400"/>
              <a:t>Is this data being used for other purposes</a:t>
            </a:r>
          </a:p>
          <a:p>
            <a:endParaRPr lang="en-GB" sz="2400"/>
          </a:p>
          <a:p>
            <a:endParaRPr lang="en-GB" sz="2400"/>
          </a:p>
          <a:p>
            <a:endParaRPr lang="en-GB" sz="2400"/>
          </a:p>
          <a:p>
            <a:endParaRPr lang="en-GB" sz="2400"/>
          </a:p>
          <a:p>
            <a:endParaRPr lang="en-GB" sz="2400"/>
          </a:p>
          <a:p>
            <a:endParaRPr lang="en-GB" sz="2400"/>
          </a:p>
        </p:txBody>
      </p:sp>
      <p:sp>
        <p:nvSpPr>
          <p:cNvPr id="4" name="Slide Number Placeholder 3">
            <a:extLst>
              <a:ext uri="{FF2B5EF4-FFF2-40B4-BE49-F238E27FC236}">
                <a16:creationId xmlns:a16="http://schemas.microsoft.com/office/drawing/2014/main" id="{315B8F39-5A82-924F-199F-BB46A9705331}"/>
              </a:ext>
            </a:extLst>
          </p:cNvPr>
          <p:cNvSpPr>
            <a:spLocks noGrp="1"/>
          </p:cNvSpPr>
          <p:nvPr>
            <p:ph type="sldNum" sz="quarter" idx="12"/>
          </p:nvPr>
        </p:nvSpPr>
        <p:spPr/>
        <p:txBody>
          <a:bodyPr/>
          <a:lstStyle/>
          <a:p>
            <a:fld id="{BC06EAA3-687F-4743-ADBD-74613D0FCAFA}" type="slidenum">
              <a:rPr lang="en-GB" smtClean="0"/>
              <a:t>29</a:t>
            </a:fld>
            <a:endParaRPr lang="en-GB"/>
          </a:p>
        </p:txBody>
      </p:sp>
    </p:spTree>
    <p:extLst>
      <p:ext uri="{BB962C8B-B14F-4D97-AF65-F5344CB8AC3E}">
        <p14:creationId xmlns:p14="http://schemas.microsoft.com/office/powerpoint/2010/main" val="4471667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7074E5-06C3-6F82-2137-408C375517E4}"/>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200B1729-0184-DF2A-AF52-701F91EC02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CCA186-EA2F-F71C-5DB4-F66943D54B5D}"/>
              </a:ext>
            </a:extLst>
          </p:cNvPr>
          <p:cNvSpPr>
            <a:spLocks noGrp="1"/>
          </p:cNvSpPr>
          <p:nvPr>
            <p:ph type="title"/>
          </p:nvPr>
        </p:nvSpPr>
        <p:spPr>
          <a:xfrm>
            <a:off x="1156851" y="637762"/>
            <a:ext cx="9888496" cy="900131"/>
          </a:xfrm>
        </p:spPr>
        <p:txBody>
          <a:bodyPr anchor="t">
            <a:normAutofit fontScale="90000"/>
          </a:bodyPr>
          <a:lstStyle/>
          <a:p>
            <a:r>
              <a:rPr lang="en-GB" sz="4000">
                <a:solidFill>
                  <a:schemeClr val="bg1"/>
                </a:solidFill>
              </a:rPr>
              <a:t>Ethical Concerns - State</a:t>
            </a:r>
            <a:br>
              <a:rPr lang="en-GB" sz="4000"/>
            </a:br>
            <a:endParaRPr lang="en-US"/>
          </a:p>
        </p:txBody>
      </p:sp>
      <p:sp>
        <p:nvSpPr>
          <p:cNvPr id="10" name="Rectangle 9">
            <a:extLst>
              <a:ext uri="{FF2B5EF4-FFF2-40B4-BE49-F238E27FC236}">
                <a16:creationId xmlns:a16="http://schemas.microsoft.com/office/drawing/2014/main" id="{F2F660D6-FA3A-280B-6E5A-A866851296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4CB6FB5-0882-DCE7-36A9-B2D81353A8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FC09D70-E44D-1459-7EED-B9BCAC5BBE2E}"/>
              </a:ext>
            </a:extLst>
          </p:cNvPr>
          <p:cNvSpPr>
            <a:spLocks noGrp="1"/>
          </p:cNvSpPr>
          <p:nvPr>
            <p:ph idx="1"/>
          </p:nvPr>
        </p:nvSpPr>
        <p:spPr>
          <a:xfrm>
            <a:off x="1155548" y="2217343"/>
            <a:ext cx="9880893" cy="3959619"/>
          </a:xfrm>
        </p:spPr>
        <p:txBody>
          <a:bodyPr vert="horz" lIns="91440" tIns="45720" rIns="91440" bIns="45720" rtlCol="0" anchor="t">
            <a:normAutofit/>
          </a:bodyPr>
          <a:lstStyle/>
          <a:p>
            <a:r>
              <a:rPr lang="en-GB" sz="2400"/>
              <a:t>Data misuse could lead to mass surveillance or behavioural monitoring</a:t>
            </a:r>
          </a:p>
          <a:p>
            <a:endParaRPr lang="en-GB" sz="2400"/>
          </a:p>
          <a:p>
            <a:r>
              <a:rPr lang="en-GB" sz="2400"/>
              <a:t>Cross-border data sharing risks</a:t>
            </a:r>
          </a:p>
          <a:p>
            <a:endParaRPr lang="en-GB" sz="2400"/>
          </a:p>
          <a:p>
            <a:r>
              <a:rPr lang="en-GB" sz="2400"/>
              <a:t>Lack of transparency</a:t>
            </a:r>
          </a:p>
          <a:p>
            <a:endParaRPr lang="en-GB" sz="2400"/>
          </a:p>
          <a:p>
            <a:r>
              <a:rPr lang="en-GB" sz="2400"/>
              <a:t>Threat of data manipulation</a:t>
            </a:r>
          </a:p>
          <a:p>
            <a:endParaRPr lang="en-GB" sz="2400"/>
          </a:p>
          <a:p>
            <a:endParaRPr lang="en-GB" sz="2400"/>
          </a:p>
          <a:p>
            <a:endParaRPr lang="en-GB" sz="2400"/>
          </a:p>
          <a:p>
            <a:endParaRPr lang="en-GB" sz="2400"/>
          </a:p>
          <a:p>
            <a:endParaRPr lang="en-GB" sz="2400"/>
          </a:p>
          <a:p>
            <a:endParaRPr lang="en-GB" sz="2400"/>
          </a:p>
          <a:p>
            <a:endParaRPr lang="en-GB" sz="2400"/>
          </a:p>
          <a:p>
            <a:endParaRPr lang="en-GB" sz="2400"/>
          </a:p>
        </p:txBody>
      </p:sp>
      <p:sp>
        <p:nvSpPr>
          <p:cNvPr id="4" name="Slide Number Placeholder 3">
            <a:extLst>
              <a:ext uri="{FF2B5EF4-FFF2-40B4-BE49-F238E27FC236}">
                <a16:creationId xmlns:a16="http://schemas.microsoft.com/office/drawing/2014/main" id="{089C937E-491A-2AD2-5A10-F6735F703C8E}"/>
              </a:ext>
            </a:extLst>
          </p:cNvPr>
          <p:cNvSpPr>
            <a:spLocks noGrp="1"/>
          </p:cNvSpPr>
          <p:nvPr>
            <p:ph type="sldNum" sz="quarter" idx="12"/>
          </p:nvPr>
        </p:nvSpPr>
        <p:spPr/>
        <p:txBody>
          <a:bodyPr/>
          <a:lstStyle/>
          <a:p>
            <a:fld id="{BC06EAA3-687F-4743-ADBD-74613D0FCAFA}" type="slidenum">
              <a:rPr lang="en-GB" smtClean="0"/>
              <a:t>30</a:t>
            </a:fld>
            <a:endParaRPr lang="en-GB"/>
          </a:p>
        </p:txBody>
      </p:sp>
      <p:pic>
        <p:nvPicPr>
          <p:cNvPr id="6" name="Picture 5" descr="Mobile device with apps">
            <a:extLst>
              <a:ext uri="{FF2B5EF4-FFF2-40B4-BE49-F238E27FC236}">
                <a16:creationId xmlns:a16="http://schemas.microsoft.com/office/drawing/2014/main" id="{AD892126-5C53-E1BF-6C2B-3E306ACBB885}"/>
              </a:ext>
            </a:extLst>
          </p:cNvPr>
          <p:cNvPicPr>
            <a:picLocks noChangeAspect="1"/>
          </p:cNvPicPr>
          <p:nvPr/>
        </p:nvPicPr>
        <p:blipFill>
          <a:blip r:embed="rId3"/>
          <a:srcRect l="22060" r="21520"/>
          <a:stretch>
            <a:fillRect/>
          </a:stretch>
        </p:blipFill>
        <p:spPr>
          <a:xfrm>
            <a:off x="8610207" y="3509043"/>
            <a:ext cx="3216081" cy="3206390"/>
          </a:xfrm>
          <a:prstGeom prst="rect">
            <a:avLst/>
          </a:prstGeom>
        </p:spPr>
      </p:pic>
    </p:spTree>
    <p:extLst>
      <p:ext uri="{BB962C8B-B14F-4D97-AF65-F5344CB8AC3E}">
        <p14:creationId xmlns:p14="http://schemas.microsoft.com/office/powerpoint/2010/main" val="34223851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872B2E-0952-4A7A-061C-A98D140C6391}"/>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F15A70DE-B721-D9D7-24B9-99E4331D49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DE79A5-88FB-B697-E43A-D6B3EC4D242E}"/>
              </a:ext>
            </a:extLst>
          </p:cNvPr>
          <p:cNvSpPr>
            <a:spLocks noGrp="1"/>
          </p:cNvSpPr>
          <p:nvPr>
            <p:ph type="title"/>
          </p:nvPr>
        </p:nvSpPr>
        <p:spPr>
          <a:xfrm>
            <a:off x="1156851" y="637762"/>
            <a:ext cx="9888496" cy="900131"/>
          </a:xfrm>
        </p:spPr>
        <p:txBody>
          <a:bodyPr anchor="t">
            <a:normAutofit/>
          </a:bodyPr>
          <a:lstStyle/>
          <a:p>
            <a:r>
              <a:rPr lang="en-GB" sz="4000">
                <a:solidFill>
                  <a:schemeClr val="bg1"/>
                </a:solidFill>
              </a:rPr>
              <a:t>Final Rollout Considerations</a:t>
            </a:r>
          </a:p>
        </p:txBody>
      </p:sp>
      <p:sp>
        <p:nvSpPr>
          <p:cNvPr id="10" name="Rectangle 9">
            <a:extLst>
              <a:ext uri="{FF2B5EF4-FFF2-40B4-BE49-F238E27FC236}">
                <a16:creationId xmlns:a16="http://schemas.microsoft.com/office/drawing/2014/main" id="{32FFFAA7-E84B-FC32-001B-D366487E88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0B6B587-BD1A-D21A-9D9A-68FE6AA8B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D027AA3-36DD-4D61-9540-C8096E9881B6}"/>
              </a:ext>
            </a:extLst>
          </p:cNvPr>
          <p:cNvSpPr>
            <a:spLocks noGrp="1"/>
          </p:cNvSpPr>
          <p:nvPr>
            <p:ph idx="1"/>
          </p:nvPr>
        </p:nvSpPr>
        <p:spPr>
          <a:xfrm>
            <a:off x="1155548" y="2217343"/>
            <a:ext cx="9880893" cy="3959619"/>
          </a:xfrm>
        </p:spPr>
        <p:txBody>
          <a:bodyPr vert="horz" lIns="91440" tIns="45720" rIns="91440" bIns="45720" rtlCol="0" anchor="t">
            <a:normAutofit/>
          </a:bodyPr>
          <a:lstStyle/>
          <a:p>
            <a:endParaRPr lang="en-GB" sz="2400"/>
          </a:p>
          <a:p>
            <a:r>
              <a:rPr lang="en-GB" sz="2400"/>
              <a:t>False data can be created deliberately by forging requests</a:t>
            </a:r>
          </a:p>
          <a:p>
            <a:endParaRPr lang="en-GB" sz="2400"/>
          </a:p>
          <a:p>
            <a:r>
              <a:rPr lang="en-GB" sz="2400"/>
              <a:t>Battery power will drain more quickly due to immediate access </a:t>
            </a:r>
            <a:endParaRPr lang="en-US" sz="2400"/>
          </a:p>
          <a:p>
            <a:endParaRPr lang="en-GB" sz="2400"/>
          </a:p>
          <a:p>
            <a:r>
              <a:rPr lang="en-GB" sz="2400"/>
              <a:t>Reliance on mobile data or internet connection</a:t>
            </a:r>
            <a:endParaRPr lang="en-US" sz="2400"/>
          </a:p>
          <a:p>
            <a:endParaRPr lang="en-GB" sz="2400"/>
          </a:p>
          <a:p>
            <a:r>
              <a:rPr lang="en-GB" sz="2400"/>
              <a:t>Will not cover areas with low signal</a:t>
            </a:r>
            <a:endParaRPr lang="en-US" sz="2400"/>
          </a:p>
          <a:p>
            <a:endParaRPr lang="en-GB" sz="2400"/>
          </a:p>
          <a:p>
            <a:endParaRPr lang="en-GB" sz="2400"/>
          </a:p>
          <a:p>
            <a:endParaRPr lang="en-GB" sz="2400"/>
          </a:p>
          <a:p>
            <a:endParaRPr lang="en-GB" sz="2400"/>
          </a:p>
          <a:p>
            <a:endParaRPr lang="en-GB" sz="2400"/>
          </a:p>
          <a:p>
            <a:endParaRPr lang="en-GB" sz="2400"/>
          </a:p>
          <a:p>
            <a:endParaRPr lang="en-GB" sz="2400"/>
          </a:p>
          <a:p>
            <a:endParaRPr lang="en-GB" sz="2400"/>
          </a:p>
          <a:p>
            <a:endParaRPr lang="en-GB" sz="2400"/>
          </a:p>
          <a:p>
            <a:endParaRPr lang="en-GB" sz="2400"/>
          </a:p>
        </p:txBody>
      </p:sp>
      <p:sp>
        <p:nvSpPr>
          <p:cNvPr id="4" name="Slide Number Placeholder 3">
            <a:extLst>
              <a:ext uri="{FF2B5EF4-FFF2-40B4-BE49-F238E27FC236}">
                <a16:creationId xmlns:a16="http://schemas.microsoft.com/office/drawing/2014/main" id="{A113C944-8A19-8405-71FA-FE8FBDD323C1}"/>
              </a:ext>
            </a:extLst>
          </p:cNvPr>
          <p:cNvSpPr>
            <a:spLocks noGrp="1"/>
          </p:cNvSpPr>
          <p:nvPr>
            <p:ph type="sldNum" sz="quarter" idx="12"/>
          </p:nvPr>
        </p:nvSpPr>
        <p:spPr/>
        <p:txBody>
          <a:bodyPr/>
          <a:lstStyle/>
          <a:p>
            <a:fld id="{BC06EAA3-687F-4743-ADBD-74613D0FCAFA}" type="slidenum">
              <a:rPr lang="en-GB" smtClean="0"/>
              <a:t>31</a:t>
            </a:fld>
            <a:endParaRPr lang="en-GB"/>
          </a:p>
        </p:txBody>
      </p:sp>
    </p:spTree>
    <p:extLst>
      <p:ext uri="{BB962C8B-B14F-4D97-AF65-F5344CB8AC3E}">
        <p14:creationId xmlns:p14="http://schemas.microsoft.com/office/powerpoint/2010/main" val="817899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B52C4-AE10-14A9-0136-139349E76346}"/>
            </a:ext>
          </a:extLst>
        </p:cNvPr>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B8D0552B-CCBD-6A68-5386-C1A4D2802DCF}"/>
              </a:ext>
            </a:extLst>
          </p:cNvPr>
          <p:cNvPicPr>
            <a:picLocks noGrp="1" noChangeAspect="1"/>
          </p:cNvPicPr>
          <p:nvPr>
            <p:ph type="pic" sz="quarter" idx="10"/>
          </p:nvPr>
        </p:nvPicPr>
        <p:blipFill rotWithShape="1">
          <a:blip r:embed="rId3">
            <a:alphaModFix amt="52000"/>
            <a:extLst>
              <a:ext uri="{BEBA8EAE-BF5A-486C-A8C5-ECC9F3942E4B}">
                <a14:imgProps xmlns:a14="http://schemas.microsoft.com/office/drawing/2010/main">
                  <a14:imgLayer r:embed="rId4">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D096134A-8ABA-59AC-867B-1A4EE571F73B}"/>
              </a:ext>
            </a:extLst>
          </p:cNvPr>
          <p:cNvSpPr>
            <a:spLocks noGrp="1"/>
          </p:cNvSpPr>
          <p:nvPr>
            <p:ph type="title"/>
          </p:nvPr>
        </p:nvSpPr>
        <p:spPr>
          <a:xfrm>
            <a:off x="350836" y="2848231"/>
            <a:ext cx="11490325" cy="823913"/>
          </a:xfrm>
        </p:spPr>
        <p:txBody>
          <a:bodyPr rtlCol="0"/>
          <a:lstStyle/>
          <a:p>
            <a:pPr algn="ctr"/>
            <a:r>
              <a:rPr lang="en-GB"/>
              <a:t>Thank you!</a:t>
            </a:r>
          </a:p>
        </p:txBody>
      </p:sp>
      <p:sp>
        <p:nvSpPr>
          <p:cNvPr id="13" name="Text Placeholder 12">
            <a:extLst>
              <a:ext uri="{FF2B5EF4-FFF2-40B4-BE49-F238E27FC236}">
                <a16:creationId xmlns:a16="http://schemas.microsoft.com/office/drawing/2014/main" id="{7E79D1EC-30AA-EC7E-ED29-EAA699351FD2}"/>
              </a:ext>
            </a:extLst>
          </p:cNvPr>
          <p:cNvSpPr>
            <a:spLocks noGrp="1"/>
          </p:cNvSpPr>
          <p:nvPr>
            <p:ph type="body" sz="quarter" idx="12"/>
          </p:nvPr>
        </p:nvSpPr>
        <p:spPr>
          <a:xfrm>
            <a:off x="3512343" y="3783991"/>
            <a:ext cx="5167313" cy="518795"/>
          </a:xfrm>
        </p:spPr>
        <p:txBody>
          <a:bodyPr vert="horz" lIns="91440" tIns="45720" rIns="91440" bIns="45720" rtlCol="0" anchor="t">
            <a:noAutofit/>
          </a:bodyPr>
          <a:lstStyle/>
          <a:p>
            <a:r>
              <a:rPr lang="en-GB"/>
              <a:t>Any Questions?</a:t>
            </a:r>
          </a:p>
        </p:txBody>
      </p:sp>
    </p:spTree>
    <p:extLst>
      <p:ext uri="{BB962C8B-B14F-4D97-AF65-F5344CB8AC3E}">
        <p14:creationId xmlns:p14="http://schemas.microsoft.com/office/powerpoint/2010/main" val="34421965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302B945-18BA-624A-3365-F3F77638716C}"/>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F84799E7-6340-C150-9C90-C58E51EE80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9FE211-722E-1AEF-2467-34B39A3DC61F}"/>
              </a:ext>
            </a:extLst>
          </p:cNvPr>
          <p:cNvSpPr>
            <a:spLocks noGrp="1"/>
          </p:cNvSpPr>
          <p:nvPr>
            <p:ph type="title"/>
          </p:nvPr>
        </p:nvSpPr>
        <p:spPr>
          <a:xfrm>
            <a:off x="1156851" y="637762"/>
            <a:ext cx="9888496" cy="900131"/>
          </a:xfrm>
        </p:spPr>
        <p:txBody>
          <a:bodyPr anchor="t">
            <a:normAutofit/>
          </a:bodyPr>
          <a:lstStyle/>
          <a:p>
            <a:r>
              <a:rPr lang="en-GB" sz="4000">
                <a:solidFill>
                  <a:schemeClr val="bg1"/>
                </a:solidFill>
              </a:rPr>
              <a:t>References</a:t>
            </a:r>
          </a:p>
        </p:txBody>
      </p:sp>
      <p:sp>
        <p:nvSpPr>
          <p:cNvPr id="10" name="Rectangle 9">
            <a:extLst>
              <a:ext uri="{FF2B5EF4-FFF2-40B4-BE49-F238E27FC236}">
                <a16:creationId xmlns:a16="http://schemas.microsoft.com/office/drawing/2014/main" id="{3DF96B1A-F383-6E5A-A7D5-BA373DDCB3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8D06C91-7C3B-20A1-4557-711671398C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BB2C836-91D3-A03F-C7A3-22CAA1616613}"/>
              </a:ext>
            </a:extLst>
          </p:cNvPr>
          <p:cNvSpPr>
            <a:spLocks noGrp="1"/>
          </p:cNvSpPr>
          <p:nvPr>
            <p:ph idx="1"/>
          </p:nvPr>
        </p:nvSpPr>
        <p:spPr>
          <a:xfrm>
            <a:off x="1155548" y="2136835"/>
            <a:ext cx="9880893" cy="4572923"/>
          </a:xfrm>
        </p:spPr>
        <p:txBody>
          <a:bodyPr vert="horz" lIns="91440" tIns="45720" rIns="91440" bIns="45720" rtlCol="0" anchor="t">
            <a:normAutofit lnSpcReduction="10000"/>
          </a:bodyPr>
          <a:lstStyle/>
          <a:p>
            <a:pPr marL="0" indent="0">
              <a:buNone/>
            </a:pPr>
            <a:r>
              <a:rPr lang="en-US" sz="1600"/>
              <a:t>Grafana Labs. 2021. </a:t>
            </a:r>
            <a:r>
              <a:rPr lang="en-US" sz="1600" i="1"/>
              <a:t>“What’s New in Grafana 8.1: </a:t>
            </a:r>
            <a:r>
              <a:rPr lang="en-US" sz="1600" i="1" err="1"/>
              <a:t>Geomap</a:t>
            </a:r>
            <a:r>
              <a:rPr lang="en-US" sz="1600" i="1"/>
              <a:t> Panel”</a:t>
            </a:r>
            <a:r>
              <a:rPr lang="en-US" sz="1600"/>
              <a:t>. [online] 17 August. Available at: </a:t>
            </a:r>
            <a:r>
              <a:rPr lang="en-US" sz="1600">
                <a:hlinkClick r:id="rId2"/>
              </a:rPr>
              <a:t>https://grafana.com/blog/2021/08/17/whats-new-in-grafana-8.1-geomap-panel/</a:t>
            </a:r>
            <a:r>
              <a:rPr lang="en-US" sz="1600"/>
              <a:t> [Accessed 2 November 2025].</a:t>
            </a:r>
            <a:endParaRPr lang="en-US" sz="1600">
              <a:latin typeface="Calibri"/>
              <a:ea typeface="Calibri"/>
              <a:cs typeface="Calibri"/>
            </a:endParaRPr>
          </a:p>
          <a:p>
            <a:pPr marL="0" indent="0">
              <a:buNone/>
            </a:pPr>
            <a:r>
              <a:rPr lang="en-US" sz="1600">
                <a:latin typeface="Calibri"/>
                <a:ea typeface="Calibri"/>
                <a:cs typeface="Calibri"/>
              </a:rPr>
              <a:t>Ho, Peter (2024) </a:t>
            </a:r>
            <a:r>
              <a:rPr lang="en-US" sz="1600" i="1">
                <a:latin typeface="Calibri"/>
                <a:ea typeface="Calibri"/>
                <a:cs typeface="Calibri"/>
              </a:rPr>
              <a:t>GPS Logger </a:t>
            </a:r>
            <a:r>
              <a:rPr lang="en-US" sz="1600">
                <a:latin typeface="Calibri"/>
                <a:ea typeface="Calibri"/>
                <a:cs typeface="Calibri"/>
              </a:rPr>
              <a:t>(4.4.95) [Mobile App]. Available at: https://play.google.com/store/apps/details?id=com.peterhohsy.gpsloggerlite (Accessed: 29 September 2025).</a:t>
            </a:r>
          </a:p>
          <a:p>
            <a:pPr marL="0" indent="0">
              <a:buNone/>
            </a:pPr>
            <a:r>
              <a:rPr lang="en-US" sz="1600" err="1">
                <a:latin typeface="Calibri"/>
                <a:ea typeface="Calibri"/>
                <a:cs typeface="Calibri"/>
              </a:rPr>
              <a:t>Malyi</a:t>
            </a:r>
            <a:r>
              <a:rPr lang="en-US" sz="1600">
                <a:latin typeface="Calibri"/>
                <a:ea typeface="Calibri"/>
                <a:cs typeface="Calibri"/>
              </a:rPr>
              <a:t>, V (2017) </a:t>
            </a:r>
            <a:r>
              <a:rPr lang="en-US" sz="1600" i="1">
                <a:latin typeface="Calibri"/>
                <a:ea typeface="Calibri"/>
                <a:cs typeface="Calibri"/>
              </a:rPr>
              <a:t>Run or Walk</a:t>
            </a:r>
            <a:r>
              <a:rPr lang="en-US" sz="1600">
                <a:latin typeface="Calibri"/>
                <a:ea typeface="Calibri"/>
                <a:cs typeface="Calibri"/>
              </a:rPr>
              <a:t>. Available at: https://www.kaggle.com/datasets/vmalyi/run-or-walk (Accessed 28 September 2025).</a:t>
            </a:r>
          </a:p>
          <a:p>
            <a:pPr marL="0" indent="0">
              <a:buNone/>
            </a:pPr>
            <a:r>
              <a:rPr lang="en-US" sz="1600">
                <a:latin typeface="Calibri"/>
                <a:ea typeface="Calibri"/>
                <a:cs typeface="Calibri"/>
              </a:rPr>
              <a:t>Prata, M. (2020) </a:t>
            </a:r>
            <a:r>
              <a:rPr lang="en-US" sz="1600" i="1">
                <a:latin typeface="Calibri"/>
                <a:ea typeface="Calibri"/>
                <a:cs typeface="Calibri"/>
              </a:rPr>
              <a:t>European Train Stations Maps. </a:t>
            </a:r>
            <a:r>
              <a:rPr lang="en-US" sz="1600">
                <a:latin typeface="Calibri"/>
                <a:ea typeface="Calibri"/>
                <a:cs typeface="Calibri"/>
              </a:rPr>
              <a:t>Available at: https://www.kaggle.com/code/mpwolke/european-train-stations-maps/input (Accessed 28 October 2025).</a:t>
            </a:r>
          </a:p>
          <a:p>
            <a:pPr marL="0" indent="0">
              <a:buNone/>
            </a:pPr>
            <a:r>
              <a:rPr lang="en-GB" sz="1600" i="1"/>
              <a:t>Random Forest Classification in Python With Scikit-Learn: Step-by-Step Guide (with Code Examples). </a:t>
            </a:r>
            <a:r>
              <a:rPr lang="en-GB" sz="1600"/>
              <a:t>Available at: </a:t>
            </a:r>
            <a:r>
              <a:rPr lang="en-GB" sz="1600">
                <a:hlinkClick r:id="rId3"/>
              </a:rPr>
              <a:t>https://www.datacamp.com/tutorial/random-forests-classifier-python</a:t>
            </a:r>
            <a:r>
              <a:rPr lang="en-GB" sz="1600"/>
              <a:t> (Accessed: Nov 19, 2025).</a:t>
            </a:r>
            <a:endParaRPr lang="en-US" sz="1600"/>
          </a:p>
          <a:p>
            <a:pPr marL="0" indent="0">
              <a:buNone/>
            </a:pPr>
            <a:r>
              <a:rPr lang="en-GB" sz="1600"/>
              <a:t>Raihan, M.J., Khan, M.A., Kee, S-H. and Nahid, A. (2023) Detection of the chronic kidney disease using </a:t>
            </a:r>
            <a:r>
              <a:rPr lang="en-GB" sz="1600" err="1"/>
              <a:t>XGBoost</a:t>
            </a:r>
            <a:r>
              <a:rPr lang="en-GB" sz="1600"/>
              <a:t> classifier and explaining the influence of the attributes on the model using SHAP. Scientific Reports, 13, p. 10.1038/s41598-023-33525-0.</a:t>
            </a:r>
          </a:p>
          <a:p>
            <a:pPr marL="0" indent="0">
              <a:buNone/>
            </a:pPr>
            <a:r>
              <a:rPr lang="en-GB" sz="1600" i="1"/>
              <a:t>SVM Hyperparameter Tuning using </a:t>
            </a:r>
            <a:r>
              <a:rPr lang="en-GB" sz="1600" i="1" err="1"/>
              <a:t>GridSearchCV</a:t>
            </a:r>
            <a:r>
              <a:rPr lang="en-GB" sz="1600" i="1"/>
              <a:t> - ML</a:t>
            </a:r>
            <a:r>
              <a:rPr lang="en-GB" sz="1600"/>
              <a:t>(2019) Available at: </a:t>
            </a:r>
            <a:r>
              <a:rPr lang="en-GB" sz="1600">
                <a:hlinkClick r:id="rId4"/>
              </a:rPr>
              <a:t>https://www.geeksforgeeks.org/machine-learning/svm-hyperparameter-tuning-using-gridsearchcv-ml/</a:t>
            </a:r>
            <a:r>
              <a:rPr lang="en-GB" sz="1600"/>
              <a:t> (Accessed: Nov 19, 2025).</a:t>
            </a:r>
          </a:p>
          <a:p>
            <a:pPr marL="0" indent="0">
              <a:buNone/>
            </a:pPr>
            <a:r>
              <a:rPr lang="en-US" sz="1600">
                <a:latin typeface="Calibri"/>
                <a:ea typeface="Calibri"/>
                <a:cs typeface="Calibri"/>
              </a:rPr>
              <a:t>Walkowski, D. (2019) </a:t>
            </a:r>
            <a:r>
              <a:rPr lang="en-US" sz="1600" i="1">
                <a:latin typeface="Calibri"/>
                <a:ea typeface="Calibri"/>
                <a:cs typeface="Calibri"/>
              </a:rPr>
              <a:t>What is the CIA Triad? </a:t>
            </a:r>
            <a:r>
              <a:rPr lang="en-US" sz="1600">
                <a:latin typeface="Calibri"/>
                <a:ea typeface="Calibri"/>
                <a:cs typeface="Calibri"/>
              </a:rPr>
              <a:t>Available at: https://www.f5.com/labs/articles/what-is-the-cia-triad (Accessed 9 November 2025).</a:t>
            </a:r>
          </a:p>
          <a:p>
            <a:pPr marL="0" indent="0">
              <a:buNone/>
            </a:pPr>
            <a:endParaRPr lang="en-US" sz="1600"/>
          </a:p>
          <a:p>
            <a:pPr marL="0" indent="0">
              <a:buNone/>
            </a:pPr>
            <a:endParaRPr lang="en-GB" sz="1600"/>
          </a:p>
          <a:p>
            <a:pPr marL="0" indent="0">
              <a:buNone/>
            </a:pPr>
            <a:endParaRPr lang="en-US" sz="1600"/>
          </a:p>
          <a:p>
            <a:pPr marL="0" indent="0">
              <a:buNone/>
            </a:pPr>
            <a:endParaRPr lang="en-GB" sz="2400"/>
          </a:p>
        </p:txBody>
      </p:sp>
      <p:sp>
        <p:nvSpPr>
          <p:cNvPr id="5" name="Slide Number Placeholder 4">
            <a:extLst>
              <a:ext uri="{FF2B5EF4-FFF2-40B4-BE49-F238E27FC236}">
                <a16:creationId xmlns:a16="http://schemas.microsoft.com/office/drawing/2014/main" id="{A405C3A1-411B-28B1-05FA-FA87560701E8}"/>
              </a:ext>
            </a:extLst>
          </p:cNvPr>
          <p:cNvSpPr>
            <a:spLocks noGrp="1"/>
          </p:cNvSpPr>
          <p:nvPr>
            <p:ph type="sldNum" sz="quarter" idx="12"/>
          </p:nvPr>
        </p:nvSpPr>
        <p:spPr/>
        <p:txBody>
          <a:bodyPr/>
          <a:lstStyle/>
          <a:p>
            <a:fld id="{BC06EAA3-687F-4743-ADBD-74613D0FCAFA}" type="slidenum">
              <a:rPr lang="en-GB" smtClean="0"/>
              <a:t>33</a:t>
            </a:fld>
            <a:endParaRPr lang="en-GB"/>
          </a:p>
        </p:txBody>
      </p:sp>
    </p:spTree>
    <p:extLst>
      <p:ext uri="{BB962C8B-B14F-4D97-AF65-F5344CB8AC3E}">
        <p14:creationId xmlns:p14="http://schemas.microsoft.com/office/powerpoint/2010/main" val="7589331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87242A78-FE3B-2EA5-0BE6-2F91F5E9445D}"/>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18D85F88-5BB1-1D3A-DD7A-605C141D93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0868EB-6F1A-2F0B-5CA6-18382EAE3371}"/>
              </a:ext>
            </a:extLst>
          </p:cNvPr>
          <p:cNvSpPr>
            <a:spLocks noGrp="1"/>
          </p:cNvSpPr>
          <p:nvPr>
            <p:ph type="title"/>
          </p:nvPr>
        </p:nvSpPr>
        <p:spPr>
          <a:xfrm>
            <a:off x="1156851" y="637762"/>
            <a:ext cx="9888496" cy="900131"/>
          </a:xfrm>
        </p:spPr>
        <p:txBody>
          <a:bodyPr anchor="t">
            <a:normAutofit/>
          </a:bodyPr>
          <a:lstStyle/>
          <a:p>
            <a:r>
              <a:rPr lang="en-GB" sz="4000">
                <a:solidFill>
                  <a:schemeClr val="bg1"/>
                </a:solidFill>
              </a:rPr>
              <a:t>Smartphones</a:t>
            </a:r>
          </a:p>
        </p:txBody>
      </p:sp>
      <p:sp>
        <p:nvSpPr>
          <p:cNvPr id="10" name="Rectangle 9">
            <a:extLst>
              <a:ext uri="{FF2B5EF4-FFF2-40B4-BE49-F238E27FC236}">
                <a16:creationId xmlns:a16="http://schemas.microsoft.com/office/drawing/2014/main" id="{4F544301-EA06-DE1C-DF7E-EBA3A4A943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FED4BC1-419E-1DE3-163D-629D60C29B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C869881-0E81-D083-85DF-AFA8CAA0454B}"/>
              </a:ext>
            </a:extLst>
          </p:cNvPr>
          <p:cNvSpPr>
            <a:spLocks noGrp="1"/>
          </p:cNvSpPr>
          <p:nvPr>
            <p:ph idx="1"/>
          </p:nvPr>
        </p:nvSpPr>
        <p:spPr>
          <a:xfrm>
            <a:off x="1155548" y="2217343"/>
            <a:ext cx="9880893" cy="3959619"/>
          </a:xfrm>
        </p:spPr>
        <p:txBody>
          <a:bodyPr vert="horz" lIns="91440" tIns="45720" rIns="91440" bIns="45720" rtlCol="0" anchor="t">
            <a:normAutofit/>
          </a:bodyPr>
          <a:lstStyle/>
          <a:p>
            <a:pPr marL="0" indent="0">
              <a:buNone/>
            </a:pPr>
            <a:r>
              <a:rPr lang="en-GB" sz="2400"/>
              <a:t>Smartphones aren’t what we class ‘IoT’ devices</a:t>
            </a:r>
          </a:p>
          <a:p>
            <a:pPr marL="0" indent="0">
              <a:buNone/>
            </a:pPr>
            <a:endParaRPr lang="en-GB" sz="2400"/>
          </a:p>
          <a:p>
            <a:pPr marL="0" indent="0">
              <a:buNone/>
            </a:pPr>
            <a:r>
              <a:rPr lang="en-GB" sz="2400"/>
              <a:t>Typically, IoT are low-powered &amp; single purpose</a:t>
            </a:r>
            <a:endParaRPr lang="en-GB"/>
          </a:p>
          <a:p>
            <a:pPr marL="0" indent="0">
              <a:buNone/>
            </a:pPr>
            <a:endParaRPr lang="en-GB" sz="2400"/>
          </a:p>
          <a:p>
            <a:pPr marL="0" indent="0">
              <a:buNone/>
            </a:pPr>
            <a:r>
              <a:rPr lang="en-GB" sz="2400"/>
              <a:t>But they have the same kinds of sensors</a:t>
            </a:r>
          </a:p>
          <a:p>
            <a:pPr marL="0" indent="0">
              <a:buNone/>
            </a:pPr>
            <a:endParaRPr lang="en-GB" sz="2400"/>
          </a:p>
          <a:p>
            <a:pPr marL="0" indent="0">
              <a:buNone/>
            </a:pPr>
            <a:r>
              <a:rPr lang="en-GB" sz="2400"/>
              <a:t>This allows us to trial smartphones for an experiment??</a:t>
            </a:r>
          </a:p>
        </p:txBody>
      </p:sp>
      <p:pic>
        <p:nvPicPr>
          <p:cNvPr id="4" name="Picture 3" descr="Mobile device with apps">
            <a:extLst>
              <a:ext uri="{FF2B5EF4-FFF2-40B4-BE49-F238E27FC236}">
                <a16:creationId xmlns:a16="http://schemas.microsoft.com/office/drawing/2014/main" id="{7192CC01-AA3B-3517-B37A-09A145C94F80}"/>
              </a:ext>
            </a:extLst>
          </p:cNvPr>
          <p:cNvPicPr>
            <a:picLocks noChangeAspect="1"/>
          </p:cNvPicPr>
          <p:nvPr/>
        </p:nvPicPr>
        <p:blipFill>
          <a:blip r:embed="rId2"/>
          <a:srcRect l="22060" r="21520"/>
          <a:stretch>
            <a:fillRect/>
          </a:stretch>
        </p:blipFill>
        <p:spPr>
          <a:xfrm>
            <a:off x="8571130" y="3499274"/>
            <a:ext cx="3216081" cy="3206390"/>
          </a:xfrm>
          <a:prstGeom prst="rect">
            <a:avLst/>
          </a:prstGeom>
        </p:spPr>
      </p:pic>
      <p:sp>
        <p:nvSpPr>
          <p:cNvPr id="5" name="Slide Number Placeholder 4">
            <a:extLst>
              <a:ext uri="{FF2B5EF4-FFF2-40B4-BE49-F238E27FC236}">
                <a16:creationId xmlns:a16="http://schemas.microsoft.com/office/drawing/2014/main" id="{8204C108-A88D-3EB5-04B1-C323CD03F75E}"/>
              </a:ext>
            </a:extLst>
          </p:cNvPr>
          <p:cNvSpPr>
            <a:spLocks noGrp="1"/>
          </p:cNvSpPr>
          <p:nvPr>
            <p:ph type="sldNum" sz="quarter" idx="12"/>
          </p:nvPr>
        </p:nvSpPr>
        <p:spPr/>
        <p:txBody>
          <a:bodyPr/>
          <a:lstStyle/>
          <a:p>
            <a:fld id="{BC06EAA3-687F-4743-ADBD-74613D0FCAFA}" type="slidenum">
              <a:rPr lang="en-GB" smtClean="0"/>
              <a:t>34</a:t>
            </a:fld>
            <a:endParaRPr lang="en-GB"/>
          </a:p>
        </p:txBody>
      </p:sp>
    </p:spTree>
    <p:extLst>
      <p:ext uri="{BB962C8B-B14F-4D97-AF65-F5344CB8AC3E}">
        <p14:creationId xmlns:p14="http://schemas.microsoft.com/office/powerpoint/2010/main" val="14330781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Content Placeholder 3" descr="A diagram of a software flow&#10;&#10;AI-generated content may be incorrect.">
            <a:extLst>
              <a:ext uri="{FF2B5EF4-FFF2-40B4-BE49-F238E27FC236}">
                <a16:creationId xmlns:a16="http://schemas.microsoft.com/office/drawing/2014/main" id="{5E0B173E-503C-9CF7-1219-7F0AC1F21DBD}"/>
              </a:ext>
            </a:extLst>
          </p:cNvPr>
          <p:cNvPicPr>
            <a:picLocks noGrp="1" noChangeAspect="1"/>
          </p:cNvPicPr>
          <p:nvPr>
            <p:ph idx="1"/>
          </p:nvPr>
        </p:nvPicPr>
        <p:blipFill>
          <a:blip r:embed="rId2"/>
          <a:stretch>
            <a:fillRect/>
          </a:stretch>
        </p:blipFill>
        <p:spPr>
          <a:xfrm>
            <a:off x="1" y="-2840"/>
            <a:ext cx="13036376" cy="6865270"/>
          </a:xfrm>
          <a:prstGeom prst="rect">
            <a:avLst/>
          </a:prstGeom>
        </p:spPr>
      </p:pic>
      <p:sp>
        <p:nvSpPr>
          <p:cNvPr id="6" name="Title 1">
            <a:extLst>
              <a:ext uri="{FF2B5EF4-FFF2-40B4-BE49-F238E27FC236}">
                <a16:creationId xmlns:a16="http://schemas.microsoft.com/office/drawing/2014/main" id="{55F5C59A-BF02-A8D4-A803-F872FCB43F06}"/>
              </a:ext>
            </a:extLst>
          </p:cNvPr>
          <p:cNvSpPr txBox="1">
            <a:spLocks/>
          </p:cNvSpPr>
          <p:nvPr/>
        </p:nvSpPr>
        <p:spPr>
          <a:xfrm>
            <a:off x="113423" y="-15535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600"/>
              <a:t>Pre-Deployment Testing Threat Model</a:t>
            </a:r>
          </a:p>
        </p:txBody>
      </p:sp>
      <p:sp>
        <p:nvSpPr>
          <p:cNvPr id="9" name="TextBox 8">
            <a:extLst>
              <a:ext uri="{FF2B5EF4-FFF2-40B4-BE49-F238E27FC236}">
                <a16:creationId xmlns:a16="http://schemas.microsoft.com/office/drawing/2014/main" id="{B0A0FB3E-9E1D-865D-77C3-C43C74A3744E}"/>
              </a:ext>
            </a:extLst>
          </p:cNvPr>
          <p:cNvSpPr txBox="1"/>
          <p:nvPr/>
        </p:nvSpPr>
        <p:spPr>
          <a:xfrm>
            <a:off x="226235" y="951676"/>
            <a:ext cx="6068292"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ea typeface="+mn-lt"/>
                <a:cs typeface="+mn-lt"/>
              </a:rPr>
              <a:t>Shows pre-deployment setup and cloud visualisation.</a:t>
            </a:r>
            <a:endParaRPr lang="en-US"/>
          </a:p>
          <a:p>
            <a:endParaRPr lang="en-GB"/>
          </a:p>
          <a:p>
            <a:r>
              <a:rPr lang="en-GB"/>
              <a:t>But data currently doesn't go through an AI algorithm pre-rollout</a:t>
            </a:r>
          </a:p>
          <a:p>
            <a:endParaRPr lang="en-GB"/>
          </a:p>
          <a:p>
            <a:r>
              <a:rPr lang="en-GB"/>
              <a:t>Therefore, things change, ready for a theoretical</a:t>
            </a:r>
          </a:p>
          <a:p>
            <a:r>
              <a:rPr lang="en-GB"/>
              <a:t>rollout </a:t>
            </a:r>
          </a:p>
        </p:txBody>
      </p:sp>
      <p:sp>
        <p:nvSpPr>
          <p:cNvPr id="2" name="Slide Number Placeholder 1">
            <a:extLst>
              <a:ext uri="{FF2B5EF4-FFF2-40B4-BE49-F238E27FC236}">
                <a16:creationId xmlns:a16="http://schemas.microsoft.com/office/drawing/2014/main" id="{946D7C7E-6A3D-028F-84BC-D62D6681FFA4}"/>
              </a:ext>
            </a:extLst>
          </p:cNvPr>
          <p:cNvSpPr>
            <a:spLocks noGrp="1"/>
          </p:cNvSpPr>
          <p:nvPr>
            <p:ph type="sldNum" sz="quarter" idx="12"/>
          </p:nvPr>
        </p:nvSpPr>
        <p:spPr/>
        <p:txBody>
          <a:bodyPr/>
          <a:lstStyle/>
          <a:p>
            <a:fld id="{BC06EAA3-687F-4743-ADBD-74613D0FCAFA}" type="slidenum">
              <a:rPr lang="en-GB" smtClean="0"/>
              <a:t>35</a:t>
            </a:fld>
            <a:endParaRPr lang="en-GB"/>
          </a:p>
        </p:txBody>
      </p:sp>
    </p:spTree>
    <p:extLst>
      <p:ext uri="{BB962C8B-B14F-4D97-AF65-F5344CB8AC3E}">
        <p14:creationId xmlns:p14="http://schemas.microsoft.com/office/powerpoint/2010/main" val="2860573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_activity xmlns="986a63e6-6c44-40e4-b745-58d3a0b4da8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2D428AF8FBA1B4A8EFBB46F0D2881AD" ma:contentTypeVersion="16" ma:contentTypeDescription="Create a new document." ma:contentTypeScope="" ma:versionID="c04d938e699e1ac8ab9090120db84d38">
  <xsd:schema xmlns:xsd="http://www.w3.org/2001/XMLSchema" xmlns:xs="http://www.w3.org/2001/XMLSchema" xmlns:p="http://schemas.microsoft.com/office/2006/metadata/properties" xmlns:ns1="http://schemas.microsoft.com/sharepoint/v3" xmlns:ns3="986a63e6-6c44-40e4-b745-58d3a0b4da8e" xmlns:ns4="a80da5f8-47fc-49de-9ccc-65bb9866d6f4" targetNamespace="http://schemas.microsoft.com/office/2006/metadata/properties" ma:root="true" ma:fieldsID="33b4748e1ceb436da4778de4ff5b3f73" ns1:_="" ns3:_="" ns4:_="">
    <xsd:import namespace="http://schemas.microsoft.com/sharepoint/v3"/>
    <xsd:import namespace="986a63e6-6c44-40e4-b745-58d3a0b4da8e"/>
    <xsd:import namespace="a80da5f8-47fc-49de-9ccc-65bb9866d6f4"/>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DateTaken" minOccurs="0"/>
                <xsd:element ref="ns3:MediaServiceSystemTags" minOccurs="0"/>
                <xsd:element ref="ns3:MediaServiceGenerationTime" minOccurs="0"/>
                <xsd:element ref="ns3:MediaServiceEventHashCode" minOccurs="0"/>
                <xsd:element ref="ns3:MediaLengthInSeconds" minOccurs="0"/>
                <xsd:element ref="ns3:_activity" minOccurs="0"/>
                <xsd:element ref="ns4:SharedWithUsers" minOccurs="0"/>
                <xsd:element ref="ns4:SharedWithDetails" minOccurs="0"/>
                <xsd:element ref="ns4:SharingHintHash" minOccurs="0"/>
                <xsd:element ref="ns3:MediaServiceSearchProperties" minOccurs="0"/>
                <xsd:element ref="ns3:MediaServiceOCR"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86a63e6-6c44-40e4-b745-58d3a0b4da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_activity" ma:index="16" nillable="true" ma:displayName="_activity" ma:hidden="true" ma:internalName="_activity">
      <xsd:simpleType>
        <xsd:restriction base="dms:Note"/>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80da5f8-47fc-49de-9ccc-65bb9866d6f4"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D67C101-AAC4-43EE-B85C-E3DF3242452D}">
  <ds:schemaRefs>
    <ds:schemaRef ds:uri="986a63e6-6c44-40e4-b745-58d3a0b4da8e"/>
    <ds:schemaRef ds:uri="a80da5f8-47fc-49de-9ccc-65bb9866d6f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F563BADA-16DD-4A76-A573-182281FBF794}">
  <ds:schemaRefs>
    <ds:schemaRef ds:uri="986a63e6-6c44-40e4-b745-58d3a0b4da8e"/>
    <ds:schemaRef ds:uri="a80da5f8-47fc-49de-9ccc-65bb9866d6f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6D6970E-85AC-43E3-867D-246B252CD7F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35</Slides>
  <Notes>32</Notes>
  <HiddenSlides>2</HiddenSlides>
  <ScaleCrop>false</ScaleCrop>
  <HeadingPairs>
    <vt:vector size="4" baseType="variant">
      <vt:variant>
        <vt:lpstr>Theme</vt:lpstr>
      </vt:variant>
      <vt:variant>
        <vt:i4>2</vt:i4>
      </vt:variant>
      <vt:variant>
        <vt:lpstr>Slide Titles</vt:lpstr>
      </vt:variant>
      <vt:variant>
        <vt:i4>35</vt:i4>
      </vt:variant>
    </vt:vector>
  </HeadingPairs>
  <TitlesOfParts>
    <vt:vector size="37" baseType="lpstr">
      <vt:lpstr>Office Theme</vt:lpstr>
      <vt:lpstr>Office Theme</vt:lpstr>
      <vt:lpstr>securing iot </vt:lpstr>
      <vt:lpstr>What is IoT</vt:lpstr>
      <vt:lpstr>Benefits of IoT</vt:lpstr>
      <vt:lpstr>The Idea</vt:lpstr>
      <vt:lpstr>Phases</vt:lpstr>
      <vt:lpstr>Project Management</vt:lpstr>
      <vt:lpstr>Data collection</vt:lpstr>
      <vt:lpstr>How the data was collected</vt:lpstr>
      <vt:lpstr>Problems with data collection  </vt:lpstr>
      <vt:lpstr>Public Dataset:  Run or Walk</vt:lpstr>
      <vt:lpstr>Algorithms</vt:lpstr>
      <vt:lpstr>ML Algorithm 01 – Random Forest </vt:lpstr>
      <vt:lpstr>ML Algorithm 02 – SVM</vt:lpstr>
      <vt:lpstr>Coding conventions to improve accuracy</vt:lpstr>
      <vt:lpstr>DL Algorithms – LSTM and CNN </vt:lpstr>
      <vt:lpstr>Results  Visualisations</vt:lpstr>
      <vt:lpstr>Train / Test Split</vt:lpstr>
      <vt:lpstr>Performance metrics </vt:lpstr>
      <vt:lpstr>ML Algorithms – Confusion Matrix</vt:lpstr>
      <vt:lpstr>DL Algorithms – Confusion Matrix</vt:lpstr>
      <vt:lpstr>ML vs DL Algorithms </vt:lpstr>
      <vt:lpstr>Results Overview </vt:lpstr>
      <vt:lpstr>Ethics &amp;  future  implications</vt:lpstr>
      <vt:lpstr>Future Developments </vt:lpstr>
      <vt:lpstr>PowerPoint Presentation</vt:lpstr>
      <vt:lpstr>PowerPoint Presentation</vt:lpstr>
      <vt:lpstr>PowerPoint Presentation</vt:lpstr>
      <vt:lpstr>Data handling concerns </vt:lpstr>
      <vt:lpstr>Ethical Concerns - Individuals </vt:lpstr>
      <vt:lpstr>Ethical Concerns - State </vt:lpstr>
      <vt:lpstr>Final Rollout Considerations</vt:lpstr>
      <vt:lpstr>Thank you!</vt:lpstr>
      <vt:lpstr>References</vt:lpstr>
      <vt:lpstr>Smartphones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 MOSS</dc:creator>
  <cp:revision>14</cp:revision>
  <dcterms:created xsi:type="dcterms:W3CDTF">2025-09-30T14:51:00Z</dcterms:created>
  <dcterms:modified xsi:type="dcterms:W3CDTF">2025-11-20T18:41:32Z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65970e0-98ad-4fed-a872-69f84c2d4b53_Enabled">
    <vt:lpwstr>true</vt:lpwstr>
  </property>
  <property fmtid="{D5CDD505-2E9C-101B-9397-08002B2CF9AE}" pid="3" name="MSIP_Label_265970e0-98ad-4fed-a872-69f84c2d4b53_SetDate">
    <vt:lpwstr>2025-09-30T15:07:21Z</vt:lpwstr>
  </property>
  <property fmtid="{D5CDD505-2E9C-101B-9397-08002B2CF9AE}" pid="4" name="MSIP_Label_265970e0-98ad-4fed-a872-69f84c2d4b53_Method">
    <vt:lpwstr>Standard</vt:lpwstr>
  </property>
  <property fmtid="{D5CDD505-2E9C-101B-9397-08002B2CF9AE}" pid="5" name="MSIP_Label_265970e0-98ad-4fed-a872-69f84c2d4b53_Name">
    <vt:lpwstr>Public</vt:lpwstr>
  </property>
  <property fmtid="{D5CDD505-2E9C-101B-9397-08002B2CF9AE}" pid="6" name="MSIP_Label_265970e0-98ad-4fed-a872-69f84c2d4b53_SiteId">
    <vt:lpwstr>23706653-cd57-4504-9a59-0960251db4b0</vt:lpwstr>
  </property>
  <property fmtid="{D5CDD505-2E9C-101B-9397-08002B2CF9AE}" pid="7" name="MSIP_Label_265970e0-98ad-4fed-a872-69f84c2d4b53_ActionId">
    <vt:lpwstr>06efc075-8420-4eae-8427-bc95f2d0726b</vt:lpwstr>
  </property>
  <property fmtid="{D5CDD505-2E9C-101B-9397-08002B2CF9AE}" pid="8" name="MSIP_Label_265970e0-98ad-4fed-a872-69f84c2d4b53_ContentBits">
    <vt:lpwstr>0</vt:lpwstr>
  </property>
  <property fmtid="{D5CDD505-2E9C-101B-9397-08002B2CF9AE}" pid="9" name="MSIP_Label_265970e0-98ad-4fed-a872-69f84c2d4b53_Tag">
    <vt:lpwstr>10, 3, 0, 1</vt:lpwstr>
  </property>
  <property fmtid="{D5CDD505-2E9C-101B-9397-08002B2CF9AE}" pid="10" name="ContentTypeId">
    <vt:lpwstr>0x010100D2D428AF8FBA1B4A8EFBB46F0D2881AD</vt:lpwstr>
  </property>
</Properties>
</file>